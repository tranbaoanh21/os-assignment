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7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5"/>
    <p:restoredTop sz="94635"/>
  </p:normalViewPr>
  <p:slideViewPr>
    <p:cSldViewPr snapToGrid="0">
      <p:cViewPr>
        <p:scale>
          <a:sx n="90" d="100"/>
          <a:sy n="90" d="100"/>
        </p:scale>
        <p:origin x="592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Trung — 45 giây. Dạy vòng đời READY → RUNNING → FINISHED trước. Giải thích scheduling boundary và vì sao priority cao không nhất thiết cướp CPU ngay giữa instruction. Sau đó chuyển sang bốn khái niệm scheduler.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Trung — 1 phút. Phải phân biệt rõ priority, weighted slot, quantum, FIFO. Nói ví dụ priority 137 có 3 slot, quantum 2 nên được dispatch 3 lần, mỗi lần tối đa 2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Trung — 2 phút. Mở input trước, giải thích 2 1 2. Chạy lệnh. Do pthread timing, PID 1 có thể dispatch tại slot 0 hoặc 1; invariant cần chỉ là PID 2 không dispatch trước khi PID 1 được put. Không dùng chiều dài Gantt để đếm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Quốc Trung — 1 </a:t>
            </a:r>
            <a:r>
              <a:rPr dirty="0" err="1"/>
              <a:t>phút</a:t>
            </a:r>
            <a:r>
              <a:rPr dirty="0"/>
              <a:t> 30 </a:t>
            </a:r>
            <a:r>
              <a:rPr dirty="0" err="1"/>
              <a:t>giây</a:t>
            </a:r>
            <a:r>
              <a:rPr dirty="0"/>
              <a:t>. Nói slot </a:t>
            </a:r>
            <a:r>
              <a:rPr dirty="0" err="1"/>
              <a:t>khác</a:t>
            </a:r>
            <a:r>
              <a:rPr dirty="0"/>
              <a:t> quantum.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khoảng</a:t>
            </a:r>
            <a:r>
              <a:rPr dirty="0"/>
              <a:t> 3–9, 9–13 và reset </a:t>
            </a:r>
            <a:r>
              <a:rPr dirty="0" err="1"/>
              <a:t>tại</a:t>
            </a:r>
            <a:r>
              <a:rPr dirty="0"/>
              <a:t> 13.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do log </a:t>
            </a:r>
            <a:r>
              <a:rPr dirty="0" err="1"/>
              <a:t>mới</a:t>
            </a:r>
            <a:r>
              <a:rPr dirty="0"/>
              <a:t>,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tiên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dòng</a:t>
            </a:r>
            <a:r>
              <a:rPr dirty="0"/>
              <a:t> Dispatched/Put </a:t>
            </a:r>
            <a:r>
              <a:rPr dirty="0" err="1"/>
              <a:t>trong</a:t>
            </a:r>
            <a:r>
              <a:rPr dirty="0"/>
              <a:t>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Trung — 1 phút. Chạy lệnh và nói rõ nondeterminism. Chỉ invariant hai CPU không giữ cùng PID. Mở src/sched.c:get_mlq_proc nếu hỏi sâu. Chuyển Quốc Bảo: ownership CPU đã đúng, giờ chứng minh address space và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Bảo — 45 giây. Giải thích virtual address không phải physical address. Nêu interval [start,end), vai trò page table và copy semantics. Nhấn mạnh hai demo kế tiếp kiểm tra hai property khác nhau.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Bảo — 1 phút 30 giây. Phân biệt region/page/frame. Nêu half-open interval [start,end). Nêu ALLOC logic có thể dài 100 byte nhưng mapping vật lý align theo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Bảo — 2 phút. Mở input rồi chạy. Chỉ [0,100) được free và [0,50) được dùng lại. Giải thích offset 49. Nói rõ đây là logical region reuse, không chứng minh physical frame unmap.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Bảo — 2 phút. Nhấn mạnh đây là testcase đúng cú pháp ngắn của đặc tả. Byte 65 chứng minh end-to-end nhiều lớp, không chỉ một helper. Chuyển Quốc An: copy an toàn vì kernel boundary kiểm soát caller và quyền.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An — 45 giây. Phân biệt translation và authorization. Giải thích vì sao kernel không được tin PID hoặc địa chỉ do user cung cấp. Chuyển sang syscall 17 và demo tấn công cross-PID.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An — 1 phút 30 giây. Đi theo flow. Chạy os_syscall_list nếu cần. Giải thích syscall.tbl sinh list/dispatcher, và vì sao PID lookup tốt hơn truyền PCB pointer.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Quốc An — 2 phút. Mở owner/intruder nếu thầy hỏi. Nêu operation 4 = physical read, 5 = physical write. Chỉ hai dòng denied. Chuyển Trường Giang: ownership đã được giữ, giờ chứng minh translation 64-bit.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Trường Giang — 45 giây. So sánh flat và sparse page table. Nêu trade-off: tiết kiệm bộ nhớ nhưng cần nhiều bước walk. Giải thích canonical validation phải xảy ra trước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Trường Giang — 2 phút. Giải thích 45-bit page number chia 5 index. Tính 512 entry × 8 byte = 4096 byte/bảng. Nêu canonical sign extension và trade-off page-table walk/TLB.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Trường Giang — 2 phút. Chạy lệnh; giải thích từng địa chỉ và số bytes. Chỉ non-canonical không tạo walk mới. Mở src/mm64.c:paging64_is_canonical và walk_pte nếu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68F27BE-5C3F-4327-B77B-B530FEF21E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3A0BD1-60AE-46F9-AD19-2EC65B00E0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382250" y="515826"/>
            <a:ext cx="1238250" cy="106384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A46CA7-BEF1-4D51-A50A-F2AD4511BEEF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6667500" cy="3619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BÁO CÁO BÀI TẬP LỚN · CO2018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80655D-0A44-4176-AFD4-18ACD9306B0D}"/>
              </a:ext>
            </a:extLst>
          </p:cNvPr>
          <p:cNvSpPr>
            <a:spLocks noGrp="1"/>
          </p:cNvSpPr>
          <p:nvPr/>
        </p:nvSpPr>
        <p:spPr>
          <a:xfrm>
            <a:off x="590550" y="1333500"/>
            <a:ext cx="8572500" cy="18097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SIMPLE OPERATING</a:t>
            </a:r>
          </a:p>
          <a:p>
            <a: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SYSTEM SIMULATION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7D8A9C-C15B-494D-8BEB-2312022015A3}"/>
              </a:ext>
            </a:extLst>
          </p:cNvPr>
          <p:cNvSpPr>
            <a:spLocks noGrp="1"/>
          </p:cNvSpPr>
          <p:nvPr/>
        </p:nvSpPr>
        <p:spPr>
          <a:xfrm>
            <a:off x="628650" y="3981450"/>
            <a:ext cx="10287000" cy="1905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7254B2-AA51-4419-976A-A8A07684CDB4}"/>
              </a:ext>
            </a:extLst>
          </p:cNvPr>
          <p:cNvSpPr>
            <a:spLocks noGrp="1"/>
          </p:cNvSpPr>
          <p:nvPr/>
        </p:nvSpPr>
        <p:spPr>
          <a:xfrm>
            <a:off x="6041508" y="4876800"/>
            <a:ext cx="5148268" cy="12763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t">
            <a:normAutofit fontScale="98039"/>
          </a:bodyPr>
          <a:lstStyle/>
          <a:p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Lớp</a:t>
            </a: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: </a:t>
            </a:r>
            <a:r>
              <a:rPr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L08 </a:t>
            </a:r>
            <a:b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GVHD: </a:t>
            </a:r>
            <a:r>
              <a:rPr sz="1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Thầy</a:t>
            </a:r>
            <a:r>
              <a:rPr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Hoàng Lê Hải Thanh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C8FC08-3F69-4166-AC57-8C00E88837A5}"/>
              </a:ext>
            </a:extLst>
          </p:cNvPr>
          <p:cNvSpPr>
            <a:spLocks noGrp="1"/>
          </p:cNvSpPr>
          <p:nvPr/>
        </p:nvSpPr>
        <p:spPr>
          <a:xfrm>
            <a:off x="590550" y="4476750"/>
            <a:ext cx="4762500" cy="10477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D8E7EF"/>
                </a:solidFill>
                <a:latin typeface="Arial"/>
                <a:ea typeface="Arial"/>
                <a:cs typeface="Arial"/>
              </a:defRPr>
            </a:pP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2410155 </a:t>
            </a:r>
            <a:r>
              <a:rPr sz="1600" b="0" dirty="0" err="1">
                <a:solidFill>
                  <a:srgbClr val="D8E7EF"/>
                </a:solidFill>
                <a:latin typeface="Arial"/>
                <a:ea typeface="Arial"/>
                <a:cs typeface="Arial"/>
              </a:rPr>
              <a:t>Trần</a:t>
            </a: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 Nhật Bảo Anh</a:t>
            </a:r>
          </a:p>
          <a:p>
            <a:pPr algn="l">
              <a:defRPr sz="1200" b="0">
                <a:solidFill>
                  <a:srgbClr val="D8E7EF"/>
                </a:solidFill>
                <a:latin typeface="Arial"/>
                <a:ea typeface="Arial"/>
                <a:cs typeface="Arial"/>
              </a:defRPr>
            </a:pP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2413707 Nguyễn Quốc Trung</a:t>
            </a:r>
          </a:p>
          <a:p>
            <a:pPr algn="l">
              <a:defRPr sz="1200" b="0">
                <a:solidFill>
                  <a:srgbClr val="D8E7EF"/>
                </a:solidFill>
                <a:latin typeface="Arial"/>
                <a:ea typeface="Arial"/>
                <a:cs typeface="Arial"/>
              </a:defRPr>
            </a:pP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2410297 </a:t>
            </a:r>
            <a:r>
              <a:rPr sz="1600" b="0" dirty="0" err="1">
                <a:solidFill>
                  <a:srgbClr val="D8E7EF"/>
                </a:solidFill>
                <a:latin typeface="Arial"/>
                <a:ea typeface="Arial"/>
                <a:cs typeface="Arial"/>
              </a:rPr>
              <a:t>Trần</a:t>
            </a: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 Hoàng Quốc Bảo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506F1F-17E1-4C74-A91D-775C53153F5E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4000500" cy="7810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D8E7EF"/>
                </a:solidFill>
                <a:latin typeface="Arial"/>
                <a:ea typeface="Arial"/>
                <a:cs typeface="Arial"/>
              </a:defRPr>
            </a:pP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2410046 Trịnh Quốc An</a:t>
            </a:r>
          </a:p>
          <a:p>
            <a:pPr algn="l">
              <a:defRPr sz="1200" b="0">
                <a:solidFill>
                  <a:srgbClr val="D8E7EF"/>
                </a:solidFill>
                <a:latin typeface="Arial"/>
                <a:ea typeface="Arial"/>
                <a:cs typeface="Arial"/>
              </a:defRPr>
            </a:pPr>
            <a:r>
              <a:rPr sz="1600" b="0" dirty="0">
                <a:solidFill>
                  <a:srgbClr val="D8E7EF"/>
                </a:solidFill>
                <a:latin typeface="Arial"/>
                <a:ea typeface="Arial"/>
                <a:cs typeface="Arial"/>
              </a:rPr>
              <a:t>2410841 Nguyễn Trường Giang</a:t>
            </a:r>
          </a:p>
        </p:txBody>
      </p:sp>
    </p:spTree>
    <p:extLst>
      <p:ext uri="{BB962C8B-B14F-4D97-AF65-F5344CB8AC3E}">
        <p14:creationId xmlns:p14="http://schemas.microsoft.com/office/powerpoint/2010/main" val="270564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66E0E7-BFDD-0C67-248A-B07FAF3E6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106" y="777240"/>
            <a:ext cx="10491788" cy="483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829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13299C-4E9E-4106-9A8C-6281F0E90D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32EBBF-D38C-46E6-9BF0-9B64E7327B92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DEMO 0 · TOÀN HỆ THỐNG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CD43AE-4E5F-4368-AD91-4206F7A1D3A8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Clean bui</a:t>
            </a:r>
            <a:r>
              <a:rPr lang="en-US"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ld</a:t>
            </a:r>
            <a:endParaRPr sz="2700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7EF68A-A9C0-4EEF-AC35-55CD07081002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72DA1D-4134-4BA4-9AF5-FA0B5B6A2886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427069-9A1E-4D9C-9038-6C58CE616CD2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 dirty="0">
                <a:solidFill>
                  <a:srgbClr val="66717C"/>
                </a:solidFill>
                <a:latin typeface="Arial"/>
                <a:ea typeface="Arial"/>
                <a:cs typeface="Arial"/>
              </a:rPr>
              <a:t>Bảo Anh · </a:t>
            </a:r>
            <a:r>
              <a:rPr sz="825" b="0" dirty="0" err="1">
                <a:solidFill>
                  <a:srgbClr val="66717C"/>
                </a:solidFill>
                <a:latin typeface="Arial"/>
                <a:ea typeface="Arial"/>
                <a:cs typeface="Arial"/>
              </a:rPr>
              <a:t>Kiểm</a:t>
            </a:r>
            <a:r>
              <a:rPr sz="825" b="0" dirty="0">
                <a:solidFill>
                  <a:srgbClr val="66717C"/>
                </a:solidFill>
                <a:latin typeface="Arial"/>
                <a:ea typeface="Arial"/>
                <a:cs typeface="Arial"/>
              </a:rPr>
              <a:t> </a:t>
            </a:r>
            <a:r>
              <a:rPr sz="825" b="0" dirty="0" err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chứng</a:t>
            </a:r>
            <a:r>
              <a:rPr sz="825" b="0" dirty="0">
                <a:solidFill>
                  <a:srgbClr val="66717C"/>
                </a:solidFill>
                <a:latin typeface="Arial"/>
                <a:ea typeface="Arial"/>
                <a:cs typeface="Arial"/>
              </a:rPr>
              <a:t>   ·   4:00   ·   5/21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57CB749-B2F8-4942-AA9B-729624BFC0F4}"/>
              </a:ext>
            </a:extLst>
          </p:cNvPr>
          <p:cNvSpPr>
            <a:spLocks noGrp="1"/>
          </p:cNvSpPr>
          <p:nvPr/>
        </p:nvSpPr>
        <p:spPr>
          <a:xfrm>
            <a:off x="523875" y="1714500"/>
            <a:ext cx="4476750" cy="1381125"/>
          </a:xfrm>
          <a:prstGeom prst="roundRect">
            <a:avLst>
              <a:gd name="adj" fmla="val 5517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16E009-1AAC-40F8-A5E8-62BDAEBA500E}"/>
              </a:ext>
            </a:extLst>
          </p:cNvPr>
          <p:cNvSpPr>
            <a:spLocks noGrp="1"/>
          </p:cNvSpPr>
          <p:nvPr/>
        </p:nvSpPr>
        <p:spPr>
          <a:xfrm>
            <a:off x="523875" y="1714500"/>
            <a:ext cx="447675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32B7D9-96F5-4908-8C88-67DC2C5CA8BE}"/>
              </a:ext>
            </a:extLst>
          </p:cNvPr>
          <p:cNvSpPr>
            <a:spLocks noGrp="1"/>
          </p:cNvSpPr>
          <p:nvPr/>
        </p:nvSpPr>
        <p:spPr>
          <a:xfrm>
            <a:off x="638175" y="1790700"/>
            <a:ext cx="42481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CHẠY TRỰC TIẾP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384C25-6613-4489-9DBB-AD0E2A53087B}"/>
              </a:ext>
            </a:extLst>
          </p:cNvPr>
          <p:cNvSpPr>
            <a:spLocks noGrp="1"/>
          </p:cNvSpPr>
          <p:nvPr/>
        </p:nvSpPr>
        <p:spPr>
          <a:xfrm>
            <a:off x="638175" y="2076450"/>
            <a:ext cx="4248150" cy="92392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make clean &amp;&amp; make all</a:t>
            </a:r>
          </a:p>
          <a:p>
            <a:pPr algn="l">
              <a:defRPr sz="17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make test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00875" y="1714500"/>
            <a:ext cx="3318316" cy="3571875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97F61D4-9413-4158-980A-134A36C6900B}"/>
              </a:ext>
            </a:extLst>
          </p:cNvPr>
          <p:cNvSpPr>
            <a:spLocks noGrp="1"/>
          </p:cNvSpPr>
          <p:nvPr/>
        </p:nvSpPr>
        <p:spPr>
          <a:xfrm>
            <a:off x="523875" y="3571875"/>
            <a:ext cx="2857500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AE9549-EF4A-4643-8C46-FC2148BF894E}"/>
              </a:ext>
            </a:extLst>
          </p:cNvPr>
          <p:cNvSpPr>
            <a:spLocks noGrp="1"/>
          </p:cNvSpPr>
          <p:nvPr/>
        </p:nvSpPr>
        <p:spPr>
          <a:xfrm>
            <a:off x="523875" y="3571875"/>
            <a:ext cx="76200" cy="904875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F4B006-C3B1-46DE-9656-5D39B592BA1F}"/>
              </a:ext>
            </a:extLst>
          </p:cNvPr>
          <p:cNvSpPr>
            <a:spLocks noGrp="1"/>
          </p:cNvSpPr>
          <p:nvPr/>
        </p:nvSpPr>
        <p:spPr>
          <a:xfrm>
            <a:off x="714375" y="3686175"/>
            <a:ext cx="2552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E30AE8-CB02-4FFC-A298-D3834A63CC50}"/>
              </a:ext>
            </a:extLst>
          </p:cNvPr>
          <p:cNvSpPr>
            <a:spLocks noGrp="1"/>
          </p:cNvSpPr>
          <p:nvPr/>
        </p:nvSpPr>
        <p:spPr>
          <a:xfrm>
            <a:off x="714375" y="3990975"/>
            <a:ext cx="2552700" cy="39052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 fontScale="85648" lnSpcReduction="10000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Source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hiện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tại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biên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dịch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từ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trạng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thái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35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ban </a:t>
            </a:r>
            <a:r>
              <a:rPr lang="en-US" sz="135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đầu</a:t>
            </a:r>
            <a:r>
              <a:rPr lang="en-US" sz="135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.</a:t>
            </a:r>
            <a:endParaRPr sz="1350" b="0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DFCC8CD-453F-41AF-AF4B-311CB6EE1DE0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2857500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F36C9D-0F47-40D1-B8E0-75A706A6D24D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76200" cy="90487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D4AD6F-9D71-41F8-85FC-D2D55C8549DB}"/>
              </a:ext>
            </a:extLst>
          </p:cNvPr>
          <p:cNvSpPr>
            <a:spLocks noGrp="1"/>
          </p:cNvSpPr>
          <p:nvPr/>
        </p:nvSpPr>
        <p:spPr>
          <a:xfrm>
            <a:off x="3810000" y="3686175"/>
            <a:ext cx="2552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EXECUTION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657855-59AD-4128-AAFE-49B767434744}"/>
              </a:ext>
            </a:extLst>
          </p:cNvPr>
          <p:cNvSpPr>
            <a:spLocks noGrp="1"/>
          </p:cNvSpPr>
          <p:nvPr/>
        </p:nvSpPr>
        <p:spPr>
          <a:xfrm>
            <a:off x="3810000" y="3990975"/>
            <a:ext cx="2552700" cy="39052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23 configuration chạy đến cuối.</a:t>
            </a:r>
          </a:p>
        </p:txBody>
      </p:sp>
    </p:spTree>
    <p:extLst>
      <p:ext uri="{BB962C8B-B14F-4D97-AF65-F5344CB8AC3E}">
        <p14:creationId xmlns:p14="http://schemas.microsoft.com/office/powerpoint/2010/main" val="495897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269BAE5-44C1-42BF-B8D0-338A0A3545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C69E75-4E76-4A63-B036-F13DE56AE14E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TRUNG · TRƯỚC KHI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FA4D3B-422D-41C1-B002-E9257A868B71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Kiến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thức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nền</a:t>
            </a:r>
            <a:endParaRPr sz="2700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9A584A-6B4E-4F22-BB93-6E6717638D00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9DB6A1-7C4F-4D23-BE2A-36BBCE6E9B32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1F4501-8D36-476B-90C7-99A497F99251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Trung · Kiến thức nền   ·   5:00   ·   6/21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D14B4D-BB5E-4BC6-9D80-AC1E403E9779}"/>
              </a:ext>
            </a:extLst>
          </p:cNvPr>
          <p:cNvSpPr>
            <a:spLocks noGrp="1"/>
          </p:cNvSpPr>
          <p:nvPr/>
        </p:nvSpPr>
        <p:spPr>
          <a:xfrm>
            <a:off x="666750" y="3857625"/>
            <a:ext cx="49530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5AB45B-56E0-4C42-BE01-1DF807700509}"/>
              </a:ext>
            </a:extLst>
          </p:cNvPr>
          <p:cNvSpPr>
            <a:spLocks noGrp="1"/>
          </p:cNvSpPr>
          <p:nvPr/>
        </p:nvSpPr>
        <p:spPr>
          <a:xfrm>
            <a:off x="666750" y="3857625"/>
            <a:ext cx="76200" cy="123825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23CD8A-EB3B-4EC8-9060-D4C98B51C7FC}"/>
              </a:ext>
            </a:extLst>
          </p:cNvPr>
          <p:cNvSpPr>
            <a:spLocks noGrp="1"/>
          </p:cNvSpPr>
          <p:nvPr/>
        </p:nvSpPr>
        <p:spPr>
          <a:xfrm>
            <a:off x="857250" y="3971925"/>
            <a:ext cx="4648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SCHEDULING BOUNDARY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616A86-2899-4713-9F7F-15982BE958EE}"/>
              </a:ext>
            </a:extLst>
          </p:cNvPr>
          <p:cNvSpPr>
            <a:spLocks noGrp="1"/>
          </p:cNvSpPr>
          <p:nvPr/>
        </p:nvSpPr>
        <p:spPr>
          <a:xfrm>
            <a:off x="857250" y="4276725"/>
            <a:ext cx="46482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Thời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điểm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CPU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xin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process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mới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lúc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bắt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đầu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hết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quantum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hoặc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process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hoàn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thành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640509D-BCB1-4E70-9292-07E6A29B7953}"/>
              </a:ext>
            </a:extLst>
          </p:cNvPr>
          <p:cNvSpPr>
            <a:spLocks noGrp="1"/>
          </p:cNvSpPr>
          <p:nvPr/>
        </p:nvSpPr>
        <p:spPr>
          <a:xfrm>
            <a:off x="6191250" y="3857625"/>
            <a:ext cx="53340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3327BD-C1F3-4FF2-91DB-8416AE47EF14}"/>
              </a:ext>
            </a:extLst>
          </p:cNvPr>
          <p:cNvSpPr>
            <a:spLocks noGrp="1"/>
          </p:cNvSpPr>
          <p:nvPr/>
        </p:nvSpPr>
        <p:spPr>
          <a:xfrm>
            <a:off x="6191250" y="3857625"/>
            <a:ext cx="76200" cy="1238250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FE3EF4-7AA0-4305-91C9-2EBD1A4436FC}"/>
              </a:ext>
            </a:extLst>
          </p:cNvPr>
          <p:cNvSpPr>
            <a:spLocks noGrp="1"/>
          </p:cNvSpPr>
          <p:nvPr/>
        </p:nvSpPr>
        <p:spPr>
          <a:xfrm>
            <a:off x="6381750" y="3971925"/>
            <a:ext cx="5029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PROPERTY SẮP DEMO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563778-AE7F-475B-B088-A9BA2DC7C9DA}"/>
              </a:ext>
            </a:extLst>
          </p:cNvPr>
          <p:cNvSpPr>
            <a:spLocks noGrp="1"/>
          </p:cNvSpPr>
          <p:nvPr/>
        </p:nvSpPr>
        <p:spPr>
          <a:xfrm>
            <a:off x="6381750" y="4276725"/>
            <a:ext cx="50292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Priority/quota quyết định lần dispatch kế tiếp; không cướp giữa một instruction.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BD8521-F617-47EA-AB3E-F8063EFAAFCC}"/>
              </a:ext>
            </a:extLst>
          </p:cNvPr>
          <p:cNvSpPr>
            <a:spLocks noGrp="1"/>
          </p:cNvSpPr>
          <p:nvPr/>
        </p:nvSpPr>
        <p:spPr>
          <a:xfrm>
            <a:off x="1809750" y="5572125"/>
            <a:ext cx="8572500" cy="40005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Câu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hỏi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cần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trả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lời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: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khác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nhau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thế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nào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092B4C"/>
                </a:solidFill>
                <a:latin typeface="Arial"/>
                <a:ea typeface="Arial"/>
                <a:cs typeface="Arial"/>
              </a:rPr>
              <a:t>giữa</a:t>
            </a:r>
            <a:r>
              <a:rPr sz="1500" b="1" dirty="0">
                <a:solidFill>
                  <a:srgbClr val="092B4C"/>
                </a:solidFill>
                <a:latin typeface="Arial"/>
                <a:ea typeface="Arial"/>
                <a:cs typeface="Arial"/>
              </a:rPr>
              <a:t> priority, weighted slot, quantum và FIFO?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F56606F-EEC8-A005-1D7D-07C138329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630" y="1377743"/>
            <a:ext cx="9095639" cy="212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35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78CD59B-D5C2-4F6C-AFB6-7735ED6425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F3BD07-79BA-4C6A-AC76-07024624A99A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TRUNG · MENTAL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EE41B9-0697-4C83-BAD0-F5DEA845C027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Scheduler kết hợp bốn khái niệm — không được trộn lẫn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1E0657-4587-438D-833B-A91CB6A13115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F74187-EB8A-474A-BDB6-8D30D6C85563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C7E4AF-C21A-414D-9C36-76D2A3465C21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Trung · Scheduler   ·   5:45   ·   7/21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B79540-E64F-4C0E-AE69-237A6DDC9184}"/>
              </a:ext>
            </a:extLst>
          </p:cNvPr>
          <p:cNvSpPr>
            <a:spLocks noGrp="1"/>
          </p:cNvSpPr>
          <p:nvPr/>
        </p:nvSpPr>
        <p:spPr>
          <a:xfrm>
            <a:off x="476250" y="1714500"/>
            <a:ext cx="24765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54A78A-C2B5-46B5-BEA3-B49C9C698BCA}"/>
              </a:ext>
            </a:extLst>
          </p:cNvPr>
          <p:cNvSpPr>
            <a:spLocks noGrp="1"/>
          </p:cNvSpPr>
          <p:nvPr/>
        </p:nvSpPr>
        <p:spPr>
          <a:xfrm>
            <a:off x="476250" y="1714500"/>
            <a:ext cx="76200" cy="11430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87A9C4-5F0B-4A1C-9C7E-8059A13687DE}"/>
              </a:ext>
            </a:extLst>
          </p:cNvPr>
          <p:cNvSpPr>
            <a:spLocks noGrp="1"/>
          </p:cNvSpPr>
          <p:nvPr/>
        </p:nvSpPr>
        <p:spPr>
          <a:xfrm>
            <a:off x="666750" y="1828800"/>
            <a:ext cx="2171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PRIORITY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4C66D-701F-4C1B-BC0E-B4706756ED5E}"/>
              </a:ext>
            </a:extLst>
          </p:cNvPr>
          <p:cNvSpPr>
            <a:spLocks noGrp="1"/>
          </p:cNvSpPr>
          <p:nvPr/>
        </p:nvSpPr>
        <p:spPr>
          <a:xfrm>
            <a:off x="666750" y="2133600"/>
            <a:ext cx="21717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Queue có số nhỏ hơn được quét trước.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B9CF593-1F6E-4255-A930-9E61817D4EA9}"/>
              </a:ext>
            </a:extLst>
          </p:cNvPr>
          <p:cNvSpPr>
            <a:spLocks noGrp="1"/>
          </p:cNvSpPr>
          <p:nvPr/>
        </p:nvSpPr>
        <p:spPr>
          <a:xfrm>
            <a:off x="3190875" y="1714500"/>
            <a:ext cx="26670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C93137-EFB3-4B11-B1ED-043A396D098E}"/>
              </a:ext>
            </a:extLst>
          </p:cNvPr>
          <p:cNvSpPr>
            <a:spLocks noGrp="1"/>
          </p:cNvSpPr>
          <p:nvPr/>
        </p:nvSpPr>
        <p:spPr>
          <a:xfrm>
            <a:off x="3190875" y="1714500"/>
            <a:ext cx="76200" cy="1143000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58FFA1-CDE4-427B-B964-2415192E4F6B}"/>
              </a:ext>
            </a:extLst>
          </p:cNvPr>
          <p:cNvSpPr>
            <a:spLocks noGrp="1"/>
          </p:cNvSpPr>
          <p:nvPr/>
        </p:nvSpPr>
        <p:spPr>
          <a:xfrm>
            <a:off x="3381375" y="1828800"/>
            <a:ext cx="2362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WEIGHTED SLOT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E3FAE9-EDF5-4786-92A7-BBCF7738A1C2}"/>
              </a:ext>
            </a:extLst>
          </p:cNvPr>
          <p:cNvSpPr>
            <a:spLocks noGrp="1"/>
          </p:cNvSpPr>
          <p:nvPr/>
        </p:nvSpPr>
        <p:spPr>
          <a:xfrm>
            <a:off x="3381375" y="2133600"/>
            <a:ext cx="23622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Số lần một queue được chọn trong một chu kỳ.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D07A38C-FDDC-4F48-A70B-21E5D097F426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257175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F310B-73B4-428F-B144-92900870A592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76200" cy="11430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CB1825-F4AE-47D3-982D-6E240DF30F07}"/>
              </a:ext>
            </a:extLst>
          </p:cNvPr>
          <p:cNvSpPr>
            <a:spLocks noGrp="1"/>
          </p:cNvSpPr>
          <p:nvPr/>
        </p:nvSpPr>
        <p:spPr>
          <a:xfrm>
            <a:off x="6286500" y="1828800"/>
            <a:ext cx="2266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QUANTUM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1A5F13-D1A2-4257-9EEF-22A8FBD6CEF1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22669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Số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instruction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tối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đa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của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một </a:t>
            </a:r>
            <a:r>
              <a:rPr sz="1350" b="0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lần</a:t>
            </a:r>
            <a:r>
              <a:rPr sz="1350" b="0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dispatch.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45C3262-8CE5-4EE1-A741-037BF4DA1543}"/>
              </a:ext>
            </a:extLst>
          </p:cNvPr>
          <p:cNvSpPr>
            <a:spLocks noGrp="1"/>
          </p:cNvSpPr>
          <p:nvPr/>
        </p:nvSpPr>
        <p:spPr>
          <a:xfrm>
            <a:off x="8905875" y="1714500"/>
            <a:ext cx="2809875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A2E22F-AB74-44A6-BD66-2D7FEFEC351A}"/>
              </a:ext>
            </a:extLst>
          </p:cNvPr>
          <p:cNvSpPr>
            <a:spLocks noGrp="1"/>
          </p:cNvSpPr>
          <p:nvPr/>
        </p:nvSpPr>
        <p:spPr>
          <a:xfrm>
            <a:off x="8905875" y="1714500"/>
            <a:ext cx="76200" cy="11430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86CFF7-ABBE-4E6B-AD7F-C3C619DAA9A8}"/>
              </a:ext>
            </a:extLst>
          </p:cNvPr>
          <p:cNvSpPr>
            <a:spLocks noGrp="1"/>
          </p:cNvSpPr>
          <p:nvPr/>
        </p:nvSpPr>
        <p:spPr>
          <a:xfrm>
            <a:off x="9096375" y="1828800"/>
            <a:ext cx="250507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FIFO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BB88BE-A734-4E87-A493-66EE83399366}"/>
              </a:ext>
            </a:extLst>
          </p:cNvPr>
          <p:cNvSpPr>
            <a:spLocks noGrp="1"/>
          </p:cNvSpPr>
          <p:nvPr/>
        </p:nvSpPr>
        <p:spPr>
          <a:xfrm>
            <a:off x="9096375" y="2133600"/>
            <a:ext cx="2505075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Thứ tự lấy PCB trong cùng một priority queue.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112557A-BF9C-4F36-8CA1-BA8BE47FCF4E}"/>
              </a:ext>
            </a:extLst>
          </p:cNvPr>
          <p:cNvSpPr>
            <a:spLocks noGrp="1"/>
          </p:cNvSpPr>
          <p:nvPr/>
        </p:nvSpPr>
        <p:spPr>
          <a:xfrm>
            <a:off x="3476625" y="3476625"/>
            <a:ext cx="5238750" cy="666750"/>
          </a:xfrm>
          <a:prstGeom prst="rect">
            <a:avLst/>
          </a:prstGeom>
          <a:solidFill>
            <a:srgbClr val="F8E8D8"/>
          </a:solidFill>
          <a:ln w="9525">
            <a:solidFill>
              <a:srgbClr val="F8E8D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270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slot[prio] = 140 − prio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49B51A-1162-4818-A195-945A5C3A2049}"/>
              </a:ext>
            </a:extLst>
          </p:cNvPr>
          <p:cNvSpPr>
            <a:spLocks noGrp="1"/>
          </p:cNvSpPr>
          <p:nvPr/>
        </p:nvSpPr>
        <p:spPr>
          <a:xfrm>
            <a:off x="1809750" y="4476750"/>
            <a:ext cx="8572500" cy="5524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7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Một weighted slot ≈ một lần dispatch; mỗi dispatch chạy tối đa một quantum.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4C3B2A3-20A1-4E03-A07C-9DEA713D8EC3}"/>
              </a:ext>
            </a:extLst>
          </p:cNvPr>
          <p:cNvSpPr>
            <a:spLocks noGrp="1"/>
          </p:cNvSpPr>
          <p:nvPr/>
        </p:nvSpPr>
        <p:spPr>
          <a:xfrm>
            <a:off x="2524125" y="5238750"/>
            <a:ext cx="7143750" cy="7620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76200" tIns="76200" rIns="76200" bIns="7620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queue_lock bảo vệ chuyển PCB READY ↔ RUNNING</a:t>
            </a:r>
          </a:p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running_list là registry của PCB đang chạy</a:t>
            </a:r>
          </a:p>
        </p:txBody>
      </p:sp>
    </p:spTree>
    <p:extLst>
      <p:ext uri="{BB962C8B-B14F-4D97-AF65-F5344CB8AC3E}">
        <p14:creationId xmlns:p14="http://schemas.microsoft.com/office/powerpoint/2010/main" val="355927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FD697F-FDD9-42EC-B559-9D5DC3AD42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637180-6D92-4181-870C-8EA2464500C7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SCHED_PRIO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D8CD00-BA4D-46BE-8865-FCCE5B9F1D3F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 fontScale="88754" lnSpcReduction="20000"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Priority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cao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thay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đổi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lần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dispatch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kế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tiếp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—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không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cướp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instruction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đang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chạy</a:t>
            </a:r>
            <a:endParaRPr sz="2700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87ACDF-5503-46CB-A8ED-664C7C6DA9B6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33BBFF-EA69-4821-8883-913D31ECC2AA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ADF6BC-654A-481F-B766-A2DEE64216F6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Trung · Scheduler   ·   6:45   ·   8/21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443628A-057A-4D88-9BAB-24E6192A8FE9}"/>
              </a:ext>
            </a:extLst>
          </p:cNvPr>
          <p:cNvSpPr>
            <a:spLocks noGrp="1"/>
          </p:cNvSpPr>
          <p:nvPr/>
        </p:nvSpPr>
        <p:spPr>
          <a:xfrm>
            <a:off x="428625" y="1666875"/>
            <a:ext cx="2952750" cy="1714500"/>
          </a:xfrm>
          <a:prstGeom prst="roundRect">
            <a:avLst>
              <a:gd name="adj" fmla="val 4444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F19E69-CE42-4FE2-8AD9-79E2F0792027}"/>
              </a:ext>
            </a:extLst>
          </p:cNvPr>
          <p:cNvSpPr>
            <a:spLocks noGrp="1"/>
          </p:cNvSpPr>
          <p:nvPr/>
        </p:nvSpPr>
        <p:spPr>
          <a:xfrm>
            <a:off x="428625" y="1666875"/>
            <a:ext cx="295275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E1230-52E9-4DC2-A454-4EFDA7A6704C}"/>
              </a:ext>
            </a:extLst>
          </p:cNvPr>
          <p:cNvSpPr>
            <a:spLocks noGrp="1"/>
          </p:cNvSpPr>
          <p:nvPr/>
        </p:nvSpPr>
        <p:spPr>
          <a:xfrm>
            <a:off x="542925" y="1743075"/>
            <a:ext cx="27241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/ sched_prio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6418AF-9863-4DDF-9C66-BE9DCE47C5A7}"/>
              </a:ext>
            </a:extLst>
          </p:cNvPr>
          <p:cNvSpPr>
            <a:spLocks noGrp="1"/>
          </p:cNvSpPr>
          <p:nvPr/>
        </p:nvSpPr>
        <p:spPr>
          <a:xfrm>
            <a:off x="542925" y="2028825"/>
            <a:ext cx="2724150" cy="12573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2 1 2</a:t>
            </a:r>
          </a:p>
          <a:p>
            <a:pPr algn="l">
              <a:def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0 s1 1</a:t>
            </a:r>
          </a:p>
          <a:p>
            <a:pPr algn="l">
              <a:def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1 s0 0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B501FEF-18C9-414F-99CA-7A77909DA8ED}"/>
              </a:ext>
            </a:extLst>
          </p:cNvPr>
          <p:cNvSpPr>
            <a:spLocks noGrp="1"/>
          </p:cNvSpPr>
          <p:nvPr/>
        </p:nvSpPr>
        <p:spPr>
          <a:xfrm>
            <a:off x="428625" y="3667125"/>
            <a:ext cx="2952750" cy="1238250"/>
          </a:xfrm>
          <a:prstGeom prst="roundRect">
            <a:avLst>
              <a:gd name="adj" fmla="val 6154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30FF0D-9679-4F5A-AFA6-9825D1737CE8}"/>
              </a:ext>
            </a:extLst>
          </p:cNvPr>
          <p:cNvSpPr>
            <a:spLocks noGrp="1"/>
          </p:cNvSpPr>
          <p:nvPr/>
        </p:nvSpPr>
        <p:spPr>
          <a:xfrm>
            <a:off x="428625" y="3667125"/>
            <a:ext cx="295275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52784A-91B9-4FD0-956A-7100D15B93DB}"/>
              </a:ext>
            </a:extLst>
          </p:cNvPr>
          <p:cNvSpPr>
            <a:spLocks noGrp="1"/>
          </p:cNvSpPr>
          <p:nvPr/>
        </p:nvSpPr>
        <p:spPr>
          <a:xfrm>
            <a:off x="542925" y="3743325"/>
            <a:ext cx="27241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BBFDEE-368A-4219-8697-4B30C11A324F}"/>
              </a:ext>
            </a:extLst>
          </p:cNvPr>
          <p:cNvSpPr>
            <a:spLocks noGrp="1"/>
          </p:cNvSpPr>
          <p:nvPr/>
        </p:nvSpPr>
        <p:spPr>
          <a:xfrm>
            <a:off x="542925" y="4029075"/>
            <a:ext cx="2724150" cy="7810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sched_prio | grep -E</a:t>
            </a:r>
          </a:p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"Loaded|Dispatched|Put process|finished"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810000" y="1840366"/>
            <a:ext cx="7905750" cy="1129393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7CB14CE-9FA7-471E-895C-4A4F7A4CE0F8}"/>
              </a:ext>
            </a:extLst>
          </p:cNvPr>
          <p:cNvSpPr>
            <a:spLocks noGrp="1"/>
          </p:cNvSpPr>
          <p:nvPr/>
        </p:nvSpPr>
        <p:spPr>
          <a:xfrm>
            <a:off x="3810000" y="3476625"/>
            <a:ext cx="3714750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F01E51-B330-4855-9A6A-36C7EECB13E6}"/>
              </a:ext>
            </a:extLst>
          </p:cNvPr>
          <p:cNvSpPr>
            <a:spLocks noGrp="1"/>
          </p:cNvSpPr>
          <p:nvPr/>
        </p:nvSpPr>
        <p:spPr>
          <a:xfrm>
            <a:off x="3810000" y="3476625"/>
            <a:ext cx="76200" cy="1190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21E14F9-546E-4433-951F-4832D9B4FAF3}"/>
              </a:ext>
            </a:extLst>
          </p:cNvPr>
          <p:cNvSpPr>
            <a:spLocks noGrp="1"/>
          </p:cNvSpPr>
          <p:nvPr/>
        </p:nvSpPr>
        <p:spPr>
          <a:xfrm>
            <a:off x="4000500" y="3590925"/>
            <a:ext cx="3409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CÔ LẬP PROPERTY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48AB74-E8F8-49FF-B3CC-D76696E41F41}"/>
              </a:ext>
            </a:extLst>
          </p:cNvPr>
          <p:cNvSpPr>
            <a:spLocks noGrp="1"/>
          </p:cNvSpPr>
          <p:nvPr/>
        </p:nvSpPr>
        <p:spPr>
          <a:xfrm>
            <a:off x="4000500" y="3895725"/>
            <a:ext cx="3409950" cy="6762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2 priority 0 đến sau khi PID 1 priority 1 đã bắt đầu.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B424946-2B24-4D06-9343-3B25893B8F84}"/>
              </a:ext>
            </a:extLst>
          </p:cNvPr>
          <p:cNvSpPr>
            <a:spLocks noGrp="1"/>
          </p:cNvSpPr>
          <p:nvPr/>
        </p:nvSpPr>
        <p:spPr>
          <a:xfrm>
            <a:off x="7810500" y="3476625"/>
            <a:ext cx="3714750" cy="119062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E47F5B-28B4-4C07-92A6-51CC3AF6EBA6}"/>
              </a:ext>
            </a:extLst>
          </p:cNvPr>
          <p:cNvSpPr>
            <a:spLocks noGrp="1"/>
          </p:cNvSpPr>
          <p:nvPr/>
        </p:nvSpPr>
        <p:spPr>
          <a:xfrm>
            <a:off x="7810500" y="3476625"/>
            <a:ext cx="76200" cy="1190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87829C-993E-4608-85B2-5AC8E22F54AF}"/>
              </a:ext>
            </a:extLst>
          </p:cNvPr>
          <p:cNvSpPr>
            <a:spLocks noGrp="1"/>
          </p:cNvSpPr>
          <p:nvPr/>
        </p:nvSpPr>
        <p:spPr>
          <a:xfrm>
            <a:off x="8001000" y="3590925"/>
            <a:ext cx="3409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OUTPUT CẦN CHỈ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AA14E4-51D5-4E61-8176-102477090CD5}"/>
              </a:ext>
            </a:extLst>
          </p:cNvPr>
          <p:cNvSpPr>
            <a:spLocks noGrp="1"/>
          </p:cNvSpPr>
          <p:nvPr/>
        </p:nvSpPr>
        <p:spPr>
          <a:xfrm>
            <a:off x="8001000" y="3895725"/>
            <a:ext cx="3409950" cy="6762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2 chỉ dispatch sau dòng “Put process 1”.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3E1D82-3AC9-400E-AECE-DC31E21943A7}"/>
              </a:ext>
            </a:extLst>
          </p:cNvPr>
          <p:cNvSpPr>
            <a:spLocks noGrp="1"/>
          </p:cNvSpPr>
          <p:nvPr/>
        </p:nvSpPr>
        <p:spPr>
          <a:xfrm>
            <a:off x="4000500" y="5095875"/>
            <a:ext cx="7334250" cy="590550"/>
          </a:xfrm>
          <a:prstGeom prst="rect">
            <a:avLst/>
          </a:prstGeom>
          <a:solidFill>
            <a:srgbClr val="DFF2F1"/>
          </a:solidFill>
          <a:ln w="9525">
            <a:solidFill>
              <a:srgbClr val="DFF2F1"/>
            </a:solidFill>
            <a:prstDash val="solid"/>
          </a:ln>
        </p:spPr>
        <p:txBody>
          <a:bodyPr wrap="square" lIns="95250" tIns="76200" rIns="95250" bIns="76200" anchor="t">
            <a:normAutofit fontScale="91270"/>
          </a:bodyPr>
          <a:lstStyle/>
          <a:p>
            <a:pPr algn="ctr">
              <a:defRPr sz="15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Kết luận: preemption tại scheduling boundary, không phải immediate priority preemption.</a:t>
            </a:r>
          </a:p>
        </p:txBody>
      </p:sp>
    </p:spTree>
    <p:extLst>
      <p:ext uri="{BB962C8B-B14F-4D97-AF65-F5344CB8AC3E}">
        <p14:creationId xmlns:p14="http://schemas.microsoft.com/office/powerpoint/2010/main" val="695974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D0D7BC8D-39EC-4AFB-A1F1-0DA5725AC4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C8C568-812D-4430-B5F6-C0F0BA1F5BE6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WEIGHTED SLOT + RESET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CE1D8-BD79-40C6-ADBA-E5A79872D29D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 fontScale="87710" lnSpcReduction="20000"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Quota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buộc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scheduler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chuyển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queue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trước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khi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process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ưu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tiên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cao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hoàn</a:t>
            </a:r>
            <a:r>
              <a:rPr sz="27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thành</a:t>
            </a:r>
            <a:endParaRPr sz="2700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BB3768-D5C2-4890-9440-78C145634A26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1E07E4-6862-4DDC-8DC0-2E432080D70A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0A9353-5CD4-4CD7-BBD8-6E38D967A656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 dirty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Trung · Scheduler   ·   8:15   ·   9/21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BD395FA-EE5E-4C47-8403-15E6FEBAC382}"/>
              </a:ext>
            </a:extLst>
          </p:cNvPr>
          <p:cNvSpPr>
            <a:spLocks noGrp="1"/>
          </p:cNvSpPr>
          <p:nvPr/>
        </p:nvSpPr>
        <p:spPr>
          <a:xfrm>
            <a:off x="428625" y="1571625"/>
            <a:ext cx="2857500" cy="1809750"/>
          </a:xfrm>
          <a:prstGeom prst="roundRect">
            <a:avLst>
              <a:gd name="adj" fmla="val 4211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AA12FC-8474-44CC-BC4F-3AAE35099C75}"/>
              </a:ext>
            </a:extLst>
          </p:cNvPr>
          <p:cNvSpPr>
            <a:spLocks noGrp="1"/>
          </p:cNvSpPr>
          <p:nvPr/>
        </p:nvSpPr>
        <p:spPr>
          <a:xfrm>
            <a:off x="428625" y="1571625"/>
            <a:ext cx="285750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76D209-D337-4736-96DA-CBB47E564F41}"/>
              </a:ext>
            </a:extLst>
          </p:cNvPr>
          <p:cNvSpPr>
            <a:spLocks noGrp="1"/>
          </p:cNvSpPr>
          <p:nvPr/>
        </p:nvSpPr>
        <p:spPr>
          <a:xfrm>
            <a:off x="542925" y="1647825"/>
            <a:ext cx="2628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/ sched_out_of_slot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265E00-DD7B-4DEB-8A22-E5C677959AC2}"/>
              </a:ext>
            </a:extLst>
          </p:cNvPr>
          <p:cNvSpPr>
            <a:spLocks noGrp="1"/>
          </p:cNvSpPr>
          <p:nvPr/>
        </p:nvSpPr>
        <p:spPr>
          <a:xfrm>
            <a:off x="542925" y="1933575"/>
            <a:ext cx="2628900" cy="13525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2 1 3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0 s0 139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1 s1 138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2 s2 137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84ADEC4-80C6-411A-9A6C-ABCEE09B530C}"/>
              </a:ext>
            </a:extLst>
          </p:cNvPr>
          <p:cNvSpPr>
            <a:spLocks noGrp="1"/>
          </p:cNvSpPr>
          <p:nvPr/>
        </p:nvSpPr>
        <p:spPr>
          <a:xfrm>
            <a:off x="476250" y="3714750"/>
            <a:ext cx="2762250" cy="1238250"/>
          </a:xfrm>
          <a:prstGeom prst="roundRect">
            <a:avLst>
              <a:gd name="adj" fmla="val 6154"/>
            </a:avLst>
          </a:prstGeom>
          <a:solidFill>
            <a:srgbClr val="F8E8D8"/>
          </a:solidFill>
          <a:ln w="9525">
            <a:solidFill>
              <a:srgbClr val="F8E8D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7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prio 137 → 3 slot</a:t>
            </a:r>
          </a:p>
          <a:p>
            <a:pPr algn="ctr">
              <a:defRPr sz="17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prio 138 → 2 slot</a:t>
            </a:r>
          </a:p>
          <a:p>
            <a:pPr algn="ctr">
              <a:defRPr sz="17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prio 139 → 1 slot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19500" y="1755321"/>
            <a:ext cx="8096250" cy="1156607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E234175-AB37-4BA8-9860-A9B761D280D1}"/>
              </a:ext>
            </a:extLst>
          </p:cNvPr>
          <p:cNvSpPr>
            <a:spLocks noGrp="1"/>
          </p:cNvSpPr>
          <p:nvPr/>
        </p:nvSpPr>
        <p:spPr>
          <a:xfrm>
            <a:off x="3810000" y="3476625"/>
            <a:ext cx="2286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E59688-5049-4793-B69F-B4A5C17CF76B}"/>
              </a:ext>
            </a:extLst>
          </p:cNvPr>
          <p:cNvSpPr>
            <a:spLocks noGrp="1"/>
          </p:cNvSpPr>
          <p:nvPr/>
        </p:nvSpPr>
        <p:spPr>
          <a:xfrm>
            <a:off x="3810000" y="3476625"/>
            <a:ext cx="76200" cy="10001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D75716-51BD-4655-935E-0FE47A95DBF9}"/>
              </a:ext>
            </a:extLst>
          </p:cNvPr>
          <p:cNvSpPr>
            <a:spLocks noGrp="1"/>
          </p:cNvSpPr>
          <p:nvPr/>
        </p:nvSpPr>
        <p:spPr>
          <a:xfrm>
            <a:off x="4000500" y="3590925"/>
            <a:ext cx="1981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3–9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F74ECC-A918-418F-9FD7-F8BF45EE6430}"/>
              </a:ext>
            </a:extLst>
          </p:cNvPr>
          <p:cNvSpPr>
            <a:spLocks noGrp="1"/>
          </p:cNvSpPr>
          <p:nvPr/>
        </p:nvSpPr>
        <p:spPr>
          <a:xfrm>
            <a:off x="4000500" y="3895725"/>
            <a:ext cx="1981200" cy="485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P3 dùng đủ 3 quota của priority 137.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68F2935-E5C0-4BE8-8D3D-6C6ED3B35BDB}"/>
              </a:ext>
            </a:extLst>
          </p:cNvPr>
          <p:cNvSpPr>
            <a:spLocks noGrp="1"/>
          </p:cNvSpPr>
          <p:nvPr/>
        </p:nvSpPr>
        <p:spPr>
          <a:xfrm>
            <a:off x="6334125" y="3476625"/>
            <a:ext cx="2286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1A6194-FFCE-45F8-B40B-2D8437E261CB}"/>
              </a:ext>
            </a:extLst>
          </p:cNvPr>
          <p:cNvSpPr>
            <a:spLocks noGrp="1"/>
          </p:cNvSpPr>
          <p:nvPr/>
        </p:nvSpPr>
        <p:spPr>
          <a:xfrm>
            <a:off x="6334125" y="3476625"/>
            <a:ext cx="76200" cy="10001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75BBEA-2AC5-4C6B-8EA1-06678CABD47F}"/>
              </a:ext>
            </a:extLst>
          </p:cNvPr>
          <p:cNvSpPr>
            <a:spLocks noGrp="1"/>
          </p:cNvSpPr>
          <p:nvPr/>
        </p:nvSpPr>
        <p:spPr>
          <a:xfrm>
            <a:off x="6524625" y="3590925"/>
            <a:ext cx="1981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9–13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4D080B-CA36-4711-85ED-75F035C13827}"/>
              </a:ext>
            </a:extLst>
          </p:cNvPr>
          <p:cNvSpPr>
            <a:spLocks noGrp="1"/>
          </p:cNvSpPr>
          <p:nvPr/>
        </p:nvSpPr>
        <p:spPr>
          <a:xfrm>
            <a:off x="6524625" y="3895725"/>
            <a:ext cx="1981200" cy="485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P2 dùng 2 quota của priority 138.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1EE78C2-212B-4593-984B-3ED5DD74CDF5}"/>
              </a:ext>
            </a:extLst>
          </p:cNvPr>
          <p:cNvSpPr>
            <a:spLocks noGrp="1"/>
          </p:cNvSpPr>
          <p:nvPr/>
        </p:nvSpPr>
        <p:spPr>
          <a:xfrm>
            <a:off x="8858250" y="3476625"/>
            <a:ext cx="2667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CE37FE-1E8A-4E06-BDF8-403D8413767F}"/>
              </a:ext>
            </a:extLst>
          </p:cNvPr>
          <p:cNvSpPr>
            <a:spLocks noGrp="1"/>
          </p:cNvSpPr>
          <p:nvPr/>
        </p:nvSpPr>
        <p:spPr>
          <a:xfrm>
            <a:off x="8858250" y="3476625"/>
            <a:ext cx="76200" cy="1000125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0F738FA-37DD-4041-9A15-822981E3DDF1}"/>
              </a:ext>
            </a:extLst>
          </p:cNvPr>
          <p:cNvSpPr>
            <a:spLocks noGrp="1"/>
          </p:cNvSpPr>
          <p:nvPr/>
        </p:nvSpPr>
        <p:spPr>
          <a:xfrm>
            <a:off x="9048750" y="3590925"/>
            <a:ext cx="2362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TẠI 13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84C442-C8C6-46BC-AA4D-47DA717F3DF0}"/>
              </a:ext>
            </a:extLst>
          </p:cNvPr>
          <p:cNvSpPr>
            <a:spLocks noGrp="1"/>
          </p:cNvSpPr>
          <p:nvPr/>
        </p:nvSpPr>
        <p:spPr>
          <a:xfrm>
            <a:off x="9048750" y="3895725"/>
            <a:ext cx="2362200" cy="485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Không queue khả dụng còn quota → reset toàn bộ slot.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6883E13-9F4C-4E35-9EBC-E215269F647C}"/>
              </a:ext>
            </a:extLst>
          </p:cNvPr>
          <p:cNvSpPr>
            <a:spLocks noGrp="1"/>
          </p:cNvSpPr>
          <p:nvPr/>
        </p:nvSpPr>
        <p:spPr>
          <a:xfrm>
            <a:off x="3619500" y="4905375"/>
            <a:ext cx="5048250" cy="857250"/>
          </a:xfrm>
          <a:prstGeom prst="roundRect">
            <a:avLst>
              <a:gd name="adj" fmla="val 8889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CFA58CB-085C-4556-9E3A-75F97BC20A88}"/>
              </a:ext>
            </a:extLst>
          </p:cNvPr>
          <p:cNvSpPr>
            <a:spLocks noGrp="1"/>
          </p:cNvSpPr>
          <p:nvPr/>
        </p:nvSpPr>
        <p:spPr>
          <a:xfrm>
            <a:off x="3619500" y="4905375"/>
            <a:ext cx="504825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443287F-1FA5-4E54-8099-DBE0FDBD0315}"/>
              </a:ext>
            </a:extLst>
          </p:cNvPr>
          <p:cNvSpPr>
            <a:spLocks noGrp="1"/>
          </p:cNvSpPr>
          <p:nvPr/>
        </p:nvSpPr>
        <p:spPr>
          <a:xfrm>
            <a:off x="3733800" y="4981575"/>
            <a:ext cx="48196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39F266-AD11-4E7F-B623-90B178AAD72C}"/>
              </a:ext>
            </a:extLst>
          </p:cNvPr>
          <p:cNvSpPr>
            <a:spLocks noGrp="1"/>
          </p:cNvSpPr>
          <p:nvPr/>
        </p:nvSpPr>
        <p:spPr>
          <a:xfrm>
            <a:off x="3733800" y="5267325"/>
            <a:ext cx="4819650" cy="4000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sched_out_of_slot | grep -E</a:t>
            </a:r>
          </a:p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"Dispatched|Put process|finished"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B3D3BD-BE9B-4D62-A7D3-9D3AD404E2C4}"/>
              </a:ext>
            </a:extLst>
          </p:cNvPr>
          <p:cNvSpPr>
            <a:spLocks noGrp="1"/>
          </p:cNvSpPr>
          <p:nvPr/>
        </p:nvSpPr>
        <p:spPr>
          <a:xfrm>
            <a:off x="8858250" y="4857750"/>
            <a:ext cx="2667000" cy="9525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Process priority thấp không mất; nó tiếp tục khi quota được reset hoặc queue cao hoàn thành.</a:t>
            </a:r>
          </a:p>
        </p:txBody>
      </p:sp>
    </p:spTree>
    <p:extLst>
      <p:ext uri="{BB962C8B-B14F-4D97-AF65-F5344CB8AC3E}">
        <p14:creationId xmlns:p14="http://schemas.microsoft.com/office/powerpoint/2010/main" val="1575432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CA32451E-87B9-4B39-BD7C-FFAE49BB9A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FB304D-FC52-43B7-9DA1-B803FB80DE9E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SCHED_2_CPU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F31A26-B1B1-400F-BCE7-3C7A3F8992AC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Hai CPU chia sẻ scheduler — nhưng ownership PCB là duy nhất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CBA540-3AC3-48EB-9749-DEABEE0F5AA7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7223DC-0D80-43D7-9CE0-7BE63837A565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C58CA8-4001-42B1-B4B0-8A38860015F1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Trung · Đồng bộ   ·   9:30   ·   10/21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8625" y="1959429"/>
            <a:ext cx="7239000" cy="1034143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606AFCA-2C30-4CFE-AE98-C27C4076FFA6}"/>
              </a:ext>
            </a:extLst>
          </p:cNvPr>
          <p:cNvSpPr>
            <a:spLocks noGrp="1"/>
          </p:cNvSpPr>
          <p:nvPr/>
        </p:nvSpPr>
        <p:spPr>
          <a:xfrm>
            <a:off x="8001000" y="1666875"/>
            <a:ext cx="3619500" cy="1143000"/>
          </a:xfrm>
          <a:prstGeom prst="roundRect">
            <a:avLst>
              <a:gd name="adj" fmla="val 6667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CEC000-4CE6-4567-B562-7976D3427987}"/>
              </a:ext>
            </a:extLst>
          </p:cNvPr>
          <p:cNvSpPr>
            <a:spLocks noGrp="1"/>
          </p:cNvSpPr>
          <p:nvPr/>
        </p:nvSpPr>
        <p:spPr>
          <a:xfrm>
            <a:off x="8001000" y="1666875"/>
            <a:ext cx="361950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654B39-7563-4FF4-843E-69D94AC2CB84}"/>
              </a:ext>
            </a:extLst>
          </p:cNvPr>
          <p:cNvSpPr>
            <a:spLocks noGrp="1"/>
          </p:cNvSpPr>
          <p:nvPr/>
        </p:nvSpPr>
        <p:spPr>
          <a:xfrm>
            <a:off x="8115300" y="1743075"/>
            <a:ext cx="3390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2160D-AB3A-4CB4-A924-075D31AEDA3D}"/>
              </a:ext>
            </a:extLst>
          </p:cNvPr>
          <p:cNvSpPr>
            <a:spLocks noGrp="1"/>
          </p:cNvSpPr>
          <p:nvPr/>
        </p:nvSpPr>
        <p:spPr>
          <a:xfrm>
            <a:off x="8115300" y="2028825"/>
            <a:ext cx="3390900" cy="6858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</a:t>
            </a:r>
            <a:r>
              <a:rPr sz="1125" b="0" dirty="0" err="1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os</a:t>
            </a:r>
            <a:r>
              <a:rPr sz="11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 sched_2_cpu | grep -E</a:t>
            </a:r>
          </a:p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"CPU [01]: (</a:t>
            </a:r>
            <a:r>
              <a:rPr sz="1125" b="0" dirty="0" err="1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Dispatched|Put|Processed</a:t>
            </a:r>
            <a:r>
              <a:rPr sz="1125" b="0" dirty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)"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6AEA865-EBED-49D6-AB94-5D0FDBD156D4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MLQ READY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QUEUES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97A8CEB-0005-44FC-A979-3F373A39A4D5}"/>
              </a:ext>
            </a:extLst>
          </p:cNvPr>
          <p:cNvSpPr>
            <a:spLocks noGrp="1"/>
          </p:cNvSpPr>
          <p:nvPr/>
        </p:nvSpPr>
        <p:spPr>
          <a:xfrm>
            <a:off x="4762500" y="3714750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CPU 0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A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A43A53-D054-423F-AF8B-430416245E91}"/>
              </a:ext>
            </a:extLst>
          </p:cNvPr>
          <p:cNvSpPr>
            <a:spLocks noGrp="1"/>
          </p:cNvSpPr>
          <p:nvPr/>
        </p:nvSpPr>
        <p:spPr>
          <a:xfrm>
            <a:off x="4762500" y="4762500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CPU 1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B</a:t>
            </a:r>
          </a:p>
        </p:txBody>
      </p:sp>
      <p:cxnSp>
        <p:nvCxnSpPr>
          <p:cNvPr id="15" name="Elbow Connector 14"/>
          <p:cNvCxnSpPr>
            <a:stCxn id="12" idx="3"/>
            <a:endCxn id="13" idx="1"/>
          </p:cNvCxnSpPr>
          <p:nvPr/>
        </p:nvCxnSpPr>
        <p:spPr>
          <a:xfrm flipV="1">
            <a:off x="2952750" y="4048125"/>
            <a:ext cx="1809750" cy="419100"/>
          </a:xfrm>
          <a:prstGeom prst="bentConnector3">
            <a:avLst>
              <a:gd name="adj1" fmla="val 50000"/>
            </a:avLst>
          </a:prstGeom>
          <a:ln w="19050">
            <a:solidFill>
              <a:srgbClr val="E77728"/>
            </a:solidFill>
            <a:prstDash val="solid"/>
          </a:ln>
        </p:spPr>
      </p:cxnSp>
      <p:cxnSp>
        <p:nvCxnSpPr>
          <p:cNvPr id="16" name="Elbow Connector 15"/>
          <p:cNvCxnSpPr>
            <a:stCxn id="12" idx="3"/>
            <a:endCxn id="14" idx="1"/>
          </p:cNvCxnSpPr>
          <p:nvPr/>
        </p:nvCxnSpPr>
        <p:spPr>
          <a:xfrm>
            <a:off x="2952750" y="4467225"/>
            <a:ext cx="1809750" cy="628650"/>
          </a:xfrm>
          <a:prstGeom prst="bentConnector3">
            <a:avLst>
              <a:gd name="adj1" fmla="val 50000"/>
            </a:avLst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FBECD27-E376-4144-88F9-994AC114BBEB}"/>
              </a:ext>
            </a:extLst>
          </p:cNvPr>
          <p:cNvSpPr>
            <a:spLocks noGrp="1"/>
          </p:cNvSpPr>
          <p:nvPr/>
        </p:nvSpPr>
        <p:spPr>
          <a:xfrm>
            <a:off x="7239000" y="3762375"/>
            <a:ext cx="209550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F26B1D-F440-43AA-90E2-BCCA93BA6EEE}"/>
              </a:ext>
            </a:extLst>
          </p:cNvPr>
          <p:cNvSpPr>
            <a:spLocks noGrp="1"/>
          </p:cNvSpPr>
          <p:nvPr/>
        </p:nvSpPr>
        <p:spPr>
          <a:xfrm>
            <a:off x="7239000" y="3762375"/>
            <a:ext cx="76200" cy="85725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B759CF-E22F-40AC-8965-D3CB69F8C599}"/>
              </a:ext>
            </a:extLst>
          </p:cNvPr>
          <p:cNvSpPr>
            <a:spLocks noGrp="1"/>
          </p:cNvSpPr>
          <p:nvPr/>
        </p:nvSpPr>
        <p:spPr>
          <a:xfrm>
            <a:off x="7429500" y="3876675"/>
            <a:ext cx="1790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AF2688-39D9-4B9C-8E98-736EC904BF6E}"/>
              </a:ext>
            </a:extLst>
          </p:cNvPr>
          <p:cNvSpPr>
            <a:spLocks noGrp="1"/>
          </p:cNvSpPr>
          <p:nvPr/>
        </p:nvSpPr>
        <p:spPr>
          <a:xfrm>
            <a:off x="7429500" y="4181475"/>
            <a:ext cx="17907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 fontScale="85992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 ≠ B tại cùng thời điểm.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3FC30A4-93A7-4109-AE06-2C554D2A8D64}"/>
              </a:ext>
            </a:extLst>
          </p:cNvPr>
          <p:cNvSpPr>
            <a:spLocks noGrp="1"/>
          </p:cNvSpPr>
          <p:nvPr/>
        </p:nvSpPr>
        <p:spPr>
          <a:xfrm>
            <a:off x="9525000" y="3762375"/>
            <a:ext cx="20955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6323E2-8BF1-44E6-8708-C336AF5A201A}"/>
              </a:ext>
            </a:extLst>
          </p:cNvPr>
          <p:cNvSpPr>
            <a:spLocks noGrp="1"/>
          </p:cNvSpPr>
          <p:nvPr/>
        </p:nvSpPr>
        <p:spPr>
          <a:xfrm>
            <a:off x="9525000" y="3762375"/>
            <a:ext cx="76200" cy="1381125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E3DD42-FAB8-46E9-B700-60999C6BC935}"/>
              </a:ext>
            </a:extLst>
          </p:cNvPr>
          <p:cNvSpPr>
            <a:spLocks noGrp="1"/>
          </p:cNvSpPr>
          <p:nvPr/>
        </p:nvSpPr>
        <p:spPr>
          <a:xfrm>
            <a:off x="9715500" y="3876675"/>
            <a:ext cx="1790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913181-B7FF-4497-B1EF-1ABDD0AD47CE}"/>
              </a:ext>
            </a:extLst>
          </p:cNvPr>
          <p:cNvSpPr>
            <a:spLocks noGrp="1"/>
          </p:cNvSpPr>
          <p:nvPr/>
        </p:nvSpPr>
        <p:spPr>
          <a:xfrm>
            <a:off x="9715500" y="4181475"/>
            <a:ext cx="17907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dequeue + enqueue running_list nằm trong cùng queue_lock.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25181A-A6D9-45B4-AEC9-8246C9CFBC31}"/>
              </a:ext>
            </a:extLst>
          </p:cNvPr>
          <p:cNvSpPr>
            <a:spLocks noGrp="1"/>
          </p:cNvSpPr>
          <p:nvPr/>
        </p:nvSpPr>
        <p:spPr>
          <a:xfrm>
            <a:off x="7000875" y="5381625"/>
            <a:ext cx="4762500" cy="400050"/>
          </a:xfrm>
          <a:prstGeom prst="rect">
            <a:avLst/>
          </a:prstGeom>
          <a:solidFill>
            <a:srgbClr val="F5E4E4"/>
          </a:solidFill>
          <a:ln w="9525">
            <a:solidFill>
              <a:srgbClr val="F5E4E4"/>
            </a:solidFill>
            <a:prstDash val="solid"/>
          </a:ln>
        </p:spPr>
        <p:txBody>
          <a:bodyPr wrap="square" lIns="95250" tIns="76200" rIns="95250" bIns="76200" anchor="t">
            <a:normAutofit fontScale="92464" lnSpcReduction="20000"/>
          </a:bodyPr>
          <a:lstStyle/>
          <a:p>
            <a:pPr algn="ctr">
              <a:defRPr sz="13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Thứ tự CPU nào lấy PID nào có thể đổi; invariant không được đổi.</a:t>
            </a:r>
          </a:p>
        </p:txBody>
      </p:sp>
    </p:spTree>
    <p:extLst>
      <p:ext uri="{BB962C8B-B14F-4D97-AF65-F5344CB8AC3E}">
        <p14:creationId xmlns:p14="http://schemas.microsoft.com/office/powerpoint/2010/main" val="963337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3224EB-5680-45CA-9D2D-C8A46D2BF7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A908E8-B7DC-4E7F-968F-0198EF621BD6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BẢO · TRƯỚC KHI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A07728-0995-45A3-BFD2-9C7C67892A3C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 fontScale="91343" lnSpcReduction="20000"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Kiến thức nền: địa chỉ ảo tách cách process nhìn bộ nhớ khỏi vị trí byte thật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8EB104-2FFD-43DC-A43A-A06FE3B379BA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D70D52-DBC1-4BD6-9D85-D6AC1196B670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EB248A-628E-47AF-9467-B3B8356D5A38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Bảo · Kiến thức nền   ·   10:30   ·   11/21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E979E57-4657-4FBA-B98F-8608E8463B0C}"/>
              </a:ext>
            </a:extLst>
          </p:cNvPr>
          <p:cNvSpPr>
            <a:spLocks noGrp="1"/>
          </p:cNvSpPr>
          <p:nvPr/>
        </p:nvSpPr>
        <p:spPr>
          <a:xfrm>
            <a:off x="619125" y="1952625"/>
            <a:ext cx="247650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VIRTUAL ADDRESS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region + offset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1076F8-8CAD-43F1-9649-384C460FAB97}"/>
              </a:ext>
            </a:extLst>
          </p:cNvPr>
          <p:cNvSpPr>
            <a:spLocks noGrp="1"/>
          </p:cNvSpPr>
          <p:nvPr/>
        </p:nvSpPr>
        <p:spPr>
          <a:xfrm>
            <a:off x="4857750" y="1952625"/>
            <a:ext cx="2476500" cy="857250"/>
          </a:xfrm>
          <a:prstGeom prst="roundRect">
            <a:avLst>
              <a:gd name="adj" fmla="val 8889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PAGE TABLE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VPN → frame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27CCA4C-848A-4A40-8012-2ECD15A2E9C4}"/>
              </a:ext>
            </a:extLst>
          </p:cNvPr>
          <p:cNvSpPr>
            <a:spLocks noGrp="1"/>
          </p:cNvSpPr>
          <p:nvPr/>
        </p:nvSpPr>
        <p:spPr>
          <a:xfrm>
            <a:off x="9096375" y="1952625"/>
            <a:ext cx="2476500" cy="857250"/>
          </a:xfrm>
          <a:prstGeom prst="roundRect">
            <a:avLst>
              <a:gd name="adj" fmla="val 8889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PHYSICAL ADDRESS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frame + offset</a:t>
            </a:r>
          </a:p>
        </p:txBody>
      </p:sp>
      <p:cxnSp>
        <p:nvCxnSpPr>
          <p:cNvPr id="10" name="Straight Arrow Connector 9"/>
          <p:cNvCxnSpPr>
            <a:stCxn id="7" idx="3"/>
            <a:endCxn id="8" idx="1"/>
          </p:cNvCxnSpPr>
          <p:nvPr/>
        </p:nvCxnSpPr>
        <p:spPr>
          <a:xfrm>
            <a:off x="3095625" y="2381250"/>
            <a:ext cx="1762125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1" name="Straight Arrow Connector 10"/>
          <p:cNvCxnSpPr>
            <a:stCxn id="8" idx="3"/>
            <a:endCxn id="9" idx="1"/>
          </p:cNvCxnSpPr>
          <p:nvPr/>
        </p:nvCxnSpPr>
        <p:spPr>
          <a:xfrm>
            <a:off x="7334250" y="2381250"/>
            <a:ext cx="1762125" cy="0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A148B64-61DF-4959-804E-24759E77F857}"/>
              </a:ext>
            </a:extLst>
          </p:cNvPr>
          <p:cNvSpPr>
            <a:spLocks noGrp="1"/>
          </p:cNvSpPr>
          <p:nvPr/>
        </p:nvSpPr>
        <p:spPr>
          <a:xfrm>
            <a:off x="619125" y="3667125"/>
            <a:ext cx="333375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EB5708-D76E-457A-AD62-5F9689851F90}"/>
              </a:ext>
            </a:extLst>
          </p:cNvPr>
          <p:cNvSpPr>
            <a:spLocks noGrp="1"/>
          </p:cNvSpPr>
          <p:nvPr/>
        </p:nvSpPr>
        <p:spPr>
          <a:xfrm>
            <a:off x="619125" y="3667125"/>
            <a:ext cx="76200" cy="1381125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A25C5-73FC-45C6-B9E9-17E5CCCCE469}"/>
              </a:ext>
            </a:extLst>
          </p:cNvPr>
          <p:cNvSpPr>
            <a:spLocks noGrp="1"/>
          </p:cNvSpPr>
          <p:nvPr/>
        </p:nvSpPr>
        <p:spPr>
          <a:xfrm>
            <a:off x="809625" y="3781425"/>
            <a:ext cx="3028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REGION [start,end)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FCA463-6CBC-4EDB-9D93-A244492EC20E}"/>
              </a:ext>
            </a:extLst>
          </p:cNvPr>
          <p:cNvSpPr>
            <a:spLocks noGrp="1"/>
          </p:cNvSpPr>
          <p:nvPr/>
        </p:nvSpPr>
        <p:spPr>
          <a:xfrm>
            <a:off x="809625" y="4086225"/>
            <a:ext cx="302895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ALLOC/FREE quản lý miền logic. Offset hợp lệ khi 0 ≤ offset &lt; end − start.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AC1DAC0-BC4E-488F-A7A4-297ABEBBF392}"/>
              </a:ext>
            </a:extLst>
          </p:cNvPr>
          <p:cNvSpPr>
            <a:spLocks noGrp="1"/>
          </p:cNvSpPr>
          <p:nvPr/>
        </p:nvSpPr>
        <p:spPr>
          <a:xfrm>
            <a:off x="4429125" y="3667125"/>
            <a:ext cx="333375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A7A741-A8A2-4409-8E52-9EEA133B1BB6}"/>
              </a:ext>
            </a:extLst>
          </p:cNvPr>
          <p:cNvSpPr>
            <a:spLocks noGrp="1"/>
          </p:cNvSpPr>
          <p:nvPr/>
        </p:nvSpPr>
        <p:spPr>
          <a:xfrm>
            <a:off x="4429125" y="3667125"/>
            <a:ext cx="76200" cy="13811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E49A34-336B-4C2D-A1DC-AD359BDB9FB7}"/>
              </a:ext>
            </a:extLst>
          </p:cNvPr>
          <p:cNvSpPr>
            <a:spLocks noGrp="1"/>
          </p:cNvSpPr>
          <p:nvPr/>
        </p:nvSpPr>
        <p:spPr>
          <a:xfrm>
            <a:off x="4619625" y="3781425"/>
            <a:ext cx="3028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PAGE + FRAME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BD7CB18-E68E-4375-A8DE-DD191D106D5C}"/>
              </a:ext>
            </a:extLst>
          </p:cNvPr>
          <p:cNvSpPr>
            <a:spLocks noGrp="1"/>
          </p:cNvSpPr>
          <p:nvPr/>
        </p:nvSpPr>
        <p:spPr>
          <a:xfrm>
            <a:off x="4619625" y="4086225"/>
            <a:ext cx="302895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Page table quản lý mapping theo page; frame chứa byte thực trong RAM hoặc SWAP.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D850028-FCF7-4C61-8775-A7A4ED4F21F0}"/>
              </a:ext>
            </a:extLst>
          </p:cNvPr>
          <p:cNvSpPr>
            <a:spLocks noGrp="1"/>
          </p:cNvSpPr>
          <p:nvPr/>
        </p:nvSpPr>
        <p:spPr>
          <a:xfrm>
            <a:off x="8239125" y="3667125"/>
            <a:ext cx="333375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AE414F-72F3-43FF-A7B5-8F714C3A156C}"/>
              </a:ext>
            </a:extLst>
          </p:cNvPr>
          <p:cNvSpPr>
            <a:spLocks noGrp="1"/>
          </p:cNvSpPr>
          <p:nvPr/>
        </p:nvSpPr>
        <p:spPr>
          <a:xfrm>
            <a:off x="8239125" y="3667125"/>
            <a:ext cx="76200" cy="13811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2640C7-714E-4A95-A7BA-13F2B949CCF2}"/>
              </a:ext>
            </a:extLst>
          </p:cNvPr>
          <p:cNvSpPr>
            <a:spLocks noGrp="1"/>
          </p:cNvSpPr>
          <p:nvPr/>
        </p:nvSpPr>
        <p:spPr>
          <a:xfrm>
            <a:off x="8429625" y="3781425"/>
            <a:ext cx="3028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COPY SEMANTICS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EED7728-C941-4696-9E5C-0FAE300FC629}"/>
              </a:ext>
            </a:extLst>
          </p:cNvPr>
          <p:cNvSpPr>
            <a:spLocks noGrp="1"/>
          </p:cNvSpPr>
          <p:nvPr/>
        </p:nvSpPr>
        <p:spPr>
          <a:xfrm>
            <a:off x="8429625" y="4086225"/>
            <a:ext cx="302895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copy_from_user / copy_to_user phải bảo toàn dữ liệu và đi qua kernel boundary.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BC141D-BEE8-4AB6-9DD6-9DFDD9D01A2F}"/>
              </a:ext>
            </a:extLst>
          </p:cNvPr>
          <p:cNvSpPr>
            <a:spLocks noGrp="1"/>
          </p:cNvSpPr>
          <p:nvPr/>
        </p:nvSpPr>
        <p:spPr>
          <a:xfrm>
            <a:off x="1428750" y="5572125"/>
            <a:ext cx="9334500" cy="4191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Demo sắp tới tách hai property: tái sử dụng logical region và roundtrip byte 65 end-to-end.</a:t>
            </a:r>
          </a:p>
        </p:txBody>
      </p:sp>
    </p:spTree>
    <p:extLst>
      <p:ext uri="{BB962C8B-B14F-4D97-AF65-F5344CB8AC3E}">
        <p14:creationId xmlns:p14="http://schemas.microsoft.com/office/powerpoint/2010/main" val="332000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8C9F6B6-C5CE-4416-B36B-A7D6BF05E5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77BC8-0F93-429D-8B89-B777A6CC1403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BẢO · MEMORY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78BD60-E3B9-46D2-9B0B-A3F34C6B9609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Region, page và frame trả lời ba câu hỏi khác nhau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1D208D-CEBA-416C-9C53-C4973C83F0D6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3114AF-7789-47BC-B70E-E402CD43518B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2993C-180F-4014-AD38-06C253F37ED4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Bảo · Memory   ·   11:15   ·   12/21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EBA2C98-1EE1-4736-BC73-210A536A14A4}"/>
              </a:ext>
            </a:extLst>
          </p:cNvPr>
          <p:cNvSpPr>
            <a:spLocks noGrp="1"/>
          </p:cNvSpPr>
          <p:nvPr/>
        </p:nvSpPr>
        <p:spPr>
          <a:xfrm>
            <a:off x="714375" y="1762125"/>
            <a:ext cx="3143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REGION / VMA</a:t>
            </a:r>
          </a:p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 muốn cấp vùng logic nào?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E66BB2-2AAD-409D-A90B-E4A4352B23F7}"/>
              </a:ext>
            </a:extLst>
          </p:cNvPr>
          <p:cNvSpPr>
            <a:spLocks noGrp="1"/>
          </p:cNvSpPr>
          <p:nvPr/>
        </p:nvSpPr>
        <p:spPr>
          <a:xfrm>
            <a:off x="4524375" y="2952750"/>
            <a:ext cx="3143250" cy="952500"/>
          </a:xfrm>
          <a:prstGeom prst="roundRect">
            <a:avLst>
              <a:gd name="adj" fmla="val 8000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VIRTUAL PAGE</a:t>
            </a:r>
          </a:p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Dịch địa chỉ theo đơn vị nào?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B7FDA0C-DBA1-4FA1-AD4E-F3BBA71097F7}"/>
              </a:ext>
            </a:extLst>
          </p:cNvPr>
          <p:cNvSpPr>
            <a:spLocks noGrp="1"/>
          </p:cNvSpPr>
          <p:nvPr/>
        </p:nvSpPr>
        <p:spPr>
          <a:xfrm>
            <a:off x="8334375" y="4143375"/>
            <a:ext cx="3143250" cy="952500"/>
          </a:xfrm>
          <a:prstGeom prst="roundRect">
            <a:avLst>
              <a:gd name="adj" fmla="val 8000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PHYSICAL FRAME</a:t>
            </a:r>
          </a:p>
          <a:p>
            <a:pPr algn="ctr"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Byte thực nằm ở đâu trong RAM/SWAP?</a:t>
            </a:r>
          </a:p>
        </p:txBody>
      </p:sp>
      <p:cxnSp>
        <p:nvCxnSpPr>
          <p:cNvPr id="10" name="Straight Arrow Connector 9"/>
          <p:cNvCxnSpPr>
            <a:stCxn id="7" idx="3"/>
            <a:endCxn id="8" idx="1"/>
          </p:cNvCxnSpPr>
          <p:nvPr/>
        </p:nvCxnSpPr>
        <p:spPr>
          <a:xfrm>
            <a:off x="3857625" y="2238375"/>
            <a:ext cx="666750" cy="1190625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1" name="Straight Arrow Connector 10"/>
          <p:cNvCxnSpPr>
            <a:stCxn id="8" idx="3"/>
            <a:endCxn id="9" idx="1"/>
          </p:cNvCxnSpPr>
          <p:nvPr/>
        </p:nvCxnSpPr>
        <p:spPr>
          <a:xfrm>
            <a:off x="7667625" y="3429000"/>
            <a:ext cx="666750" cy="1190625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66A6DAF-6405-4BAE-AE74-BFB137728E08}"/>
              </a:ext>
            </a:extLst>
          </p:cNvPr>
          <p:cNvSpPr>
            <a:spLocks noGrp="1"/>
          </p:cNvSpPr>
          <p:nvPr/>
        </p:nvSpPr>
        <p:spPr>
          <a:xfrm>
            <a:off x="666750" y="3476625"/>
            <a:ext cx="2667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A778B9-19B5-4D9E-8D1F-95585FFC4457}"/>
              </a:ext>
            </a:extLst>
          </p:cNvPr>
          <p:cNvSpPr>
            <a:spLocks noGrp="1"/>
          </p:cNvSpPr>
          <p:nvPr/>
        </p:nvSpPr>
        <p:spPr>
          <a:xfrm>
            <a:off x="666750" y="3476625"/>
            <a:ext cx="76200" cy="8763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FC6E43-400E-4762-AAAF-69FA71A82DB0}"/>
              </a:ext>
            </a:extLst>
          </p:cNvPr>
          <p:cNvSpPr>
            <a:spLocks noGrp="1"/>
          </p:cNvSpPr>
          <p:nvPr/>
        </p:nvSpPr>
        <p:spPr>
          <a:xfrm>
            <a:off x="857250" y="3590925"/>
            <a:ext cx="2362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REGION TABLE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4CE9DA-70D0-4B96-B089-832FFF14A18F}"/>
              </a:ext>
            </a:extLst>
          </p:cNvPr>
          <p:cNvSpPr>
            <a:spLocks noGrp="1"/>
          </p:cNvSpPr>
          <p:nvPr/>
        </p:nvSpPr>
        <p:spPr>
          <a:xfrm>
            <a:off x="857250" y="3895725"/>
            <a:ext cx="23622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rgid → [start,end)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160A363-FA03-48DD-BFD2-0B0306B20834}"/>
              </a:ext>
            </a:extLst>
          </p:cNvPr>
          <p:cNvSpPr>
            <a:spLocks noGrp="1"/>
          </p:cNvSpPr>
          <p:nvPr/>
        </p:nvSpPr>
        <p:spPr>
          <a:xfrm>
            <a:off x="4667250" y="4762500"/>
            <a:ext cx="2857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B71B14-8B50-43BC-82E7-DC39CC4BE310}"/>
              </a:ext>
            </a:extLst>
          </p:cNvPr>
          <p:cNvSpPr>
            <a:spLocks noGrp="1"/>
          </p:cNvSpPr>
          <p:nvPr/>
        </p:nvSpPr>
        <p:spPr>
          <a:xfrm>
            <a:off x="4667250" y="4762500"/>
            <a:ext cx="76200" cy="8763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BB671A-4597-406F-A860-349C8D9EA90E}"/>
              </a:ext>
            </a:extLst>
          </p:cNvPr>
          <p:cNvSpPr>
            <a:spLocks noGrp="1"/>
          </p:cNvSpPr>
          <p:nvPr/>
        </p:nvSpPr>
        <p:spPr>
          <a:xfrm>
            <a:off x="4857750" y="4876800"/>
            <a:ext cx="2552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PTE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C6CFCD-B2A3-49C3-9D0E-6503D1B2FB87}"/>
              </a:ext>
            </a:extLst>
          </p:cNvPr>
          <p:cNvSpPr>
            <a:spLocks noGrp="1"/>
          </p:cNvSpPr>
          <p:nvPr/>
        </p:nvSpPr>
        <p:spPr>
          <a:xfrm>
            <a:off x="4857750" y="5181600"/>
            <a:ext cx="25527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 fontScale="88525" lnSpcReduction="20000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virtual page → frame / swapped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DDAE981-420F-46A4-841E-EFE5550083AB}"/>
              </a:ext>
            </a:extLst>
          </p:cNvPr>
          <p:cNvSpPr>
            <a:spLocks noGrp="1"/>
          </p:cNvSpPr>
          <p:nvPr/>
        </p:nvSpPr>
        <p:spPr>
          <a:xfrm>
            <a:off x="8334375" y="5476875"/>
            <a:ext cx="31432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BC18DD-5035-446E-BE34-794F12B76B4F}"/>
              </a:ext>
            </a:extLst>
          </p:cNvPr>
          <p:cNvSpPr>
            <a:spLocks noGrp="1"/>
          </p:cNvSpPr>
          <p:nvPr/>
        </p:nvSpPr>
        <p:spPr>
          <a:xfrm>
            <a:off x="8334375" y="5476875"/>
            <a:ext cx="76200" cy="666750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A94215-62FE-4DB7-8F07-BA70091FE231}"/>
              </a:ext>
            </a:extLst>
          </p:cNvPr>
          <p:cNvSpPr>
            <a:spLocks noGrp="1"/>
          </p:cNvSpPr>
          <p:nvPr/>
        </p:nvSpPr>
        <p:spPr>
          <a:xfrm>
            <a:off x="8524875" y="5591175"/>
            <a:ext cx="28384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PHYSICAL I/O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01C302-FC16-480D-ADC4-DECA4901C742}"/>
              </a:ext>
            </a:extLst>
          </p:cNvPr>
          <p:cNvSpPr>
            <a:spLocks noGrp="1"/>
          </p:cNvSpPr>
          <p:nvPr/>
        </p:nvSpPr>
        <p:spPr>
          <a:xfrm>
            <a:off x="8524875" y="5895975"/>
            <a:ext cx="283845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 fontScale="63055" lnSpcReduction="10000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phải qua syscall để kiểm tra ownership</a:t>
            </a:r>
          </a:p>
        </p:txBody>
      </p:sp>
    </p:spTree>
    <p:extLst>
      <p:ext uri="{BB962C8B-B14F-4D97-AF65-F5344CB8AC3E}">
        <p14:creationId xmlns:p14="http://schemas.microsoft.com/office/powerpoint/2010/main" val="266431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941C277-CA61-45B8-AF95-D9180A6EB9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31B485-9367-407F-9EEF-9B01DDBC3C79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OS_MEM_REUSE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50B2BA-7625-4079-A441-C78E884FE431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FREE tái sử dụng logical region trước khi tăng sbrk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BD486-1B73-4963-8087-5F37D4944645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E654AD-D8B0-41C2-BD6D-6E18F4D68E8D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5E0FB0-3509-40B5-AA57-8E7A83D01B9F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Bảo · Memory   ·   12:00   ·   13/21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2771CE-77FF-44AD-B8FA-FEDC200CBDB4}"/>
              </a:ext>
            </a:extLst>
          </p:cNvPr>
          <p:cNvSpPr>
            <a:spLocks noGrp="1"/>
          </p:cNvSpPr>
          <p:nvPr/>
        </p:nvSpPr>
        <p:spPr>
          <a:xfrm>
            <a:off x="428625" y="1619250"/>
            <a:ext cx="2857500" cy="1809750"/>
          </a:xfrm>
          <a:prstGeom prst="roundRect">
            <a:avLst>
              <a:gd name="adj" fmla="val 4211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6E3B25-893F-491D-8722-433E1938BB3C}"/>
              </a:ext>
            </a:extLst>
          </p:cNvPr>
          <p:cNvSpPr>
            <a:spLocks noGrp="1"/>
          </p:cNvSpPr>
          <p:nvPr/>
        </p:nvSpPr>
        <p:spPr>
          <a:xfrm>
            <a:off x="428625" y="1619250"/>
            <a:ext cx="285750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9464DD-B7E7-4D95-A2E8-6DE821BCBDD0}"/>
              </a:ext>
            </a:extLst>
          </p:cNvPr>
          <p:cNvSpPr>
            <a:spLocks noGrp="1"/>
          </p:cNvSpPr>
          <p:nvPr/>
        </p:nvSpPr>
        <p:spPr>
          <a:xfrm>
            <a:off x="542925" y="1695450"/>
            <a:ext cx="2628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/ proc/memreuse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FB6572-C24A-42C7-98BA-C580A25A6B9F}"/>
              </a:ext>
            </a:extLst>
          </p:cNvPr>
          <p:cNvSpPr>
            <a:spLocks noGrp="1"/>
          </p:cNvSpPr>
          <p:nvPr/>
        </p:nvSpPr>
        <p:spPr>
          <a:xfrm>
            <a:off x="542925" y="1981200"/>
            <a:ext cx="2628900" cy="13525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alloc 100 1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free 1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alloc 50 2</a:t>
            </a:r>
          </a:p>
          <a:p>
            <a:pPr algn="l">
              <a:def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read 2 49 3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67125" y="1630422"/>
            <a:ext cx="7858125" cy="126353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5BA1E25-3380-4B14-A968-7E4ADC138198}"/>
              </a:ext>
            </a:extLst>
          </p:cNvPr>
          <p:cNvSpPr>
            <a:spLocks noGrp="1"/>
          </p:cNvSpPr>
          <p:nvPr/>
        </p:nvSpPr>
        <p:spPr>
          <a:xfrm>
            <a:off x="3857625" y="3476625"/>
            <a:ext cx="6191250" cy="514350"/>
          </a:xfrm>
          <a:prstGeom prst="rect">
            <a:avLst/>
          </a:prstGeom>
          <a:solidFill>
            <a:srgbClr val="E5EFF4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5524F6-15E4-4E6D-8881-52359876E0C5}"/>
              </a:ext>
            </a:extLst>
          </p:cNvPr>
          <p:cNvSpPr>
            <a:spLocks noGrp="1"/>
          </p:cNvSpPr>
          <p:nvPr/>
        </p:nvSpPr>
        <p:spPr>
          <a:xfrm>
            <a:off x="3857625" y="3476625"/>
            <a:ext cx="6191250" cy="514350"/>
          </a:xfrm>
          <a:prstGeom prst="rect">
            <a:avLst/>
          </a:prstGeom>
          <a:solidFill>
            <a:srgbClr val="E5EFF4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region 1: [0,100)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36D5BD-EC40-47E1-9205-B8B5DFC11A9F}"/>
              </a:ext>
            </a:extLst>
          </p:cNvPr>
          <p:cNvSpPr>
            <a:spLocks noGrp="1"/>
          </p:cNvSpPr>
          <p:nvPr/>
        </p:nvSpPr>
        <p:spPr>
          <a:xfrm>
            <a:off x="3857625" y="4333875"/>
            <a:ext cx="3095625" cy="514350"/>
          </a:xfrm>
          <a:prstGeom prst="rect">
            <a:avLst/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383CBD-663F-4C55-9CF7-3547F7AEC438}"/>
              </a:ext>
            </a:extLst>
          </p:cNvPr>
          <p:cNvSpPr>
            <a:spLocks noGrp="1"/>
          </p:cNvSpPr>
          <p:nvPr/>
        </p:nvSpPr>
        <p:spPr>
          <a:xfrm>
            <a:off x="3857625" y="4333875"/>
            <a:ext cx="3095625" cy="514350"/>
          </a:xfrm>
          <a:prstGeom prst="rect">
            <a:avLst/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region 2: [0,50)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7800DE-8435-4A2B-A3E5-0DCE4C73EDF7}"/>
              </a:ext>
            </a:extLst>
          </p:cNvPr>
          <p:cNvSpPr>
            <a:spLocks noGrp="1"/>
          </p:cNvSpPr>
          <p:nvPr/>
        </p:nvSpPr>
        <p:spPr>
          <a:xfrm>
            <a:off x="6953250" y="4333875"/>
            <a:ext cx="3095625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70ABC5-AE49-4D21-94F2-07D5F424DED2}"/>
              </a:ext>
            </a:extLst>
          </p:cNvPr>
          <p:cNvSpPr>
            <a:spLocks noGrp="1"/>
          </p:cNvSpPr>
          <p:nvPr/>
        </p:nvSpPr>
        <p:spPr>
          <a:xfrm>
            <a:off x="6953250" y="4333875"/>
            <a:ext cx="3095625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free còn lại: [50,100)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07BA506-CBB8-4F0F-8351-D1B5C1D9706C}"/>
              </a:ext>
            </a:extLst>
          </p:cNvPr>
          <p:cNvSpPr>
            <a:spLocks noGrp="1"/>
          </p:cNvSpPr>
          <p:nvPr/>
        </p:nvSpPr>
        <p:spPr>
          <a:xfrm>
            <a:off x="428625" y="3905250"/>
            <a:ext cx="2857500" cy="1000125"/>
          </a:xfrm>
          <a:prstGeom prst="roundRect">
            <a:avLst>
              <a:gd name="adj" fmla="val 7619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64087D-67A6-422A-B462-D2A1D5A98FD7}"/>
              </a:ext>
            </a:extLst>
          </p:cNvPr>
          <p:cNvSpPr>
            <a:spLocks noGrp="1"/>
          </p:cNvSpPr>
          <p:nvPr/>
        </p:nvSpPr>
        <p:spPr>
          <a:xfrm>
            <a:off x="428625" y="3905250"/>
            <a:ext cx="285750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8C2433-4DD8-4FE8-BA22-A9399AE49BB2}"/>
              </a:ext>
            </a:extLst>
          </p:cNvPr>
          <p:cNvSpPr>
            <a:spLocks noGrp="1"/>
          </p:cNvSpPr>
          <p:nvPr/>
        </p:nvSpPr>
        <p:spPr>
          <a:xfrm>
            <a:off x="542925" y="3981450"/>
            <a:ext cx="2628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12C177-F219-4CB2-B93B-4BC07EF2D854}"/>
              </a:ext>
            </a:extLst>
          </p:cNvPr>
          <p:cNvSpPr>
            <a:spLocks noGrp="1"/>
          </p:cNvSpPr>
          <p:nvPr/>
        </p:nvSpPr>
        <p:spPr>
          <a:xfrm>
            <a:off x="542925" y="4267200"/>
            <a:ext cx="2628900" cy="54292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os_mem_reuse | grep -E</a:t>
            </a:r>
          </a:p>
          <a:p>
            <a:pPr algn="l">
              <a:def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"MEM alloc|MEM free|MEM read"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C3FC21-5779-4601-ABEE-6D4990FE1664}"/>
              </a:ext>
            </a:extLst>
          </p:cNvPr>
          <p:cNvSpPr>
            <a:spLocks noGrp="1"/>
          </p:cNvSpPr>
          <p:nvPr/>
        </p:nvSpPr>
        <p:spPr>
          <a:xfrm>
            <a:off x="3810000" y="5334000"/>
            <a:ext cx="6286500" cy="457200"/>
          </a:xfrm>
          <a:prstGeom prst="rect">
            <a:avLst/>
          </a:prstGeom>
          <a:solidFill>
            <a:srgbClr val="F8E8D8"/>
          </a:solidFill>
          <a:ln w="9525">
            <a:solidFill>
              <a:srgbClr val="F8E8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Offset 49 hợp lệ; offset 50 phải bị từ chối.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1A125DB-CE1C-426A-8409-EE6595FFDD6B}"/>
              </a:ext>
            </a:extLst>
          </p:cNvPr>
          <p:cNvSpPr>
            <a:spLocks noGrp="1"/>
          </p:cNvSpPr>
          <p:nvPr/>
        </p:nvSpPr>
        <p:spPr>
          <a:xfrm>
            <a:off x="10191750" y="3476625"/>
            <a:ext cx="1428750" cy="1381125"/>
          </a:xfrm>
          <a:prstGeom prst="rect">
            <a:avLst/>
          </a:prstGeom>
          <a:solidFill>
            <a:srgbClr val="F5E4E4"/>
          </a:solidFill>
          <a:ln w="9525">
            <a:solidFill>
              <a:srgbClr val="F5E4E4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275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Không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kết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luận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frame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vật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lý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đã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được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trả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 err="1">
                <a:solidFill>
                  <a:srgbClr val="C94C4C"/>
                </a:solidFill>
                <a:latin typeface="Arial"/>
                <a:ea typeface="Arial"/>
                <a:cs typeface="Arial"/>
              </a:rPr>
              <a:t>ngay</a:t>
            </a:r>
            <a:r>
              <a:rPr sz="1275" b="1" dirty="0">
                <a:solidFill>
                  <a:srgbClr val="C94C4C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482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00FB2AB-E289-4A1A-A74E-442C5A3F86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47D431-1D4E-4E74-92AE-42D5450F11D9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ROUNDTRIP_SPEC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2D1AAC-29BC-4816-BC3A-4BB85C3B0AF7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Cú pháp đặc tả bảo toàn byte 65 qua user → kernel → 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A1E01A-9E9B-4AF4-A33E-8701A2167EFD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9A300B-8788-4DA3-AD74-F88F56669C88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1952B6-49CA-44E2-BFF4-665070964EAD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Bảo · Copy   ·   13:30   ·   14/21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EC2911E-51D6-427F-888D-5ED22ED6981A}"/>
              </a:ext>
            </a:extLst>
          </p:cNvPr>
          <p:cNvSpPr>
            <a:spLocks noGrp="1"/>
          </p:cNvSpPr>
          <p:nvPr/>
        </p:nvSpPr>
        <p:spPr>
          <a:xfrm>
            <a:off x="381000" y="1571625"/>
            <a:ext cx="3333750" cy="2428875"/>
          </a:xfrm>
          <a:prstGeom prst="roundRect">
            <a:avLst>
              <a:gd name="adj" fmla="val 3137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6611D8-05D0-4094-8615-6AE1510B288F}"/>
              </a:ext>
            </a:extLst>
          </p:cNvPr>
          <p:cNvSpPr>
            <a:spLocks noGrp="1"/>
          </p:cNvSpPr>
          <p:nvPr/>
        </p:nvSpPr>
        <p:spPr>
          <a:xfrm>
            <a:off x="381000" y="1571625"/>
            <a:ext cx="333375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E2C580-0F24-485E-805E-0A31158D522B}"/>
              </a:ext>
            </a:extLst>
          </p:cNvPr>
          <p:cNvSpPr>
            <a:spLocks noGrp="1"/>
          </p:cNvSpPr>
          <p:nvPr/>
        </p:nvSpPr>
        <p:spPr>
          <a:xfrm>
            <a:off x="495300" y="1647825"/>
            <a:ext cx="31051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/ proc/memroundtrip_spec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5261C9-2A54-4E1A-BB36-10ABF3B6E7AB}"/>
              </a:ext>
            </a:extLst>
          </p:cNvPr>
          <p:cNvSpPr>
            <a:spLocks noGrp="1"/>
          </p:cNvSpPr>
          <p:nvPr/>
        </p:nvSpPr>
        <p:spPr>
          <a:xfrm>
            <a:off x="495300" y="1933575"/>
            <a:ext cx="3105150" cy="197167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alloc 16 1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write 65 1 0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copy_from_user 1 2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alloc 16 3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copy_to_user 2 3 0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read 3 0 4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EDC7E94-213C-418F-8B29-C8BB9917E273}"/>
              </a:ext>
            </a:extLst>
          </p:cNvPr>
          <p:cNvSpPr>
            <a:spLocks noGrp="1"/>
          </p:cNvSpPr>
          <p:nvPr/>
        </p:nvSpPr>
        <p:spPr>
          <a:xfrm>
            <a:off x="4286250" y="2000250"/>
            <a:ext cx="190500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USER REGION 1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byte 65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10D783-71A5-491B-A0CF-2C4841343B80}"/>
              </a:ext>
            </a:extLst>
          </p:cNvPr>
          <p:cNvSpPr>
            <a:spLocks noGrp="1"/>
          </p:cNvSpPr>
          <p:nvPr/>
        </p:nvSpPr>
        <p:spPr>
          <a:xfrm>
            <a:off x="6810375" y="2000250"/>
            <a:ext cx="2000250" cy="762000"/>
          </a:xfrm>
          <a:prstGeom prst="roundRect">
            <a:avLst>
              <a:gd name="adj" fmla="val 10000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KERNEL REGION 2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byte 65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A9B5F6E-8C2B-4158-9809-8AF92E6DEBFE}"/>
              </a:ext>
            </a:extLst>
          </p:cNvPr>
          <p:cNvSpPr>
            <a:spLocks noGrp="1"/>
          </p:cNvSpPr>
          <p:nvPr/>
        </p:nvSpPr>
        <p:spPr>
          <a:xfrm>
            <a:off x="9429750" y="2000250"/>
            <a:ext cx="20002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USER REGION 3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read = 65</a:t>
            </a:r>
          </a:p>
        </p:txBody>
      </p:sp>
      <p:cxnSp>
        <p:nvCxnSpPr>
          <p:cNvPr id="14" name="Straight Arrow Connector 13"/>
          <p:cNvCxnSpPr>
            <a:stCxn id="11" idx="3"/>
            <a:endCxn id="12" idx="1"/>
          </p:cNvCxnSpPr>
          <p:nvPr/>
        </p:nvCxnSpPr>
        <p:spPr>
          <a:xfrm>
            <a:off x="6191250" y="2381250"/>
            <a:ext cx="619125" cy="0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cxnSp>
        <p:nvCxnSpPr>
          <p:cNvPr id="15" name="Straight Arrow Connector 14"/>
          <p:cNvCxnSpPr>
            <a:stCxn id="12" idx="3"/>
            <a:endCxn id="13" idx="1"/>
          </p:cNvCxnSpPr>
          <p:nvPr/>
        </p:nvCxnSpPr>
        <p:spPr>
          <a:xfrm>
            <a:off x="8810625" y="2381250"/>
            <a:ext cx="619125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5ECB0FD4-F599-412A-9CAD-1977D421237C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1524000" cy="285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 fontScale="83333" lnSpcReduction="10000"/>
          </a:bodyPr>
          <a:lstStyle/>
          <a:p>
            <a:pPr algn="ctr">
              <a:defRPr sz="10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copy_from_user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4BF34D-C99F-49CA-978A-629297445F67}"/>
              </a:ext>
            </a:extLst>
          </p:cNvPr>
          <p:cNvSpPr>
            <a:spLocks noGrp="1"/>
          </p:cNvSpPr>
          <p:nvPr/>
        </p:nvSpPr>
        <p:spPr>
          <a:xfrm>
            <a:off x="8810625" y="1619250"/>
            <a:ext cx="1428750" cy="285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 fontScale="83333" lnSpcReduction="10000"/>
          </a:bodyPr>
          <a:lstStyle/>
          <a:p>
            <a:pPr algn="ctr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copy_to_user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86250" y="3381375"/>
            <a:ext cx="7143750" cy="952500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3B5727E-1B51-4033-89BD-C25774189B3D}"/>
              </a:ext>
            </a:extLst>
          </p:cNvPr>
          <p:cNvSpPr>
            <a:spLocks noGrp="1"/>
          </p:cNvSpPr>
          <p:nvPr/>
        </p:nvSpPr>
        <p:spPr>
          <a:xfrm>
            <a:off x="381000" y="4429125"/>
            <a:ext cx="3333750" cy="952500"/>
          </a:xfrm>
          <a:prstGeom prst="roundRect">
            <a:avLst>
              <a:gd name="adj" fmla="val 8000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7BC8CB-2459-48AC-945F-65F9414B337E}"/>
              </a:ext>
            </a:extLst>
          </p:cNvPr>
          <p:cNvSpPr>
            <a:spLocks noGrp="1"/>
          </p:cNvSpPr>
          <p:nvPr/>
        </p:nvSpPr>
        <p:spPr>
          <a:xfrm>
            <a:off x="381000" y="4429125"/>
            <a:ext cx="333375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747E97-C632-4542-B374-422C5237B492}"/>
              </a:ext>
            </a:extLst>
          </p:cNvPr>
          <p:cNvSpPr>
            <a:spLocks noGrp="1"/>
          </p:cNvSpPr>
          <p:nvPr/>
        </p:nvSpPr>
        <p:spPr>
          <a:xfrm>
            <a:off x="495300" y="4505325"/>
            <a:ext cx="31051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D41D82-E54B-4E62-8A42-7CBAC9009E9C}"/>
              </a:ext>
            </a:extLst>
          </p:cNvPr>
          <p:cNvSpPr>
            <a:spLocks noGrp="1"/>
          </p:cNvSpPr>
          <p:nvPr/>
        </p:nvSpPr>
        <p:spPr>
          <a:xfrm>
            <a:off x="495300" y="4791075"/>
            <a:ext cx="3105150" cy="4953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os_mem_roundtrip_spec | grep -E "MEM alloc|MEM read"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56E6F08-C446-4C1B-BD24-61CD1ADDA7C6}"/>
              </a:ext>
            </a:extLst>
          </p:cNvPr>
          <p:cNvSpPr>
            <a:spLocks noGrp="1"/>
          </p:cNvSpPr>
          <p:nvPr/>
        </p:nvSpPr>
        <p:spPr>
          <a:xfrm>
            <a:off x="4286250" y="4762500"/>
            <a:ext cx="71437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0303B-F3DE-43EE-B064-E8C86836DAFA}"/>
              </a:ext>
            </a:extLst>
          </p:cNvPr>
          <p:cNvSpPr>
            <a:spLocks noGrp="1"/>
          </p:cNvSpPr>
          <p:nvPr/>
        </p:nvSpPr>
        <p:spPr>
          <a:xfrm>
            <a:off x="4286250" y="4762500"/>
            <a:ext cx="76200" cy="9525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D52087-D3B9-483A-B6C7-3265F43CE2C8}"/>
              </a:ext>
            </a:extLst>
          </p:cNvPr>
          <p:cNvSpPr>
            <a:spLocks noGrp="1"/>
          </p:cNvSpPr>
          <p:nvPr/>
        </p:nvSpPr>
        <p:spPr>
          <a:xfrm>
            <a:off x="4476750" y="4876800"/>
            <a:ext cx="68389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PROOF CHAIN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2DCB5B4-1800-41CE-A898-5AF46E2B055B}"/>
              </a:ext>
            </a:extLst>
          </p:cNvPr>
          <p:cNvSpPr>
            <a:spLocks noGrp="1"/>
          </p:cNvSpPr>
          <p:nvPr/>
        </p:nvSpPr>
        <p:spPr>
          <a:xfrm>
            <a:off x="4476750" y="5181600"/>
            <a:ext cx="68389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 fontScale="97425"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Parser mặc định size = 1 → syscall 17 → copy helpers → address translation → read lại 65.</a:t>
            </a:r>
          </a:p>
        </p:txBody>
      </p:sp>
    </p:spTree>
    <p:extLst>
      <p:ext uri="{BB962C8B-B14F-4D97-AF65-F5344CB8AC3E}">
        <p14:creationId xmlns:p14="http://schemas.microsoft.com/office/powerpoint/2010/main" val="1363675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98757B-8DAF-4045-83F3-A801BF3936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71D37F-1CFA-4EC6-B717-FD64BCFD74F4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AN · TRƯỚC KHI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1DA7DA-BA23-4BF1-8038-FFC80871EF45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 fontScale="89826" lnSpcReduction="20000"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Kiến thức nền: syscall là điểm chuyển từ yêu cầu không tin cậy sang thao tác kernel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5DE591-005E-4065-9112-F6EEFE891416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293CF7-818F-4EF1-AD74-6FDBE95EB8D8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748884-4799-47E4-BAAB-399971ADA5D9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An · Kiến thức nền   ·   15:00   ·   15/21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7C0DE36-EA46-460D-9FF8-6113BC713F0A}"/>
              </a:ext>
            </a:extLst>
          </p:cNvPr>
          <p:cNvSpPr>
            <a:spLocks noGrp="1"/>
          </p:cNvSpPr>
          <p:nvPr/>
        </p:nvSpPr>
        <p:spPr>
          <a:xfrm>
            <a:off x="714375" y="2000250"/>
            <a:ext cx="247650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USER REQUEST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number + scalar args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2B1557A-8DD4-4AFC-A8BF-41D6EFC09A65}"/>
              </a:ext>
            </a:extLst>
          </p:cNvPr>
          <p:cNvSpPr>
            <a:spLocks noGrp="1"/>
          </p:cNvSpPr>
          <p:nvPr/>
        </p:nvSpPr>
        <p:spPr>
          <a:xfrm>
            <a:off x="4857750" y="2000250"/>
            <a:ext cx="2571750" cy="857250"/>
          </a:xfrm>
          <a:prstGeom prst="roundRect">
            <a:avLst>
              <a:gd name="adj" fmla="val 8889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KERNEL VALIDATE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caller · range · ownership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0AC75F0-8040-42B5-ACCF-E50BEDC4C7AF}"/>
              </a:ext>
            </a:extLst>
          </p:cNvPr>
          <p:cNvSpPr>
            <a:spLocks noGrp="1"/>
          </p:cNvSpPr>
          <p:nvPr/>
        </p:nvSpPr>
        <p:spPr>
          <a:xfrm>
            <a:off x="9096375" y="2000250"/>
            <a:ext cx="2381250" cy="857250"/>
          </a:xfrm>
          <a:prstGeom prst="roundRect">
            <a:avLst>
              <a:gd name="adj" fmla="val 8889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PRIVILEGED OP</a:t>
            </a:r>
          </a:p>
          <a:p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read / write / map</a:t>
            </a:r>
          </a:p>
        </p:txBody>
      </p:sp>
      <p:cxnSp>
        <p:nvCxnSpPr>
          <p:cNvPr id="10" name="Straight Arrow Connector 9"/>
          <p:cNvCxnSpPr>
            <a:stCxn id="7" idx="3"/>
            <a:endCxn id="8" idx="1"/>
          </p:cNvCxnSpPr>
          <p:nvPr/>
        </p:nvCxnSpPr>
        <p:spPr>
          <a:xfrm>
            <a:off x="3190875" y="2428875"/>
            <a:ext cx="1666875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1" name="Straight Arrow Connector 10"/>
          <p:cNvCxnSpPr>
            <a:stCxn id="8" idx="3"/>
            <a:endCxn id="9" idx="1"/>
          </p:cNvCxnSpPr>
          <p:nvPr/>
        </p:nvCxnSpPr>
        <p:spPr>
          <a:xfrm>
            <a:off x="7429500" y="2428875"/>
            <a:ext cx="1666875" cy="0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F7C70FB-63F4-4C39-A533-FF745CF96773}"/>
              </a:ext>
            </a:extLst>
          </p:cNvPr>
          <p:cNvSpPr>
            <a:spLocks noGrp="1"/>
          </p:cNvSpPr>
          <p:nvPr/>
        </p:nvSpPr>
        <p:spPr>
          <a:xfrm>
            <a:off x="952500" y="3810000"/>
            <a:ext cx="314325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B0BE0C-818E-4C08-B736-4C7BB8151A72}"/>
              </a:ext>
            </a:extLst>
          </p:cNvPr>
          <p:cNvSpPr>
            <a:spLocks noGrp="1"/>
          </p:cNvSpPr>
          <p:nvPr/>
        </p:nvSpPr>
        <p:spPr>
          <a:xfrm>
            <a:off x="952500" y="3810000"/>
            <a:ext cx="76200" cy="11430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AEED8D-32BA-4AA9-A60E-1A9C323BFF70}"/>
              </a:ext>
            </a:extLst>
          </p:cNvPr>
          <p:cNvSpPr>
            <a:spLocks noGrp="1"/>
          </p:cNvSpPr>
          <p:nvPr/>
        </p:nvSpPr>
        <p:spPr>
          <a:xfrm>
            <a:off x="1143000" y="3924300"/>
            <a:ext cx="28384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TRANSLATION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48C5B-0306-43DB-ACCC-FFD2F64D9F5A}"/>
              </a:ext>
            </a:extLst>
          </p:cNvPr>
          <p:cNvSpPr>
            <a:spLocks noGrp="1"/>
          </p:cNvSpPr>
          <p:nvPr/>
        </p:nvSpPr>
        <p:spPr>
          <a:xfrm>
            <a:off x="1143000" y="4229100"/>
            <a:ext cx="28384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Địa chỉ này ánh xạ tới frame nào?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975FBD-8F1C-4F12-8BF0-A62EC831D377}"/>
              </a:ext>
            </a:extLst>
          </p:cNvPr>
          <p:cNvSpPr>
            <a:spLocks noGrp="1"/>
          </p:cNvSpPr>
          <p:nvPr/>
        </p:nvSpPr>
        <p:spPr>
          <a:xfrm>
            <a:off x="4524375" y="3810000"/>
            <a:ext cx="314325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B70F62-E0EE-4B43-ADF5-9928646D3586}"/>
              </a:ext>
            </a:extLst>
          </p:cNvPr>
          <p:cNvSpPr>
            <a:spLocks noGrp="1"/>
          </p:cNvSpPr>
          <p:nvPr/>
        </p:nvSpPr>
        <p:spPr>
          <a:xfrm>
            <a:off x="4524375" y="3810000"/>
            <a:ext cx="76200" cy="1143000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8D7DBA-16CF-4314-AE04-8CDB941D0B4F}"/>
              </a:ext>
            </a:extLst>
          </p:cNvPr>
          <p:cNvSpPr>
            <a:spLocks noGrp="1"/>
          </p:cNvSpPr>
          <p:nvPr/>
        </p:nvSpPr>
        <p:spPr>
          <a:xfrm>
            <a:off x="4714875" y="3924300"/>
            <a:ext cx="28384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AUTHORIZATION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34FFBC-E511-4977-B507-29FCD94D7C5E}"/>
              </a:ext>
            </a:extLst>
          </p:cNvPr>
          <p:cNvSpPr>
            <a:spLocks noGrp="1"/>
          </p:cNvSpPr>
          <p:nvPr/>
        </p:nvSpPr>
        <p:spPr>
          <a:xfrm>
            <a:off x="4714875" y="4229100"/>
            <a:ext cx="28384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Caller hiện tại có sở hữu frame đó không?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FCC1986-918A-4273-8AAF-84753A8F1702}"/>
              </a:ext>
            </a:extLst>
          </p:cNvPr>
          <p:cNvSpPr>
            <a:spLocks noGrp="1"/>
          </p:cNvSpPr>
          <p:nvPr/>
        </p:nvSpPr>
        <p:spPr>
          <a:xfrm>
            <a:off x="8096250" y="3810000"/>
            <a:ext cx="314325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975E85-FD2C-4662-86F2-B074D646E6F8}"/>
              </a:ext>
            </a:extLst>
          </p:cNvPr>
          <p:cNvSpPr>
            <a:spLocks noGrp="1"/>
          </p:cNvSpPr>
          <p:nvPr/>
        </p:nvSpPr>
        <p:spPr>
          <a:xfrm>
            <a:off x="8096250" y="3810000"/>
            <a:ext cx="76200" cy="11430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C307B8-5D9D-4F19-AC63-32751386F687}"/>
              </a:ext>
            </a:extLst>
          </p:cNvPr>
          <p:cNvSpPr>
            <a:spLocks noGrp="1"/>
          </p:cNvSpPr>
          <p:nvPr/>
        </p:nvSpPr>
        <p:spPr>
          <a:xfrm>
            <a:off x="8286750" y="3924300"/>
            <a:ext cx="283845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9DC389-6BB5-4039-9871-524DEB00B121}"/>
              </a:ext>
            </a:extLst>
          </p:cNvPr>
          <p:cNvSpPr>
            <a:spLocks noGrp="1"/>
          </p:cNvSpPr>
          <p:nvPr/>
        </p:nvSpPr>
        <p:spPr>
          <a:xfrm>
            <a:off x="8286750" y="4229100"/>
            <a:ext cx="28384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Biết địa chỉ vật lý không đồng nghĩa có quyền truy cập.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25884D-22F7-49AF-A8E8-F43EC03A4CFC}"/>
              </a:ext>
            </a:extLst>
          </p:cNvPr>
          <p:cNvSpPr>
            <a:spLocks noGrp="1"/>
          </p:cNvSpPr>
          <p:nvPr/>
        </p:nvSpPr>
        <p:spPr>
          <a:xfrm>
            <a:off x="1714500" y="5524500"/>
            <a:ext cx="8763000" cy="43815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Demo sắp tới cố tình cho PID 2 biết địa chỉ frame của PID 1 rồi yêu cầu kernel từ chối.</a:t>
            </a:r>
          </a:p>
        </p:txBody>
      </p:sp>
    </p:spTree>
    <p:extLst>
      <p:ext uri="{BB962C8B-B14F-4D97-AF65-F5344CB8AC3E}">
        <p14:creationId xmlns:p14="http://schemas.microsoft.com/office/powerpoint/2010/main" val="1173200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47F7A5-E42E-4AD4-855D-0A2C4BF133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BFC9E6-93C7-47BF-9EFA-4CAABC9AAE7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QUỐC AN · SYSCALL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A5C869-9B16-4EAF-B564-734D143F622D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Syscall 17 là trust boundary — không chỉ là dispatcher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19303D-D4D2-4AFA-B6A7-FE7F91727B3D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2F8CF4-6E59-45C7-B0A1-27438012E32E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3F00B1-1EC8-4C1B-A080-5E0D2CF495AB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An · Syscall   ·   15:45   ·   16/21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4C2C2F-37D2-4E83-8F3E-E35814DC03BA}"/>
              </a:ext>
            </a:extLst>
          </p:cNvPr>
          <p:cNvSpPr>
            <a:spLocks noGrp="1"/>
          </p:cNvSpPr>
          <p:nvPr/>
        </p:nvSpPr>
        <p:spPr>
          <a:xfrm>
            <a:off x="523875" y="2190750"/>
            <a:ext cx="21907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USER WRAPPER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+ scalar registers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F345490-1E2B-4AD1-82E1-DB360F8B013D}"/>
              </a:ext>
            </a:extLst>
          </p:cNvPr>
          <p:cNvSpPr>
            <a:spLocks noGrp="1"/>
          </p:cNvSpPr>
          <p:nvPr/>
        </p:nvSpPr>
        <p:spPr>
          <a:xfrm>
            <a:off x="3429000" y="2190750"/>
            <a:ext cx="2190750" cy="857250"/>
          </a:xfrm>
          <a:prstGeom prst="roundRect">
            <a:avLst>
              <a:gd name="adj" fmla="val 8889"/>
            </a:avLst>
          </a:prstGeom>
          <a:solidFill>
            <a:srgbClr val="E5EFF4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_syscall()</a:t>
            </a:r>
          </a:p>
          <a:p>
            <a:pPr algn="ctr">
              <a:def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dispatch theo number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EE507C-CB53-41F6-B534-F870A103A8A1}"/>
              </a:ext>
            </a:extLst>
          </p:cNvPr>
          <p:cNvSpPr>
            <a:spLocks noGrp="1"/>
          </p:cNvSpPr>
          <p:nvPr/>
        </p:nvSpPr>
        <p:spPr>
          <a:xfrm>
            <a:off x="6334125" y="2190750"/>
            <a:ext cx="2190750" cy="857250"/>
          </a:xfrm>
          <a:prstGeom prst="roundRect">
            <a:avLst>
              <a:gd name="adj" fmla="val 8889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find_proc_by_pid()</a:t>
            </a:r>
          </a:p>
          <a:p>
            <a:pPr algn="ctr">
              <a:def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kernel registry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CEE3B2A-43FE-4B7D-84E2-7437C307C614}"/>
              </a:ext>
            </a:extLst>
          </p:cNvPr>
          <p:cNvSpPr>
            <a:spLocks noGrp="1"/>
          </p:cNvSpPr>
          <p:nvPr/>
        </p:nvSpPr>
        <p:spPr>
          <a:xfrm>
            <a:off x="9239250" y="2190750"/>
            <a:ext cx="2190750" cy="857250"/>
          </a:xfrm>
          <a:prstGeom prst="roundRect">
            <a:avLst>
              <a:gd name="adj" fmla="val 8889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HANDLER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validate + operation</a:t>
            </a:r>
          </a:p>
        </p:txBody>
      </p:sp>
      <p:cxnSp>
        <p:nvCxnSpPr>
          <p:cNvPr id="11" name="Straight Arrow Connector 10"/>
          <p:cNvCxnSpPr>
            <a:stCxn id="7" idx="3"/>
            <a:endCxn id="8" idx="1"/>
          </p:cNvCxnSpPr>
          <p:nvPr/>
        </p:nvCxnSpPr>
        <p:spPr>
          <a:xfrm>
            <a:off x="2714625" y="2619375"/>
            <a:ext cx="714375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2" name="Straight Arrow Connector 11"/>
          <p:cNvCxnSpPr>
            <a:stCxn id="8" idx="3"/>
            <a:endCxn id="9" idx="1"/>
          </p:cNvCxnSpPr>
          <p:nvPr/>
        </p:nvCxnSpPr>
        <p:spPr>
          <a:xfrm>
            <a:off x="5619750" y="2619375"/>
            <a:ext cx="714375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3" name="Straight Arrow Connector 12"/>
          <p:cNvCxnSpPr>
            <a:stCxn id="9" idx="3"/>
            <a:endCxn id="10" idx="1"/>
          </p:cNvCxnSpPr>
          <p:nvPr/>
        </p:nvCxnSpPr>
        <p:spPr>
          <a:xfrm>
            <a:off x="8524875" y="2619375"/>
            <a:ext cx="714375" cy="0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8E1C3C-215E-4A16-AC2B-9052CEEE47A4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4762500" cy="1381125"/>
          </a:xfrm>
          <a:prstGeom prst="roundRect">
            <a:avLst>
              <a:gd name="adj" fmla="val 5517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99B884-7177-403D-A453-C3C5FD2BF77B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476250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749135-2917-40EC-9C57-E7A59745320F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533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SYSCALL TABLE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7C8D9-5EEE-4055-B972-A49A162C3C3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4533900" cy="92392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0   listsyscall   sys_listsyscall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17  memmap       sys_memmap</a:t>
            </a:r>
          </a:p>
          <a:p>
            <a:pPr algn="l">
              <a:def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440 xxx          sys_xxxhandler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6A4D7EF-BE47-4374-BF0A-92494CFE344C}"/>
              </a:ext>
            </a:extLst>
          </p:cNvPr>
          <p:cNvSpPr>
            <a:spLocks noGrp="1"/>
          </p:cNvSpPr>
          <p:nvPr/>
        </p:nvSpPr>
        <p:spPr>
          <a:xfrm>
            <a:off x="5905500" y="3810000"/>
            <a:ext cx="55245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1670EF-65EA-44CC-A3AC-B600DCF95CCF}"/>
              </a:ext>
            </a:extLst>
          </p:cNvPr>
          <p:cNvSpPr>
            <a:spLocks noGrp="1"/>
          </p:cNvSpPr>
          <p:nvPr/>
        </p:nvSpPr>
        <p:spPr>
          <a:xfrm>
            <a:off x="5905500" y="3810000"/>
            <a:ext cx="76200" cy="1381125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1BDB04-366D-4966-ADD5-0A7327FA4AD3}"/>
              </a:ext>
            </a:extLst>
          </p:cNvPr>
          <p:cNvSpPr>
            <a:spLocks noGrp="1"/>
          </p:cNvSpPr>
          <p:nvPr/>
        </p:nvSpPr>
        <p:spPr>
          <a:xfrm>
            <a:off x="6096000" y="3924300"/>
            <a:ext cx="5219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WHY PID LOOKUP?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B3E466-AC6F-4168-9503-9ACE9B378C16}"/>
              </a:ext>
            </a:extLst>
          </p:cNvPr>
          <p:cNvSpPr>
            <a:spLocks noGrp="1"/>
          </p:cNvSpPr>
          <p:nvPr/>
        </p:nvSpPr>
        <p:spPr>
          <a:xfrm>
            <a:off x="6096000" y="4229100"/>
            <a:ext cx="52197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Kernel không nhận pcb_t* tùy ý từ user; handler lấy PCB thật từ registry.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DA80F4-2CDE-4376-B9BE-4421BBF919E3}"/>
              </a:ext>
            </a:extLst>
          </p:cNvPr>
          <p:cNvSpPr>
            <a:spLocks noGrp="1"/>
          </p:cNvSpPr>
          <p:nvPr/>
        </p:nvSpPr>
        <p:spPr>
          <a:xfrm>
            <a:off x="2333625" y="5572125"/>
            <a:ext cx="7524750" cy="40005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3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Trade-off: unified syscall tập trung policy nhưng switch và argument convention lớn.</a:t>
            </a:r>
          </a:p>
        </p:txBody>
      </p:sp>
    </p:spTree>
    <p:extLst>
      <p:ext uri="{BB962C8B-B14F-4D97-AF65-F5344CB8AC3E}">
        <p14:creationId xmlns:p14="http://schemas.microsoft.com/office/powerpoint/2010/main" val="1222828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62F6EBD-E703-4BDB-A1DE-4B38EA37C1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676DB4-141A-4249-AD35-E795C5F2BF51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CROSS-PID PROTECTION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B92A9-8D92-4C42-94F2-78E45A506687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Biết physical address không tạo ra quyền truy cập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3A9F33-4D20-4499-B987-CA18ECA0D9AE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21669C-C19E-489E-AA70-07EE5BF19596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965F3-3781-425F-BFB8-4922D9A0B1B4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Quốc An · Protection   ·   16:45   ·   17/21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F9D9E7-C83C-4364-8867-F03211C0087B}"/>
              </a:ext>
            </a:extLst>
          </p:cNvPr>
          <p:cNvSpPr>
            <a:spLocks noGrp="1"/>
          </p:cNvSpPr>
          <p:nvPr/>
        </p:nvSpPr>
        <p:spPr>
          <a:xfrm>
            <a:off x="428625" y="1619250"/>
            <a:ext cx="3143250" cy="2047875"/>
          </a:xfrm>
          <a:prstGeom prst="roundRect">
            <a:avLst>
              <a:gd name="adj" fmla="val 3721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9DAEED-51D4-4B45-9564-C6A7E271F74F}"/>
              </a:ext>
            </a:extLst>
          </p:cNvPr>
          <p:cNvSpPr>
            <a:spLocks noGrp="1"/>
          </p:cNvSpPr>
          <p:nvPr/>
        </p:nvSpPr>
        <p:spPr>
          <a:xfrm>
            <a:off x="428625" y="1619250"/>
            <a:ext cx="3143250" cy="47625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D06EA6-B40A-466F-AAD6-08EB33D0A0C1}"/>
              </a:ext>
            </a:extLst>
          </p:cNvPr>
          <p:cNvSpPr>
            <a:spLocks noGrp="1"/>
          </p:cNvSpPr>
          <p:nvPr/>
        </p:nvSpPr>
        <p:spPr>
          <a:xfrm>
            <a:off x="542925" y="1695450"/>
            <a:ext cx="29146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INPUT TẤN CÔNG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D80186-1B93-4AA6-9D72-1713F2F4B6D2}"/>
              </a:ext>
            </a:extLst>
          </p:cNvPr>
          <p:cNvSpPr>
            <a:spLocks noGrp="1"/>
          </p:cNvSpPr>
          <p:nvPr/>
        </p:nvSpPr>
        <p:spPr>
          <a:xfrm>
            <a:off x="542925" y="1981200"/>
            <a:ext cx="2914650" cy="159067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PID 1: alloc 100 1</a:t>
            </a:r>
          </a:p>
          <a:p>
            <a:endParaRPr sz="1350" b="0">
              <a:solidFill>
                <a:srgbClr val="E8F0F3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PID 2:</a:t>
            </a:r>
          </a:p>
          <a:p>
            <a:pPr algn="l">
              <a:def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4 0 0</a:t>
            </a:r>
          </a:p>
          <a:p>
            <a:pPr algn="l">
              <a:def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5 0 65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0" y="1759054"/>
            <a:ext cx="7524750" cy="815767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B9CA04E-99D8-420A-A9AA-31EFDFA2B248}"/>
              </a:ext>
            </a:extLst>
          </p:cNvPr>
          <p:cNvSpPr>
            <a:spLocks noGrp="1"/>
          </p:cNvSpPr>
          <p:nvPr/>
        </p:nvSpPr>
        <p:spPr>
          <a:xfrm>
            <a:off x="4476750" y="3524250"/>
            <a:ext cx="2095500" cy="819150"/>
          </a:xfrm>
          <a:prstGeom prst="roundRect">
            <a:avLst>
              <a:gd name="adj" fmla="val 9302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1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owns frame 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B853366-8FF9-44C4-A320-A334A915D2F5}"/>
              </a:ext>
            </a:extLst>
          </p:cNvPr>
          <p:cNvSpPr>
            <a:spLocks noGrp="1"/>
          </p:cNvSpPr>
          <p:nvPr/>
        </p:nvSpPr>
        <p:spPr>
          <a:xfrm>
            <a:off x="4476750" y="4762500"/>
            <a:ext cx="2095500" cy="819150"/>
          </a:xfrm>
          <a:prstGeom prst="roundRect">
            <a:avLst>
              <a:gd name="adj" fmla="val 9302"/>
            </a:avLst>
          </a:prstGeom>
          <a:solidFill>
            <a:srgbClr val="F8E8D8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PID 2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knows address 0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156D808-D998-4C73-9208-FDAB7B67AB4C}"/>
              </a:ext>
            </a:extLst>
          </p:cNvPr>
          <p:cNvSpPr>
            <a:spLocks noGrp="1"/>
          </p:cNvSpPr>
          <p:nvPr/>
        </p:nvSpPr>
        <p:spPr>
          <a:xfrm>
            <a:off x="8096250" y="4095750"/>
            <a:ext cx="2857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4C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KERNEL CHECK</a:t>
            </a:r>
          </a:p>
          <a:p>
            <a:pPr algn="ctr">
              <a:defRPr sz="1500" b="1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caller_owns_phyaddr()</a:t>
            </a:r>
          </a:p>
        </p:txBody>
      </p:sp>
      <p:cxnSp>
        <p:nvCxnSpPr>
          <p:cNvPr id="15" name="Straight Arrow Connector 14"/>
          <p:cNvCxnSpPr>
            <a:stCxn id="12" idx="3"/>
            <a:endCxn id="14" idx="1"/>
          </p:cNvCxnSpPr>
          <p:nvPr/>
        </p:nvCxnSpPr>
        <p:spPr>
          <a:xfrm>
            <a:off x="6572250" y="3933825"/>
            <a:ext cx="1524000" cy="638175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6" name="Straight Arrow Connector 15"/>
          <p:cNvCxnSpPr>
            <a:stCxn id="13" idx="3"/>
            <a:endCxn id="14" idx="1"/>
          </p:cNvCxnSpPr>
          <p:nvPr/>
        </p:nvCxnSpPr>
        <p:spPr>
          <a:xfrm flipV="1">
            <a:off x="6572250" y="4572000"/>
            <a:ext cx="1524000" cy="600075"/>
          </a:xfrm>
          <a:prstGeom prst="straightConnector1">
            <a:avLst/>
          </a:prstGeom>
          <a:ln w="19050">
            <a:solidFill>
              <a:srgbClr val="C94C4C"/>
            </a:solidFill>
            <a:prstDash val="solid"/>
          </a:ln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004D1D5-7283-4F49-A375-FAF793EF8563}"/>
              </a:ext>
            </a:extLst>
          </p:cNvPr>
          <p:cNvSpPr>
            <a:spLocks noGrp="1"/>
          </p:cNvSpPr>
          <p:nvPr/>
        </p:nvSpPr>
        <p:spPr>
          <a:xfrm>
            <a:off x="6667500" y="3543300"/>
            <a:ext cx="1047750" cy="3238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 fontScale="93750"/>
          </a:bodyPr>
          <a:lstStyle/>
          <a:p>
            <a:pPr algn="ctr">
              <a:defRPr sz="12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ALLOW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C5864C-E6AC-4DC1-BC21-694BBA0740C5}"/>
              </a:ext>
            </a:extLst>
          </p:cNvPr>
          <p:cNvSpPr>
            <a:spLocks noGrp="1"/>
          </p:cNvSpPr>
          <p:nvPr/>
        </p:nvSpPr>
        <p:spPr>
          <a:xfrm>
            <a:off x="6667500" y="5095875"/>
            <a:ext cx="1047750" cy="3238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 fontScale="93750"/>
          </a:bodyPr>
          <a:lstStyle/>
          <a:p>
            <a:pPr algn="ctr">
              <a:defRPr sz="12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DENY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9430F8D-45DD-4BD8-B815-7986E3BD066D}"/>
              </a:ext>
            </a:extLst>
          </p:cNvPr>
          <p:cNvSpPr>
            <a:spLocks noGrp="1"/>
          </p:cNvSpPr>
          <p:nvPr/>
        </p:nvSpPr>
        <p:spPr>
          <a:xfrm>
            <a:off x="428625" y="4143375"/>
            <a:ext cx="3143250" cy="1000125"/>
          </a:xfrm>
          <a:prstGeom prst="roundRect">
            <a:avLst>
              <a:gd name="adj" fmla="val 7619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F82555-22F8-410A-88C0-0C138CF481B7}"/>
              </a:ext>
            </a:extLst>
          </p:cNvPr>
          <p:cNvSpPr>
            <a:spLocks noGrp="1"/>
          </p:cNvSpPr>
          <p:nvPr/>
        </p:nvSpPr>
        <p:spPr>
          <a:xfrm>
            <a:off x="428625" y="4143375"/>
            <a:ext cx="314325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3F88FD-82C5-44B2-9247-4C504B7F746E}"/>
              </a:ext>
            </a:extLst>
          </p:cNvPr>
          <p:cNvSpPr>
            <a:spLocks noGrp="1"/>
          </p:cNvSpPr>
          <p:nvPr/>
        </p:nvSpPr>
        <p:spPr>
          <a:xfrm>
            <a:off x="542925" y="4219575"/>
            <a:ext cx="291465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A42FE64-F7A3-4231-B12F-07F2510C5AC4}"/>
              </a:ext>
            </a:extLst>
          </p:cNvPr>
          <p:cNvSpPr>
            <a:spLocks noGrp="1"/>
          </p:cNvSpPr>
          <p:nvPr/>
        </p:nvSpPr>
        <p:spPr>
          <a:xfrm>
            <a:off x="542925" y="4505325"/>
            <a:ext cx="2914650" cy="542925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os_cross_pid_protection | grep -E</a:t>
            </a:r>
          </a:p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"MEM alloc|Kernel denied"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2C9811-2828-46C2-91DC-B8321DAD3B35}"/>
              </a:ext>
            </a:extLst>
          </p:cNvPr>
          <p:cNvSpPr>
            <a:spLocks noGrp="1"/>
          </p:cNvSpPr>
          <p:nvPr/>
        </p:nvSpPr>
        <p:spPr>
          <a:xfrm>
            <a:off x="7239000" y="5476875"/>
            <a:ext cx="4191000" cy="4572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 fontScale="77675" lnSpcReduction="10000"/>
          </a:bodyPr>
          <a:lstStyle/>
          <a:p>
            <a:pPr algn="ctr">
              <a:defRPr sz="14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Translation trả lời “ở đâu”; authorization trả lời “có quyền không”.</a:t>
            </a:r>
          </a:p>
        </p:txBody>
      </p:sp>
    </p:spTree>
    <p:extLst>
      <p:ext uri="{BB962C8B-B14F-4D97-AF65-F5344CB8AC3E}">
        <p14:creationId xmlns:p14="http://schemas.microsoft.com/office/powerpoint/2010/main" val="1233528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07CCAD3-3605-4048-8829-CBA93AA8CC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7F8953-4501-4332-A2E7-2A4F60B6CED2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TRƯỜNG GIANG · TRƯỚC KHI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85753-2EF4-445D-A93C-031D5B06ED7E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 fontScale="96837"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Kiến thức nền: multi-level paging đổi bộ nhớ page table lấy chi phí walk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BDCAA3-3B27-4488-8B19-302BFEDE82A0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E2964D-94F0-4FA4-9602-0CDB8C965A64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AAD39C-FD6F-4854-8F03-30EA986185D0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Trường Giang · Kiến thức nền   ·   18:15   ·   18/21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4D9A80E-5763-4CB1-BC8A-A2D03394EE55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857500" cy="876300"/>
          </a:xfrm>
          <a:prstGeom prst="roundRect">
            <a:avLst>
              <a:gd name="adj" fmla="val 8696"/>
            </a:avLst>
          </a:prstGeom>
          <a:solidFill>
            <a:srgbClr val="F5E4E4"/>
          </a:solidFill>
          <a:ln w="9525">
            <a:solidFill>
              <a:srgbClr val="C94C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FLAT PAGE TABLE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một mảng PTE rất lớn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1F27881-03F0-46EE-857A-7F9A52F1C4BA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857500" cy="876300"/>
          </a:xfrm>
          <a:prstGeom prst="roundRect">
            <a:avLst>
              <a:gd name="adj" fmla="val 8696"/>
            </a:avLst>
          </a:prstGeom>
          <a:solidFill>
            <a:srgbClr val="DFF2F1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SPARSE MULTI-LEVEL</a:t>
            </a:r>
          </a:p>
          <a:p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chỉ cấp nhánh được dùng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29B68E6-3BE9-4285-9D8A-C7BA11F7D269}"/>
              </a:ext>
            </a:extLst>
          </p:cNvPr>
          <p:cNvSpPr>
            <a:spLocks noGrp="1"/>
          </p:cNvSpPr>
          <p:nvPr/>
        </p:nvSpPr>
        <p:spPr>
          <a:xfrm>
            <a:off x="8667750" y="1952625"/>
            <a:ext cx="2857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PAGE-TABLE WALK</a:t>
            </a:r>
          </a:p>
          <a:p>
            <a:pPr algn="ctr">
              <a:defRPr sz="14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PGD → P4D → PUD → PMD → PT</a:t>
            </a:r>
          </a:p>
        </p:txBody>
      </p:sp>
      <p:cxnSp>
        <p:nvCxnSpPr>
          <p:cNvPr id="10" name="Straight Arrow Connector 9"/>
          <p:cNvCxnSpPr>
            <a:stCxn id="7" idx="3"/>
            <a:endCxn id="8" idx="1"/>
          </p:cNvCxnSpPr>
          <p:nvPr/>
        </p:nvCxnSpPr>
        <p:spPr>
          <a:xfrm>
            <a:off x="3524250" y="2390775"/>
            <a:ext cx="1143000" cy="0"/>
          </a:xfrm>
          <a:prstGeom prst="straightConnector1">
            <a:avLst/>
          </a:prstGeom>
          <a:ln w="19050">
            <a:solidFill>
              <a:srgbClr val="00A6A6"/>
            </a:solidFill>
            <a:prstDash val="solid"/>
          </a:ln>
        </p:spPr>
      </p:cxnSp>
      <p:cxnSp>
        <p:nvCxnSpPr>
          <p:cNvPr id="11" name="Straight Arrow Connector 10"/>
          <p:cNvCxnSpPr>
            <a:stCxn id="8" idx="3"/>
            <a:endCxn id="9" idx="1"/>
          </p:cNvCxnSpPr>
          <p:nvPr/>
        </p:nvCxnSpPr>
        <p:spPr>
          <a:xfrm>
            <a:off x="7524750" y="2390775"/>
            <a:ext cx="1143000" cy="0"/>
          </a:xfrm>
          <a:prstGeom prst="straightConnector1">
            <a:avLst/>
          </a:prstGeom>
          <a:ln w="19050">
            <a:solidFill>
              <a:srgbClr val="E77728"/>
            </a:solidFill>
            <a:prstDash val="solid"/>
          </a:ln>
        </p:spPr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9B5F9F5-A703-4AF2-87C1-0556717DC4AC}"/>
              </a:ext>
            </a:extLst>
          </p:cNvPr>
          <p:cNvSpPr>
            <a:spLocks noGrp="1"/>
          </p:cNvSpPr>
          <p:nvPr/>
        </p:nvSpPr>
        <p:spPr>
          <a:xfrm>
            <a:off x="666750" y="3762375"/>
            <a:ext cx="4953000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E48E4C-2C0E-4C26-BA58-47CA702E9447}"/>
              </a:ext>
            </a:extLst>
          </p:cNvPr>
          <p:cNvSpPr>
            <a:spLocks noGrp="1"/>
          </p:cNvSpPr>
          <p:nvPr/>
        </p:nvSpPr>
        <p:spPr>
          <a:xfrm>
            <a:off x="666750" y="3762375"/>
            <a:ext cx="76200" cy="1333500"/>
          </a:xfrm>
          <a:prstGeom prst="rect">
            <a:avLst/>
          </a:prstGeom>
          <a:solidFill>
            <a:srgbClr val="092B4C"/>
          </a:solidFill>
          <a:ln w="9525">
            <a:solidFill>
              <a:srgbClr val="092B4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A87137-795E-4B6D-8433-D36E80E2A50D}"/>
              </a:ext>
            </a:extLst>
          </p:cNvPr>
          <p:cNvSpPr>
            <a:spLocks noGrp="1"/>
          </p:cNvSpPr>
          <p:nvPr/>
        </p:nvSpPr>
        <p:spPr>
          <a:xfrm>
            <a:off x="857250" y="3876675"/>
            <a:ext cx="4648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WHY FIVE LEVELS?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3BB14-17E4-487D-866C-A7F870C52B21}"/>
              </a:ext>
            </a:extLst>
          </p:cNvPr>
          <p:cNvSpPr>
            <a:spLocks noGrp="1"/>
          </p:cNvSpPr>
          <p:nvPr/>
        </p:nvSpPr>
        <p:spPr>
          <a:xfrm>
            <a:off x="857250" y="4181475"/>
            <a:ext cx="46482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45 bit page number được chia thành năm index 9 bit; mỗi bảng vừa một page 4 KiB.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A5CFF09-5508-4960-9C22-6423EDE6DE79}"/>
              </a:ext>
            </a:extLst>
          </p:cNvPr>
          <p:cNvSpPr>
            <a:spLocks noGrp="1"/>
          </p:cNvSpPr>
          <p:nvPr/>
        </p:nvSpPr>
        <p:spPr>
          <a:xfrm>
            <a:off x="6191250" y="3762375"/>
            <a:ext cx="5334000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B3FF39-A6BA-45E3-9C41-C4BECDD0964C}"/>
              </a:ext>
            </a:extLst>
          </p:cNvPr>
          <p:cNvSpPr>
            <a:spLocks noGrp="1"/>
          </p:cNvSpPr>
          <p:nvPr/>
        </p:nvSpPr>
        <p:spPr>
          <a:xfrm>
            <a:off x="6191250" y="3762375"/>
            <a:ext cx="76200" cy="1333500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54A2A-9DBC-4161-9EEE-9E294946069E}"/>
              </a:ext>
            </a:extLst>
          </p:cNvPr>
          <p:cNvSpPr>
            <a:spLocks noGrp="1"/>
          </p:cNvSpPr>
          <p:nvPr/>
        </p:nvSpPr>
        <p:spPr>
          <a:xfrm>
            <a:off x="6381750" y="3876675"/>
            <a:ext cx="5029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WHY CANONICAL?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AA4A79-C96B-4701-96EE-710F4D7A2568}"/>
              </a:ext>
            </a:extLst>
          </p:cNvPr>
          <p:cNvSpPr>
            <a:spLocks noGrp="1"/>
          </p:cNvSpPr>
          <p:nvPr/>
        </p:nvSpPr>
        <p:spPr>
          <a:xfrm>
            <a:off x="6381750" y="4181475"/>
            <a:ext cx="50292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Không phải mọi mẫu 64 bit đều hợp lệ; chặn non-canonical trước khi walk hoặc cấp bảng.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F1B89F-825D-4C20-8695-17B66671B222}"/>
              </a:ext>
            </a:extLst>
          </p:cNvPr>
          <p:cNvSpPr>
            <a:spLocks noGrp="1"/>
          </p:cNvSpPr>
          <p:nvPr/>
        </p:nvSpPr>
        <p:spPr>
          <a:xfrm>
            <a:off x="1714500" y="5572125"/>
            <a:ext cx="8763000" cy="4191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Demo sắp tới dùng các địa chỉ thuộc nhánh khác nhau để quan sát walks, accesses và bytes.</a:t>
            </a:r>
          </a:p>
        </p:txBody>
      </p:sp>
    </p:spTree>
    <p:extLst>
      <p:ext uri="{BB962C8B-B14F-4D97-AF65-F5344CB8AC3E}">
        <p14:creationId xmlns:p14="http://schemas.microsoft.com/office/powerpoint/2010/main" val="115218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0E0288-168C-46CA-8383-819D75CB1B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ADD1CE-93A1-428A-A357-A649FAA31CC4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TRƯỜNG GIANG · ADDRESS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B94213-6627-4CF2-9084-84B96C9E243B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MM64 dùng năm index 9-bit để tránh page table phẳng 256 TiB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0E21BB-AA0F-41C3-B955-D2866F4B29EB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E2D8AD-F754-49E4-8647-933F33A6FC1F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31130D-EBAC-4413-B936-65CDE89A4E43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Trường Giang · MM64   ·   19:00   ·   19/21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08F5648-6479-4D18-A210-57825717D6C5}"/>
              </a:ext>
            </a:extLst>
          </p:cNvPr>
          <p:cNvSpPr>
            <a:spLocks noGrp="1"/>
          </p:cNvSpPr>
          <p:nvPr/>
        </p:nvSpPr>
        <p:spPr>
          <a:xfrm>
            <a:off x="714375" y="1809750"/>
            <a:ext cx="157162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PGD</a:t>
            </a:r>
          </a:p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56–48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5778181-0C3A-4549-B536-405A8ED19A57}"/>
              </a:ext>
            </a:extLst>
          </p:cNvPr>
          <p:cNvSpPr>
            <a:spLocks noGrp="1"/>
          </p:cNvSpPr>
          <p:nvPr/>
        </p:nvSpPr>
        <p:spPr>
          <a:xfrm>
            <a:off x="2428875" y="1809750"/>
            <a:ext cx="157162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P4D</a:t>
            </a:r>
          </a:p>
          <a:p>
            <a:pPr algn="ctr">
              <a:defRPr sz="15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47–39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3430CF4-D20C-4991-8A77-54AFD15EC5FB}"/>
              </a:ext>
            </a:extLst>
          </p:cNvPr>
          <p:cNvSpPr>
            <a:spLocks noGrp="1"/>
          </p:cNvSpPr>
          <p:nvPr/>
        </p:nvSpPr>
        <p:spPr>
          <a:xfrm>
            <a:off x="4143375" y="1809750"/>
            <a:ext cx="157162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PUD</a:t>
            </a:r>
          </a:p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38–30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4D0AA23-CBD3-4F5F-9F0A-D4021E4573EE}"/>
              </a:ext>
            </a:extLst>
          </p:cNvPr>
          <p:cNvSpPr>
            <a:spLocks noGrp="1"/>
          </p:cNvSpPr>
          <p:nvPr/>
        </p:nvSpPr>
        <p:spPr>
          <a:xfrm>
            <a:off x="5857875" y="1809750"/>
            <a:ext cx="157162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A6A6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PMD</a:t>
            </a:r>
          </a:p>
          <a:p>
            <a:pPr algn="ctr">
              <a:defRPr sz="150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29–21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4AFF4A4-FDB7-4C57-AECB-A9A388C99062}"/>
              </a:ext>
            </a:extLst>
          </p:cNvPr>
          <p:cNvSpPr>
            <a:spLocks noGrp="1"/>
          </p:cNvSpPr>
          <p:nvPr/>
        </p:nvSpPr>
        <p:spPr>
          <a:xfrm>
            <a:off x="7572375" y="1809750"/>
            <a:ext cx="157162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92B4C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PT</a:t>
            </a:r>
          </a:p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20–12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61637D7-281C-450F-B144-543926722380}"/>
              </a:ext>
            </a:extLst>
          </p:cNvPr>
          <p:cNvSpPr>
            <a:spLocks noGrp="1"/>
          </p:cNvSpPr>
          <p:nvPr/>
        </p:nvSpPr>
        <p:spPr>
          <a:xfrm>
            <a:off x="9286875" y="1809750"/>
            <a:ext cx="18097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7772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OFFSET</a:t>
            </a:r>
          </a:p>
          <a:p>
            <a:pPr algn="ctr">
              <a:defRPr sz="150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11–0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8F4BEE-4F2C-408F-97F2-090E601E053B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4286250" cy="495300"/>
          </a:xfrm>
          <a:prstGeom prst="rect">
            <a:avLst/>
          </a:prstGeom>
          <a:solidFill>
            <a:srgbClr val="E5EFF4"/>
          </a:solidFill>
          <a:ln w="9525">
            <a:solidFill>
              <a:srgbClr val="E5EFF4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65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Mỗi index 9 bit → 512 entry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D3307-7BFB-4917-BE1E-D72ABA41F024}"/>
              </a:ext>
            </a:extLst>
          </p:cNvPr>
          <p:cNvSpPr>
            <a:spLocks noGrp="1"/>
          </p:cNvSpPr>
          <p:nvPr/>
        </p:nvSpPr>
        <p:spPr>
          <a:xfrm>
            <a:off x="6667500" y="3000375"/>
            <a:ext cx="4286250" cy="495300"/>
          </a:xfrm>
          <a:prstGeom prst="rect">
            <a:avLst/>
          </a:prstGeom>
          <a:solidFill>
            <a:srgbClr val="F8E8D8"/>
          </a:solidFill>
          <a:ln w="9525">
            <a:solidFill>
              <a:srgbClr val="F8E8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650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Offset 12 bit → page 4 KiB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56BD60-EC22-4F31-8D6E-A90E569D7569}"/>
              </a:ext>
            </a:extLst>
          </p:cNvPr>
          <p:cNvSpPr>
            <a:spLocks noGrp="1"/>
          </p:cNvSpPr>
          <p:nvPr/>
        </p:nvSpPr>
        <p:spPr>
          <a:xfrm>
            <a:off x="666750" y="4048125"/>
            <a:ext cx="47625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CEE082-3E2D-4898-8F2E-ABB5F971A880}"/>
              </a:ext>
            </a:extLst>
          </p:cNvPr>
          <p:cNvSpPr>
            <a:spLocks noGrp="1"/>
          </p:cNvSpPr>
          <p:nvPr/>
        </p:nvSpPr>
        <p:spPr>
          <a:xfrm>
            <a:off x="666750" y="4048125"/>
            <a:ext cx="76200" cy="1238250"/>
          </a:xfrm>
          <a:prstGeom prst="rect">
            <a:avLst/>
          </a:prstGeom>
          <a:solidFill>
            <a:srgbClr val="C94C4C"/>
          </a:solidFill>
          <a:ln w="9525">
            <a:solidFill>
              <a:srgbClr val="C94C4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2579F6-D00B-4273-847D-D9FE7E13BDD3}"/>
              </a:ext>
            </a:extLst>
          </p:cNvPr>
          <p:cNvSpPr>
            <a:spLocks noGrp="1"/>
          </p:cNvSpPr>
          <p:nvPr/>
        </p:nvSpPr>
        <p:spPr>
          <a:xfrm>
            <a:off x="857250" y="4162425"/>
            <a:ext cx="4457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FLAT TABLE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8A27AE-586B-447F-803E-7A3D40F448B4}"/>
              </a:ext>
            </a:extLst>
          </p:cNvPr>
          <p:cNvSpPr>
            <a:spLocks noGrp="1"/>
          </p:cNvSpPr>
          <p:nvPr/>
        </p:nvSpPr>
        <p:spPr>
          <a:xfrm>
            <a:off x="857250" y="4467225"/>
            <a:ext cx="4457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2^45 PTE × 8 byte = 256 TiB / address space.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DBAFF21-EC38-4B0B-B1EC-1CE4392F94FF}"/>
              </a:ext>
            </a:extLst>
          </p:cNvPr>
          <p:cNvSpPr>
            <a:spLocks noGrp="1"/>
          </p:cNvSpPr>
          <p:nvPr/>
        </p:nvSpPr>
        <p:spPr>
          <a:xfrm>
            <a:off x="6191250" y="4048125"/>
            <a:ext cx="53340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E3ED04-1704-406A-B4CE-2FB0AFF2E0E1}"/>
              </a:ext>
            </a:extLst>
          </p:cNvPr>
          <p:cNvSpPr>
            <a:spLocks noGrp="1"/>
          </p:cNvSpPr>
          <p:nvPr/>
        </p:nvSpPr>
        <p:spPr>
          <a:xfrm>
            <a:off x="6191250" y="4048125"/>
            <a:ext cx="76200" cy="123825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77C61D-0828-428F-8779-C90BC6DAF6E1}"/>
              </a:ext>
            </a:extLst>
          </p:cNvPr>
          <p:cNvSpPr>
            <a:spLocks noGrp="1"/>
          </p:cNvSpPr>
          <p:nvPr/>
        </p:nvSpPr>
        <p:spPr>
          <a:xfrm>
            <a:off x="6381750" y="4162425"/>
            <a:ext cx="50292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SPARSE TREE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074AAF-2823-4102-B04E-8D23101E7FBC}"/>
              </a:ext>
            </a:extLst>
          </p:cNvPr>
          <p:cNvSpPr>
            <a:spLocks noGrp="1"/>
          </p:cNvSpPr>
          <p:nvPr/>
        </p:nvSpPr>
        <p:spPr>
          <a:xfrm>
            <a:off x="6381750" y="4467225"/>
            <a:ext cx="50292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Chỉ cấp bảng cho branch được chạm; đổi lại TLB miss có thể cần walk năm cấp.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8BA94C-215E-4D28-A24D-106F7F554900}"/>
              </a:ext>
            </a:extLst>
          </p:cNvPr>
          <p:cNvSpPr>
            <a:spLocks noGrp="1"/>
          </p:cNvSpPr>
          <p:nvPr/>
        </p:nvSpPr>
        <p:spPr>
          <a:xfrm>
            <a:off x="2857500" y="5619750"/>
            <a:ext cx="6477000" cy="4000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500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Canonical: bit 63–57 phải sign-extend bit 56.</a:t>
            </a:r>
          </a:p>
        </p:txBody>
      </p:sp>
    </p:spTree>
    <p:extLst>
      <p:ext uri="{BB962C8B-B14F-4D97-AF65-F5344CB8AC3E}">
        <p14:creationId xmlns:p14="http://schemas.microsoft.com/office/powerpoint/2010/main" val="1955989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A424605-2ADB-4030-B4CE-7C391A98E4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D9C9CA-3A85-4C95-A96F-6BB9639D9A10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857500" cy="26670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LIVE DEMO · OS_MM64_CANONICAL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CED7BC-516C-4150-9590-46BFECEE08C9}"/>
              </a:ext>
            </a:extLst>
          </p:cNvPr>
          <p:cNvSpPr>
            <a:spLocks noGrp="1"/>
          </p:cNvSpPr>
          <p:nvPr/>
        </p:nvSpPr>
        <p:spPr>
          <a:xfrm>
            <a:off x="381000" y="552450"/>
            <a:ext cx="11382375" cy="6667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38100" rIns="19050" bIns="19050" anchor="t">
            <a:normAutofit/>
          </a:bodyPr>
          <a:lstStyle/>
          <a:p>
            <a:pPr algn="l">
              <a:defRPr sz="27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 địa chỉ phơi bày sparse allocation; địa chỉ sai bị chặn trước walk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1ACB18-31DE-4DC4-8DAB-58F0D289B16F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990600" cy="38100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DF7B8D-1980-43BB-8498-A60995D29ED5}"/>
              </a:ext>
            </a:extLst>
          </p:cNvPr>
          <p:cNvSpPr>
            <a:spLocks noGrp="1"/>
          </p:cNvSpPr>
          <p:nvPr/>
        </p:nvSpPr>
        <p:spPr>
          <a:xfrm>
            <a:off x="342900" y="6515100"/>
            <a:ext cx="247650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825" b="1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17C"/>
                </a:solidFill>
                <a:latin typeface="Arial"/>
                <a:ea typeface="Arial"/>
                <a:cs typeface="Arial"/>
              </a:rPr>
              <a:t>CO2018 · K24 WARRIORS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E27CD-5F60-468F-BF2B-4A977E74FDAE}"/>
              </a:ext>
            </a:extLst>
          </p:cNvPr>
          <p:cNvSpPr>
            <a:spLocks noGrp="1"/>
          </p:cNvSpPr>
          <p:nvPr/>
        </p:nvSpPr>
        <p:spPr>
          <a:xfrm>
            <a:off x="8096250" y="6515100"/>
            <a:ext cx="3752850" cy="209550"/>
          </a:xfrm>
          <a:prstGeom prst="rect">
            <a:avLst/>
          </a:prstGeom>
          <a:solidFill>
            <a:srgbClr val="F5F3EE"/>
          </a:solidFill>
          <a:ln w="9525">
            <a:solidFill>
              <a:srgbClr val="F5F3EE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825" b="0">
                <a:solidFill>
                  <a:srgbClr val="6671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17C"/>
                </a:solidFill>
                <a:latin typeface="Arial"/>
                <a:ea typeface="Arial"/>
                <a:cs typeface="Arial"/>
              </a:rPr>
              <a:t>Trường Giang · MM64/Test   ·   20:15   ·   20/21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08DB549-D075-4CB1-8082-4362C585757B}"/>
              </a:ext>
            </a:extLst>
          </p:cNvPr>
          <p:cNvSpPr>
            <a:spLocks noGrp="1"/>
          </p:cNvSpPr>
          <p:nvPr/>
        </p:nvSpPr>
        <p:spPr>
          <a:xfrm>
            <a:off x="381000" y="1619250"/>
            <a:ext cx="3238500" cy="1809750"/>
          </a:xfrm>
          <a:prstGeom prst="roundRect">
            <a:avLst>
              <a:gd name="adj" fmla="val 4211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B99D67-BE5B-4756-AAA0-7F8AD3949F04}"/>
              </a:ext>
            </a:extLst>
          </p:cNvPr>
          <p:cNvSpPr>
            <a:spLocks noGrp="1"/>
          </p:cNvSpPr>
          <p:nvPr/>
        </p:nvSpPr>
        <p:spPr>
          <a:xfrm>
            <a:off x="381000" y="1619250"/>
            <a:ext cx="3238500" cy="47625"/>
          </a:xfrm>
          <a:prstGeom prst="rect">
            <a:avLst/>
          </a:prstGeom>
          <a:solidFill>
            <a:srgbClr val="E77728"/>
          </a:solidFill>
          <a:ln w="9525">
            <a:solidFill>
              <a:srgbClr val="E7772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216927-5306-408D-8EB6-E64894D271F9}"/>
              </a:ext>
            </a:extLst>
          </p:cNvPr>
          <p:cNvSpPr>
            <a:spLocks noGrp="1"/>
          </p:cNvSpPr>
          <p:nvPr/>
        </p:nvSpPr>
        <p:spPr>
          <a:xfrm>
            <a:off x="495300" y="1695450"/>
            <a:ext cx="3009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7728"/>
                </a:solidFill>
                <a:latin typeface="Arial"/>
                <a:ea typeface="Arial"/>
                <a:cs typeface="Arial"/>
              </a:rPr>
              <a:t>INPUT / proc/mm64c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13F7DF-4729-4775-BB44-8346C12A4933}"/>
              </a:ext>
            </a:extLst>
          </p:cNvPr>
          <p:cNvSpPr>
            <a:spLocks noGrp="1"/>
          </p:cNvSpPr>
          <p:nvPr/>
        </p:nvSpPr>
        <p:spPr>
          <a:xfrm>
            <a:off x="495300" y="1981200"/>
            <a:ext cx="3009900" cy="13525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1 0 1</a:t>
            </a:r>
          </a:p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1 2097152 1</a:t>
            </a:r>
          </a:p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1 18374686479671623680 1</a:t>
            </a:r>
          </a:p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syscall 17 1 72057594037927936 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117875" y="1571625"/>
            <a:ext cx="7290000" cy="1428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939016E-DA27-489F-8DAB-52610CC5D65A}"/>
              </a:ext>
            </a:extLst>
          </p:cNvPr>
          <p:cNvSpPr>
            <a:spLocks noGrp="1"/>
          </p:cNvSpPr>
          <p:nvPr/>
        </p:nvSpPr>
        <p:spPr>
          <a:xfrm>
            <a:off x="4000500" y="3381375"/>
            <a:ext cx="1809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092B4C"/>
                </a:solidFill>
                <a:latin typeface="Courier New"/>
                <a:ea typeface="Courier New"/>
                <a:cs typeface="Courier New"/>
              </a:rPr>
              <a:t>0x0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83168-EA74-4AC7-9C99-27B20A53A81A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2190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[0,0,0,0,0]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F8FD7B-7B37-4726-AFC4-CE7AF1E4F0B9}"/>
              </a:ext>
            </a:extLst>
          </p:cNvPr>
          <p:cNvSpPr>
            <a:spLocks noGrp="1"/>
          </p:cNvSpPr>
          <p:nvPr/>
        </p:nvSpPr>
        <p:spPr>
          <a:xfrm>
            <a:off x="8001000" y="3381375"/>
            <a:ext cx="152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20,480 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B88222-D852-4EF2-A289-DDDA1514CD75}"/>
              </a:ext>
            </a:extLst>
          </p:cNvPr>
          <p:cNvSpPr>
            <a:spLocks noGrp="1"/>
          </p:cNvSpPr>
          <p:nvPr/>
        </p:nvSpPr>
        <p:spPr>
          <a:xfrm>
            <a:off x="9525000" y="3381375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0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92B4C"/>
                </a:solidFill>
                <a:latin typeface="Arial"/>
                <a:ea typeface="Arial"/>
                <a:cs typeface="Arial"/>
              </a:rPr>
              <a:t>nhánh đầu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87C812-B692-4677-A309-508A608332C5}"/>
              </a:ext>
            </a:extLst>
          </p:cNvPr>
          <p:cNvSpPr>
            <a:spLocks noGrp="1"/>
          </p:cNvSpPr>
          <p:nvPr/>
        </p:nvSpPr>
        <p:spPr>
          <a:xfrm>
            <a:off x="4000500" y="3924300"/>
            <a:ext cx="1809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E77728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E77728"/>
                </a:solidFill>
                <a:latin typeface="Courier New"/>
                <a:ea typeface="Courier New"/>
                <a:cs typeface="Courier New"/>
              </a:rPr>
              <a:t>0x200000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7DF338-CE8F-40BE-A941-90B6BAA0763F}"/>
              </a:ext>
            </a:extLst>
          </p:cNvPr>
          <p:cNvSpPr>
            <a:spLocks noGrp="1"/>
          </p:cNvSpPr>
          <p:nvPr/>
        </p:nvSpPr>
        <p:spPr>
          <a:xfrm>
            <a:off x="5810250" y="3924300"/>
            <a:ext cx="2190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[0,0,0,1,0]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4434F4-6893-4B2D-8922-61F1ECEA45FD}"/>
              </a:ext>
            </a:extLst>
          </p:cNvPr>
          <p:cNvSpPr>
            <a:spLocks noGrp="1"/>
          </p:cNvSpPr>
          <p:nvPr/>
        </p:nvSpPr>
        <p:spPr>
          <a:xfrm>
            <a:off x="8001000" y="3924300"/>
            <a:ext cx="152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24,576 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D55C25-6872-4861-B5CA-7E7F427D3CC5}"/>
              </a:ext>
            </a:extLst>
          </p:cNvPr>
          <p:cNvSpPr>
            <a:spLocks noGrp="1"/>
          </p:cNvSpPr>
          <p:nvPr/>
        </p:nvSpPr>
        <p:spPr>
          <a:xfrm>
            <a:off x="9525000" y="39243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0">
                <a:solidFill>
                  <a:srgbClr val="E77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E77728"/>
                </a:solidFill>
                <a:latin typeface="Arial"/>
                <a:ea typeface="Arial"/>
                <a:cs typeface="Arial"/>
              </a:rPr>
              <a:t>+ một PT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DDC433-0D38-4121-9213-EF8C8D5AB8DA}"/>
              </a:ext>
            </a:extLst>
          </p:cNvPr>
          <p:cNvSpPr>
            <a:spLocks noGrp="1"/>
          </p:cNvSpPr>
          <p:nvPr/>
        </p:nvSpPr>
        <p:spPr>
          <a:xfrm>
            <a:off x="4000500" y="4467225"/>
            <a:ext cx="1809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0A6A6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00A6A6"/>
                </a:solidFill>
                <a:latin typeface="Courier New"/>
                <a:ea typeface="Courier New"/>
                <a:cs typeface="Courier New"/>
              </a:rPr>
              <a:t>0xff00…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54DF3F-DDC9-4690-B34E-78FFA2B940F7}"/>
              </a:ext>
            </a:extLst>
          </p:cNvPr>
          <p:cNvSpPr>
            <a:spLocks noGrp="1"/>
          </p:cNvSpPr>
          <p:nvPr/>
        </p:nvSpPr>
        <p:spPr>
          <a:xfrm>
            <a:off x="5810250" y="4467225"/>
            <a:ext cx="2190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[256,0,0,0,0]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4A1992-05AF-49AA-AED1-48AF0E953728}"/>
              </a:ext>
            </a:extLst>
          </p:cNvPr>
          <p:cNvSpPr>
            <a:spLocks noGrp="1"/>
          </p:cNvSpPr>
          <p:nvPr/>
        </p:nvSpPr>
        <p:spPr>
          <a:xfrm>
            <a:off x="8001000" y="4467225"/>
            <a:ext cx="152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40,960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70AF0B5-8443-4A8D-992D-14D471F77BB2}"/>
              </a:ext>
            </a:extLst>
          </p:cNvPr>
          <p:cNvSpPr>
            <a:spLocks noGrp="1"/>
          </p:cNvSpPr>
          <p:nvPr/>
        </p:nvSpPr>
        <p:spPr>
          <a:xfrm>
            <a:off x="9525000" y="4467225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0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A6A6"/>
                </a:solidFill>
                <a:latin typeface="Arial"/>
                <a:ea typeface="Arial"/>
                <a:cs typeface="Arial"/>
              </a:rPr>
              <a:t>high canonical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C58894-A24C-4EB3-A037-539D61316539}"/>
              </a:ext>
            </a:extLst>
          </p:cNvPr>
          <p:cNvSpPr>
            <a:spLocks noGrp="1"/>
          </p:cNvSpPr>
          <p:nvPr/>
        </p:nvSpPr>
        <p:spPr>
          <a:xfrm>
            <a:off x="4000500" y="5010150"/>
            <a:ext cx="1809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C94C4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C94C4C"/>
                </a:solidFill>
                <a:latin typeface="Courier New"/>
                <a:ea typeface="Courier New"/>
                <a:cs typeface="Courier New"/>
              </a:rPr>
              <a:t>0x100…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D1A933-57DF-4609-AF3B-FB6EF53B6E0C}"/>
              </a:ext>
            </a:extLst>
          </p:cNvPr>
          <p:cNvSpPr>
            <a:spLocks noGrp="1"/>
          </p:cNvSpPr>
          <p:nvPr/>
        </p:nvSpPr>
        <p:spPr>
          <a:xfrm>
            <a:off x="5810250" y="5010150"/>
            <a:ext cx="21907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—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971F3E-041F-4E26-BF18-A194E5769767}"/>
              </a:ext>
            </a:extLst>
          </p:cNvPr>
          <p:cNvSpPr>
            <a:spLocks noGrp="1"/>
          </p:cNvSpPr>
          <p:nvPr/>
        </p:nvSpPr>
        <p:spPr>
          <a:xfrm>
            <a:off x="8001000" y="5010150"/>
            <a:ext cx="152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không tăng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451F1E-71D3-412F-8C8A-DB8193A8E28E}"/>
              </a:ext>
            </a:extLst>
          </p:cNvPr>
          <p:cNvSpPr>
            <a:spLocks noGrp="1"/>
          </p:cNvSpPr>
          <p:nvPr/>
        </p:nvSpPr>
        <p:spPr>
          <a:xfrm>
            <a:off x="9525000" y="501015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2D8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l">
              <a:defRPr sz="1275" b="0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94C4C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6E35DC9-DA40-4DDC-A511-9668E8C73D43}"/>
              </a:ext>
            </a:extLst>
          </p:cNvPr>
          <p:cNvSpPr>
            <a:spLocks noGrp="1"/>
          </p:cNvSpPr>
          <p:nvPr/>
        </p:nvSpPr>
        <p:spPr>
          <a:xfrm>
            <a:off x="381000" y="3905250"/>
            <a:ext cx="3238500" cy="1047750"/>
          </a:xfrm>
          <a:prstGeom prst="roundRect">
            <a:avLst>
              <a:gd name="adj" fmla="val 7273"/>
            </a:avLst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DDC3A4-766A-424F-992D-5A06CAA7A006}"/>
              </a:ext>
            </a:extLst>
          </p:cNvPr>
          <p:cNvSpPr>
            <a:spLocks noGrp="1"/>
          </p:cNvSpPr>
          <p:nvPr/>
        </p:nvSpPr>
        <p:spPr>
          <a:xfrm>
            <a:off x="381000" y="3905250"/>
            <a:ext cx="3238500" cy="47625"/>
          </a:xfrm>
          <a:prstGeom prst="rect">
            <a:avLst/>
          </a:prstGeom>
          <a:solidFill>
            <a:srgbClr val="00A6A6"/>
          </a:solidFill>
          <a:ln w="9525">
            <a:solidFill>
              <a:srgbClr val="00A6A6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4F13395-8DC8-484E-99F4-F420231B871D}"/>
              </a:ext>
            </a:extLst>
          </p:cNvPr>
          <p:cNvSpPr>
            <a:spLocks noGrp="1"/>
          </p:cNvSpPr>
          <p:nvPr/>
        </p:nvSpPr>
        <p:spPr>
          <a:xfrm>
            <a:off x="495300" y="3981450"/>
            <a:ext cx="3009900" cy="26670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975" b="1">
                <a:solidFill>
                  <a:srgbClr val="00A6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A6A6"/>
                </a:solidFill>
                <a:latin typeface="Arial"/>
                <a:ea typeface="Arial"/>
                <a:cs typeface="Arial"/>
              </a:rPr>
              <a:t>LỆNH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76A1C6-003C-4E7F-966E-9CED357D1913}"/>
              </a:ext>
            </a:extLst>
          </p:cNvPr>
          <p:cNvSpPr>
            <a:spLocks noGrp="1"/>
          </p:cNvSpPr>
          <p:nvPr/>
        </p:nvSpPr>
        <p:spPr>
          <a:xfrm>
            <a:off x="495300" y="4267200"/>
            <a:ext cx="3009900" cy="590550"/>
          </a:xfrm>
          <a:prstGeom prst="rect">
            <a:avLst/>
          </a:prstGeom>
          <a:solidFill>
            <a:srgbClr val="12181D"/>
          </a:solidFill>
          <a:ln w="9525">
            <a:solidFill>
              <a:srgbClr val="12181D"/>
            </a:solidFill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./os os_mm64_canonical | grep -E</a:t>
            </a:r>
          </a:p>
          <a:p>
            <a:pPr algn="l">
              <a:def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E8F0F3"/>
                </a:solidFill>
                <a:latin typeface="Courier New"/>
                <a:ea typeface="Courier New"/>
                <a:cs typeface="Courier New"/>
              </a:rPr>
              <a:t>"MM64 mapped|MM64 pid|MM64 rejected"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900DEE-2252-499D-A980-581550A852A1}"/>
              </a:ext>
            </a:extLst>
          </p:cNvPr>
          <p:cNvSpPr>
            <a:spLocks noGrp="1"/>
          </p:cNvSpPr>
          <p:nvPr/>
        </p:nvSpPr>
        <p:spPr>
          <a:xfrm>
            <a:off x="4238625" y="5715000"/>
            <a:ext cx="7048500" cy="400050"/>
          </a:xfrm>
          <a:prstGeom prst="rect">
            <a:avLst/>
          </a:prstGeom>
          <a:solidFill>
            <a:srgbClr val="DFF2F1"/>
          </a:solidFill>
          <a:ln w="9525">
            <a:solidFill>
              <a:srgbClr val="DFF2F1"/>
            </a:solidFill>
            <a:prstDash val="solid"/>
          </a:ln>
        </p:spPr>
        <p:txBody>
          <a:bodyPr wrap="square" lIns="95250" tIns="76200" rIns="95250" bIns="76200" anchor="t">
            <a:normAutofit/>
          </a:bodyPr>
          <a:lstStyle/>
          <a:p>
            <a:pPr algn="ctr">
              <a:defRPr sz="1425" b="1">
                <a:solidFill>
                  <a:srgbClr val="092B4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2B4C"/>
                </a:solidFill>
                <a:latin typeface="Arial"/>
                <a:ea typeface="Arial"/>
                <a:cs typeface="Arial"/>
              </a:rPr>
              <a:t>walks × 5 = accesses; bytes chỉ tăng khi một bảng sparse mới được cấp.</a:t>
            </a:r>
          </a:p>
        </p:txBody>
      </p:sp>
    </p:spTree>
    <p:extLst>
      <p:ext uri="{BB962C8B-B14F-4D97-AF65-F5344CB8AC3E}">
        <p14:creationId xmlns:p14="http://schemas.microsoft.com/office/powerpoint/2010/main" val="149213883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2482</Words>
  <Application>Microsoft Macintosh PowerPoint</Application>
  <DocSecurity>0</DocSecurity>
  <PresentationFormat>Widescreen</PresentationFormat>
  <Paragraphs>314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Microsoft Office User</cp:lastModifiedBy>
  <cp:revision>3</cp:revision>
  <dcterms:created xsi:type="dcterms:W3CDTF">2026-06-09T09:17:10Z</dcterms:created>
  <dcterms:modified xsi:type="dcterms:W3CDTF">2026-06-09T14:17:40Z</dcterms:modified>
</cp:coreProperties>
</file>