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06"/>
    <p:restoredTop sz="94663"/>
  </p:normalViewPr>
  <p:slideViewPr>
    <p:cSldViewPr snapToGrid="0">
      <p:cViewPr>
        <p:scale>
          <a:sx n="115" d="100"/>
          <a:sy n="115" d="100"/>
        </p:scale>
        <p:origin x="-21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1" dirty="0">
              <a:solidFill>
                <a:srgbClr val="092B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Trung — 1 phút. Phải phân biệt rõ priority, weighted slot, quantum, FIFO. Nói ví dụ priority 137 có 3 slot, quantum 2 nên được dispatch 3 lần, mỗi lần tối đa 2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Trung — 2 phút. Mở input trước, giải thích 2 1 2. Chạy lệnh. Do pthread timing, PID 1 có thể dispatch tại slot 0 hoặc 1; invariant cần chỉ là PID 2 không dispatch trước khi PID 1 được put. Không dùng chiều dài Gantt để đếm instruction.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Trung — 1 phút 30 giây. Nói slot khác quantum. Chỉ các khoảng 3–9, 9–13 và reset tại 13. Nếu hình thay đổi do log mới, ưu tiên chỉ dòng Dispatched/Put trong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Trung — 1 phút. Chạy lệnh và nói rõ nondeterminism. Chỉ invariant hai CPU không giữ cùng PID. Mở src/sched.c:get_mlq_proc nếu hỏi sâu. Chuyển Quốc Bảo: ownership CPU đã đúng, giờ chứng minh address space và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Quốc Bảo — 45 </a:t>
            </a:r>
            <a:r>
              <a:rPr dirty="0" err="1"/>
              <a:t>giây</a:t>
            </a:r>
            <a:r>
              <a:rPr dirty="0"/>
              <a:t>.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thích</a:t>
            </a:r>
            <a:r>
              <a:rPr dirty="0"/>
              <a:t> virtual address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physical address. </a:t>
            </a:r>
            <a:r>
              <a:rPr dirty="0" err="1"/>
              <a:t>Nêu</a:t>
            </a:r>
            <a:r>
              <a:rPr dirty="0"/>
              <a:t> interval [</a:t>
            </a:r>
            <a:r>
              <a:rPr dirty="0" err="1"/>
              <a:t>start,end</a:t>
            </a:r>
            <a:r>
              <a:rPr dirty="0"/>
              <a:t>),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page table và copy semantics. </a:t>
            </a:r>
            <a:r>
              <a:rPr dirty="0" err="1"/>
              <a:t>Nhấn</a:t>
            </a:r>
            <a:r>
              <a:rPr dirty="0"/>
              <a:t> </a:t>
            </a:r>
            <a:r>
              <a:rPr dirty="0" err="1"/>
              <a:t>mạnh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demo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tra</a:t>
            </a:r>
            <a:r>
              <a:rPr dirty="0"/>
              <a:t> </a:t>
            </a:r>
            <a:r>
              <a:rPr dirty="0" err="1"/>
              <a:t>hai</a:t>
            </a:r>
            <a:r>
              <a:rPr dirty="0"/>
              <a:t> property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Demo </a:t>
            </a:r>
            <a:r>
              <a:rPr sz="12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sắp</a:t>
            </a:r>
            <a:r>
              <a:rPr sz="12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tới</a:t>
            </a:r>
            <a:r>
              <a:rPr sz="12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tách</a:t>
            </a:r>
            <a:r>
              <a:rPr sz="12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hai</a:t>
            </a:r>
            <a:r>
              <a:rPr sz="12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property: </a:t>
            </a:r>
            <a:r>
              <a:rPr sz="12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tái</a:t>
            </a:r>
            <a:r>
              <a:rPr sz="12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sử</a:t>
            </a:r>
            <a:r>
              <a:rPr sz="12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dụng</a:t>
            </a:r>
            <a:r>
              <a:rPr sz="12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logical region và roundtrip byte 65 end-to-end.</a:t>
            </a:r>
          </a:p>
          <a:p>
            <a:endParaRPr sz="1200" b="1" dirty="0">
              <a:solidFill>
                <a:srgbClr val="092B4C"/>
              </a:solidFill>
              <a:latin typeface="Arial"/>
              <a:ea typeface="Arial"/>
              <a:cs typeface="Arial"/>
            </a:endParaRPr>
          </a:p>
          <a:p>
            <a:endParaRPr sz="1200" b="1" dirty="0">
              <a:solidFill>
                <a:srgbClr val="092B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Bảo — 1 phút 30 giây. Phân biệt region/page/frame. Nêu half-open interval [start,end). Nêu ALLOC logic có thể dài 100 byte nhưng mapping vật lý align theo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Bảo — 2 phút. Mở input rồi chạy. Chỉ [0,100) được free và [0,50) được dùng lại. Giải thích offset 49. Nói rõ đây là logical region reuse, không chứng minh physical frame unmap.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Bảo — 2 phút. Nhấn mạnh đây là testcase đúng cú pháp ngắn của đặc tả. Byte 65 chứng minh end-to-end nhiều lớp, không chỉ một helper. Chuyển Quốc An: copy an toàn vì kernel boundary kiểm soát caller và quyền.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Bảo — 2 phút. Mở input rồi chạy. Chỉ [0,100) được free và [0,50) được dùng lại. Giải thích offset 49. Nói rõ đây là logical region reuse, không chứng minh physical frame unmap.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Bảo — 2 phút. Mở input rồi chạy. Chỉ [0,100) được free và [0,50) được dùng lại. Giải thích offset 49. Nói rõ đây là logical region reuse, không chứng minh physical frame unmap.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Quốc An — 45 </a:t>
            </a:r>
            <a:r>
              <a:rPr dirty="0" err="1"/>
              <a:t>giây</a:t>
            </a:r>
            <a:r>
              <a:rPr dirty="0"/>
              <a:t>.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translation và authorization.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thích</a:t>
            </a:r>
            <a:r>
              <a:rPr dirty="0"/>
              <a:t>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sao</a:t>
            </a:r>
            <a:r>
              <a:rPr dirty="0"/>
              <a:t> kernel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tin PID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địa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do user </a:t>
            </a:r>
            <a:r>
              <a:rPr dirty="0" err="1"/>
              <a:t>cung</a:t>
            </a:r>
            <a:r>
              <a:rPr dirty="0"/>
              <a:t> </a:t>
            </a:r>
            <a:r>
              <a:rPr dirty="0" err="1"/>
              <a:t>cấp</a:t>
            </a:r>
            <a:r>
              <a:rPr dirty="0"/>
              <a:t>. </a:t>
            </a:r>
            <a:r>
              <a:rPr dirty="0" err="1"/>
              <a:t>Chuyển</a:t>
            </a:r>
            <a:r>
              <a:rPr dirty="0"/>
              <a:t> sang </a:t>
            </a:r>
            <a:r>
              <a:rPr dirty="0" err="1"/>
              <a:t>syscall</a:t>
            </a:r>
            <a:r>
              <a:rPr dirty="0"/>
              <a:t> 17 và demo </a:t>
            </a:r>
            <a:r>
              <a:rPr dirty="0" err="1"/>
              <a:t>tấn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cross-PID.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An — 1 phút 30 giây. Đi theo flow. Chạy os_syscall_list nếu cần. Giải thích syscall.tbl sinh list/dispatcher, và vì sao PID lookup tốt hơn truyền PCB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Quốc An — 2 phút. Mở owner/intruder nếu thầy hỏi. Nêu operation 4 = physical read, 5 = physical write. Chỉ hai dòng denied. Chuyển Trường Giang: ownership đã được giữ, giờ chứng minh translation 64-bit.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Trường Giang — 45 giây. So sánh flat và sparse page table. Nêu trade-off: tiết kiệm bộ nhớ nhưng cần nhiều bước walk. Giải thích canonical validation phải xảy ra trước walk.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Trường Giang — 2 phút. Giải thích 45-bit page number chia 5 index. Tính 512 entry × 8 byte = 4096 byte/bảng. Nêu canonical sign extension và trade-off page-table walk/TLB.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Trường Giang — 2 phút. Chạy lệnh; giải thích từng địa chỉ và số bytes. Chỉ non-canonical không tạo walk mới. Mở src/mm64.c:paging64_is_canonical và walk_pte nếu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1EB1FDA-1D48-6EDB-89DD-6C53C205FA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17906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3A0BD1-60AE-46F9-AD19-2EC65B00E048}"/>
              </a:ext>
            </a:extLst>
          </p:cNvPr>
          <p:cNvSpPr>
            <a:spLocks noGrp="1"/>
          </p:cNvSpPr>
          <p:nvPr/>
        </p:nvSpPr>
        <p:spPr>
          <a:xfrm>
            <a:off x="0" y="-1"/>
            <a:ext cx="178420" cy="711790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A46CA7-BEF1-4D51-A50A-F2AD4511BEEF}"/>
              </a:ext>
            </a:extLst>
          </p:cNvPr>
          <p:cNvSpPr>
            <a:spLocks noGrp="1"/>
          </p:cNvSpPr>
          <p:nvPr/>
        </p:nvSpPr>
        <p:spPr>
          <a:xfrm>
            <a:off x="590550" y="1974645"/>
            <a:ext cx="6667500" cy="361950"/>
          </a:xfrm>
          <a:prstGeom prst="rect">
            <a:avLst/>
          </a:prstGeom>
          <a:solidFill>
            <a:srgbClr val="F6F3EE"/>
          </a:solidFill>
          <a:ln w="9525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l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BÁO CÁO BÀI TẬP LỚN · CO2018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80655D-0A44-4176-AFD4-18ACD9306B0D}"/>
              </a:ext>
            </a:extLst>
          </p:cNvPr>
          <p:cNvSpPr>
            <a:spLocks noGrp="1"/>
          </p:cNvSpPr>
          <p:nvPr/>
        </p:nvSpPr>
        <p:spPr>
          <a:xfrm>
            <a:off x="590550" y="2336595"/>
            <a:ext cx="8572500" cy="1809750"/>
          </a:xfrm>
          <a:prstGeom prst="rect">
            <a:avLst/>
          </a:prstGeom>
          <a:solidFill>
            <a:srgbClr val="F6F3EE"/>
          </a:solidFill>
          <a:ln w="9525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SIMPLE OPERATING</a:t>
            </a:r>
          </a:p>
          <a:p>
            <a:pPr algn="l"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SYSTEM SIMULATION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7D8A9C-C15B-494D-8BEB-2312022015A3}"/>
              </a:ext>
            </a:extLst>
          </p:cNvPr>
          <p:cNvSpPr>
            <a:spLocks noGrp="1"/>
          </p:cNvSpPr>
          <p:nvPr/>
        </p:nvSpPr>
        <p:spPr>
          <a:xfrm>
            <a:off x="619822" y="3705226"/>
            <a:ext cx="10287000" cy="1905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254B2-AA51-4419-976A-A8A07684CDB4}"/>
              </a:ext>
            </a:extLst>
          </p:cNvPr>
          <p:cNvSpPr>
            <a:spLocks noGrp="1"/>
          </p:cNvSpPr>
          <p:nvPr/>
        </p:nvSpPr>
        <p:spPr>
          <a:xfrm>
            <a:off x="5382322" y="4238626"/>
            <a:ext cx="5148268" cy="1276350"/>
          </a:xfrm>
          <a:prstGeom prst="rect">
            <a:avLst/>
          </a:prstGeom>
          <a:solidFill>
            <a:srgbClr val="F6F3EE"/>
          </a:solidFill>
          <a:ln w="9525">
            <a:noFill/>
            <a:prstDash val="solid"/>
          </a:ln>
        </p:spPr>
        <p:txBody>
          <a:bodyPr wrap="square" lIns="95250" tIns="76200" rIns="95250" bIns="76200" anchor="t">
            <a:normAutofit fontScale="98039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Lớp: L08 </a:t>
            </a:r>
          </a:p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br/>
            <a:r>
              <a:rPr sz="16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GVHD: Thầy Hoàng Lê Hải Thanh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8FC08-3F69-4166-AC57-8C00E88837A5}"/>
              </a:ext>
            </a:extLst>
          </p:cNvPr>
          <p:cNvSpPr>
            <a:spLocks noGrp="1"/>
          </p:cNvSpPr>
          <p:nvPr/>
        </p:nvSpPr>
        <p:spPr>
          <a:xfrm>
            <a:off x="619822" y="4232071"/>
            <a:ext cx="4762500" cy="1809750"/>
          </a:xfrm>
          <a:prstGeom prst="rect">
            <a:avLst/>
          </a:prstGeom>
          <a:solidFill>
            <a:srgbClr val="F6F3EE"/>
          </a:solidFill>
          <a:ln w="9525">
            <a:noFill/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l">
              <a:buNone/>
              <a:defRPr sz="1200" b="0">
                <a:solidFill>
                  <a:srgbClr val="D8E7E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Sinh viên thực hiện</a:t>
            </a:r>
          </a:p>
          <a:p>
            <a:pPr algn="l">
              <a:buNone/>
              <a:defRPr sz="1200" b="0">
                <a:solidFill>
                  <a:srgbClr val="D8E7EF"/>
                </a:solidFill>
                <a:latin typeface="Arial"/>
                <a:ea typeface="Arial"/>
                <a:cs typeface="Arial"/>
              </a:defRPr>
            </a:pPr>
            <a:endParaRPr sz="1600" b="1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00" b="0">
                <a:solidFill>
                  <a:srgbClr val="D8E7E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2410155 - Trần Nhật Bảo Anh</a:t>
            </a:r>
          </a:p>
          <a:p>
            <a:pPr algn="l">
              <a:buNone/>
              <a:defRPr sz="1200" b="0">
                <a:solidFill>
                  <a:srgbClr val="D8E7E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2413707 - Nguyễn Quốc Trung</a:t>
            </a:r>
          </a:p>
          <a:p>
            <a:pPr algn="l">
              <a:buNone/>
              <a:defRPr sz="1200" b="0">
                <a:solidFill>
                  <a:srgbClr val="D8E7E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2410297 - Trần Hoàng Quốc Bảo</a:t>
            </a:r>
          </a:p>
          <a:p>
            <a:pPr>
              <a:buNone/>
              <a:defRPr sz="1200" b="0">
                <a:solidFill>
                  <a:srgbClr val="D8E7E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2410046 - Trịnh Quốc An</a:t>
            </a:r>
          </a:p>
          <a:p>
            <a:pPr>
              <a:buNone/>
              <a:defRPr sz="1200" b="0">
                <a:solidFill>
                  <a:srgbClr val="D8E7E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chemeClr val="accent1">
                    <a:lumMod val="75000"/>
                  </a:schemeClr>
                </a:solidFill>
                <a:latin typeface="Arial"/>
                <a:ea typeface="Arial"/>
                <a:cs typeface="Arial"/>
              </a:rPr>
              <a:t>2410841 - Nguyễn Trường Giang</a:t>
            </a:r>
          </a:p>
          <a:p>
            <a:pPr algn="l">
              <a:buNone/>
              <a:defRPr sz="1200" b="0">
                <a:solidFill>
                  <a:srgbClr val="D8E7EF"/>
                </a:solidFill>
                <a:latin typeface="Arial"/>
                <a:ea typeface="Arial"/>
                <a:cs typeface="Arial"/>
              </a:defRPr>
            </a:pPr>
            <a:endParaRPr sz="1600" b="1">
              <a:solidFill>
                <a:schemeClr val="accent1">
                  <a:lumMod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010AC2-7A44-968E-2403-1D01C33358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17906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0106" y="1529151"/>
            <a:ext cx="10491788" cy="4836843"/>
          </a:xfrm>
          <a:prstGeom prst="rect">
            <a:avLst/>
          </a:prstGeom>
        </p:spPr>
      </p:pic>
      <p:pic>
        <p:nvPicPr>
          <p:cNvPr id="9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29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B13299C-4E9E-4106-9A8C-6281F0E90D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CD43AE-4E5F-4368-AD91-4206F7A1D3A8}"/>
              </a:ext>
            </a:extLst>
          </p:cNvPr>
          <p:cNvSpPr>
            <a:spLocks noGrp="1"/>
          </p:cNvSpPr>
          <p:nvPr/>
        </p:nvSpPr>
        <p:spPr>
          <a:xfrm>
            <a:off x="590860" y="1047125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Clean build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7EF68A-A9C0-4EEF-AC35-55CD07081002}"/>
              </a:ext>
            </a:extLst>
          </p:cNvPr>
          <p:cNvSpPr>
            <a:spLocks noGrp="1"/>
          </p:cNvSpPr>
          <p:nvPr/>
        </p:nvSpPr>
        <p:spPr>
          <a:xfrm flipV="1">
            <a:off x="609909" y="1526376"/>
            <a:ext cx="1891329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72DA1D-4134-4BA4-9AF5-FA0B5B6A2886}"/>
              </a:ext>
            </a:extLst>
          </p:cNvPr>
          <p:cNvSpPr>
            <a:spLocks noGrp="1"/>
          </p:cNvSpPr>
          <p:nvPr/>
        </p:nvSpPr>
        <p:spPr>
          <a:xfrm>
            <a:off x="552760" y="6290248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57CB749-B2F8-4942-AA9B-729624BFC0F4}"/>
              </a:ext>
            </a:extLst>
          </p:cNvPr>
          <p:cNvSpPr>
            <a:spLocks noGrp="1"/>
          </p:cNvSpPr>
          <p:nvPr/>
        </p:nvSpPr>
        <p:spPr>
          <a:xfrm>
            <a:off x="598824" y="2164205"/>
            <a:ext cx="5953125" cy="1381125"/>
          </a:xfrm>
          <a:prstGeom prst="roundRect">
            <a:avLst>
              <a:gd name="adj" fmla="val 5517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16E009-1AAC-40F8-A5E8-62BDAEBA500E}"/>
              </a:ext>
            </a:extLst>
          </p:cNvPr>
          <p:cNvSpPr>
            <a:spLocks noGrp="1"/>
          </p:cNvSpPr>
          <p:nvPr/>
        </p:nvSpPr>
        <p:spPr>
          <a:xfrm>
            <a:off x="598825" y="2164205"/>
            <a:ext cx="5953124" cy="45719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32B7D9-96F5-4908-8C88-67DC2C5CA8BE}"/>
              </a:ext>
            </a:extLst>
          </p:cNvPr>
          <p:cNvSpPr>
            <a:spLocks noGrp="1"/>
          </p:cNvSpPr>
          <p:nvPr/>
        </p:nvSpPr>
        <p:spPr>
          <a:xfrm>
            <a:off x="713125" y="2240405"/>
            <a:ext cx="424815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CHẠY TRỰC TIẾP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384C25-6613-4489-9DBB-AD0E2A53087B}"/>
              </a:ext>
            </a:extLst>
          </p:cNvPr>
          <p:cNvSpPr>
            <a:spLocks noGrp="1"/>
          </p:cNvSpPr>
          <p:nvPr/>
        </p:nvSpPr>
        <p:spPr>
          <a:xfrm>
            <a:off x="713125" y="2526155"/>
            <a:ext cx="4248150" cy="923925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7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make clean &amp;&amp; make all</a:t>
            </a:r>
          </a:p>
          <a:p>
            <a:pPr algn="l">
              <a:buNone/>
              <a:defRPr sz="17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make test</a:t>
            </a:r>
          </a:p>
        </p:txBody>
      </p:sp>
      <p:pic>
        <p:nvPicPr>
          <p:cNvPr id="36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10735" y="2164205"/>
            <a:ext cx="3318316" cy="357187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97F61D4-9413-4158-980A-134A36C6900B}"/>
              </a:ext>
            </a:extLst>
          </p:cNvPr>
          <p:cNvSpPr>
            <a:spLocks noGrp="1"/>
          </p:cNvSpPr>
          <p:nvPr/>
        </p:nvSpPr>
        <p:spPr>
          <a:xfrm>
            <a:off x="598825" y="4021580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AE9549-EF4A-4643-8C46-FC2148BF894E}"/>
              </a:ext>
            </a:extLst>
          </p:cNvPr>
          <p:cNvSpPr>
            <a:spLocks noGrp="1"/>
          </p:cNvSpPr>
          <p:nvPr/>
        </p:nvSpPr>
        <p:spPr>
          <a:xfrm>
            <a:off x="598825" y="4021580"/>
            <a:ext cx="76200" cy="904875"/>
          </a:xfrm>
          <a:prstGeom prst="rect">
            <a:avLst/>
          </a:prstGeom>
          <a:solidFill>
            <a:srgbClr val="092B4C"/>
          </a:solidFill>
          <a:ln w="9525">
            <a:solidFill>
              <a:srgbClr val="092B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F4B006-C3B1-46DE-9656-5D39B592BA1F}"/>
              </a:ext>
            </a:extLst>
          </p:cNvPr>
          <p:cNvSpPr>
            <a:spLocks noGrp="1"/>
          </p:cNvSpPr>
          <p:nvPr/>
        </p:nvSpPr>
        <p:spPr>
          <a:xfrm>
            <a:off x="789325" y="4135880"/>
            <a:ext cx="2552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E30AE8-CB02-4FFC-A298-D3834A63CC50}"/>
              </a:ext>
            </a:extLst>
          </p:cNvPr>
          <p:cNvSpPr>
            <a:spLocks noGrp="1"/>
          </p:cNvSpPr>
          <p:nvPr/>
        </p:nvSpPr>
        <p:spPr>
          <a:xfrm>
            <a:off x="789325" y="4440680"/>
            <a:ext cx="2552700" cy="3905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 fontScale="85648" lnSpcReduction="10000"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Source hiện tại biên dịch từ trạng thái </a:t>
            </a:r>
            <a:r>
              <a:rPr sz="1350">
                <a:solidFill>
                  <a:srgbClr val="17212B"/>
                </a:solidFill>
                <a:latin typeface="Arial"/>
                <a:ea typeface="Arial"/>
                <a:cs typeface="Arial"/>
              </a:rPr>
              <a:t>ban đầu.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DFCC8CD-453F-41AF-AF4B-311CB6EE1DE0}"/>
              </a:ext>
            </a:extLst>
          </p:cNvPr>
          <p:cNvSpPr>
            <a:spLocks noGrp="1"/>
          </p:cNvSpPr>
          <p:nvPr/>
        </p:nvSpPr>
        <p:spPr>
          <a:xfrm>
            <a:off x="3694450" y="4021580"/>
            <a:ext cx="285750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F36C9D-0F47-40D1-B8E0-75A706A6D24D}"/>
              </a:ext>
            </a:extLst>
          </p:cNvPr>
          <p:cNvSpPr>
            <a:spLocks noGrp="1"/>
          </p:cNvSpPr>
          <p:nvPr/>
        </p:nvSpPr>
        <p:spPr>
          <a:xfrm>
            <a:off x="3694450" y="4021580"/>
            <a:ext cx="76200" cy="904875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D4AD6F-9D71-41F8-85FC-D2D55C8549DB}"/>
              </a:ext>
            </a:extLst>
          </p:cNvPr>
          <p:cNvSpPr>
            <a:spLocks noGrp="1"/>
          </p:cNvSpPr>
          <p:nvPr/>
        </p:nvSpPr>
        <p:spPr>
          <a:xfrm>
            <a:off x="3884950" y="4135880"/>
            <a:ext cx="2552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657855-59AD-4128-AAFE-49B767434744}"/>
              </a:ext>
            </a:extLst>
          </p:cNvPr>
          <p:cNvSpPr>
            <a:spLocks noGrp="1"/>
          </p:cNvSpPr>
          <p:nvPr/>
        </p:nvSpPr>
        <p:spPr>
          <a:xfrm>
            <a:off x="3884950" y="4440680"/>
            <a:ext cx="2552700" cy="3905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23 configuration chạy đến cuối.</a:t>
            </a:r>
          </a:p>
        </p:txBody>
      </p:sp>
      <p:pic>
        <p:nvPicPr>
          <p:cNvPr id="45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897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269BAE5-44C1-42BF-B8D0-338A0A3545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FA4D3B-422D-41C1-B002-E9257A868B71}"/>
              </a:ext>
            </a:extLst>
          </p:cNvPr>
          <p:cNvSpPr>
            <a:spLocks noGrp="1"/>
          </p:cNvSpPr>
          <p:nvPr/>
        </p:nvSpPr>
        <p:spPr>
          <a:xfrm>
            <a:off x="620840" y="1092090"/>
            <a:ext cx="278192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Kiến thức nền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A584A-6B4E-4F22-BB93-6E6717638D00}"/>
              </a:ext>
            </a:extLst>
          </p:cNvPr>
          <p:cNvSpPr>
            <a:spLocks noGrp="1"/>
          </p:cNvSpPr>
          <p:nvPr/>
        </p:nvSpPr>
        <p:spPr>
          <a:xfrm>
            <a:off x="654880" y="1617060"/>
            <a:ext cx="2236970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9DB6A1-7C4F-4D23-BE2A-36BBCE6E9B32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ED14B4D-BB5E-4BC6-9D80-AC1E403E9779}"/>
              </a:ext>
            </a:extLst>
          </p:cNvPr>
          <p:cNvSpPr>
            <a:spLocks noGrp="1"/>
          </p:cNvSpPr>
          <p:nvPr/>
        </p:nvSpPr>
        <p:spPr>
          <a:xfrm>
            <a:off x="921580" y="4487214"/>
            <a:ext cx="4953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5AB45B-56E0-4C42-BE01-1DF807700509}"/>
              </a:ext>
            </a:extLst>
          </p:cNvPr>
          <p:cNvSpPr>
            <a:spLocks noGrp="1"/>
          </p:cNvSpPr>
          <p:nvPr/>
        </p:nvSpPr>
        <p:spPr>
          <a:xfrm>
            <a:off x="921580" y="4487214"/>
            <a:ext cx="76200" cy="1238250"/>
          </a:xfrm>
          <a:prstGeom prst="rect">
            <a:avLst/>
          </a:prstGeom>
          <a:solidFill>
            <a:srgbClr val="092B4C"/>
          </a:solidFill>
          <a:ln w="9525">
            <a:solidFill>
              <a:srgbClr val="092B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23CD8A-EB3B-4EC8-9060-D4C98B51C7FC}"/>
              </a:ext>
            </a:extLst>
          </p:cNvPr>
          <p:cNvSpPr>
            <a:spLocks noGrp="1"/>
          </p:cNvSpPr>
          <p:nvPr/>
        </p:nvSpPr>
        <p:spPr>
          <a:xfrm>
            <a:off x="1112080" y="4601514"/>
            <a:ext cx="4648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SCHEDULING BOUNDARY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616A86-2899-4713-9F7F-15982BE958EE}"/>
              </a:ext>
            </a:extLst>
          </p:cNvPr>
          <p:cNvSpPr>
            <a:spLocks noGrp="1"/>
          </p:cNvSpPr>
          <p:nvPr/>
        </p:nvSpPr>
        <p:spPr>
          <a:xfrm>
            <a:off x="1112080" y="4906314"/>
            <a:ext cx="4648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Thời điểm CPU xin process mới: lúc bắt đầu, hết quantum hoặc process hoàn thành.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640509D-BCB1-4E70-9292-07E6A29B7953}"/>
              </a:ext>
            </a:extLst>
          </p:cNvPr>
          <p:cNvSpPr>
            <a:spLocks noGrp="1"/>
          </p:cNvSpPr>
          <p:nvPr/>
        </p:nvSpPr>
        <p:spPr>
          <a:xfrm>
            <a:off x="6446080" y="4487214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3327BD-C1F3-4FF2-91DB-8416AE47EF14}"/>
              </a:ext>
            </a:extLst>
          </p:cNvPr>
          <p:cNvSpPr>
            <a:spLocks noGrp="1"/>
          </p:cNvSpPr>
          <p:nvPr/>
        </p:nvSpPr>
        <p:spPr>
          <a:xfrm>
            <a:off x="6446080" y="4487214"/>
            <a:ext cx="76200" cy="1238250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FE3EF4-7AA0-4305-91C9-2EBD1A4436FC}"/>
              </a:ext>
            </a:extLst>
          </p:cNvPr>
          <p:cNvSpPr>
            <a:spLocks noGrp="1"/>
          </p:cNvSpPr>
          <p:nvPr/>
        </p:nvSpPr>
        <p:spPr>
          <a:xfrm>
            <a:off x="6636580" y="4601514"/>
            <a:ext cx="5029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PROPERTY SẮP DEMO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563778-AE7F-475B-B088-A9BA2DC7C9DA}"/>
              </a:ext>
            </a:extLst>
          </p:cNvPr>
          <p:cNvSpPr>
            <a:spLocks noGrp="1"/>
          </p:cNvSpPr>
          <p:nvPr/>
        </p:nvSpPr>
        <p:spPr>
          <a:xfrm>
            <a:off x="6636580" y="4906314"/>
            <a:ext cx="5029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Priority/quota quyết định lần dispatch kế tiếp; không cướp giữa một instruction.</a:t>
            </a:r>
          </a:p>
        </p:txBody>
      </p:sp>
      <p:pic>
        <p:nvPicPr>
          <p:cNvPr id="40" name="Picture 25"/>
          <p:cNvPicPr>
            <a:picLocks noChangeAspect="1"/>
          </p:cNvPicPr>
          <p:nvPr/>
        </p:nvPicPr>
        <p:blipFill>
          <a:blip r:embed="rId3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9510" y="2011490"/>
            <a:ext cx="9095639" cy="2121314"/>
          </a:xfrm>
          <a:prstGeom prst="rect">
            <a:avLst/>
          </a:prstGeom>
        </p:spPr>
      </p:pic>
      <p:pic>
        <p:nvPicPr>
          <p:cNvPr id="41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5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78CD59B-D5C2-4F6C-AFB6-7735ED6425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EE41B9-0697-4C83-BAD0-F5DEA845C027}"/>
              </a:ext>
            </a:extLst>
          </p:cNvPr>
          <p:cNvSpPr>
            <a:spLocks noGrp="1"/>
          </p:cNvSpPr>
          <p:nvPr/>
        </p:nvSpPr>
        <p:spPr>
          <a:xfrm>
            <a:off x="620841" y="1077100"/>
            <a:ext cx="9647420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Scheduler kết hợp bốn khái niệm — không được trộn lẫn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1E0657-4587-438D-833B-A91CB6A13115}"/>
              </a:ext>
            </a:extLst>
          </p:cNvPr>
          <p:cNvSpPr>
            <a:spLocks noGrp="1"/>
          </p:cNvSpPr>
          <p:nvPr/>
        </p:nvSpPr>
        <p:spPr>
          <a:xfrm>
            <a:off x="639889" y="1557099"/>
            <a:ext cx="9267825" cy="629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F74187-EB8A-474A-BDB6-8D30D6C85563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B79540-E64F-4C0E-AE69-237A6DDC9184}"/>
              </a:ext>
            </a:extLst>
          </p:cNvPr>
          <p:cNvSpPr>
            <a:spLocks noGrp="1"/>
          </p:cNvSpPr>
          <p:nvPr/>
        </p:nvSpPr>
        <p:spPr>
          <a:xfrm>
            <a:off x="671120" y="2239150"/>
            <a:ext cx="2476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54A78A-C2B5-46B5-BEA3-B49C9C698BCA}"/>
              </a:ext>
            </a:extLst>
          </p:cNvPr>
          <p:cNvSpPr>
            <a:spLocks noGrp="1"/>
          </p:cNvSpPr>
          <p:nvPr/>
        </p:nvSpPr>
        <p:spPr>
          <a:xfrm>
            <a:off x="671120" y="2239150"/>
            <a:ext cx="76200" cy="1143000"/>
          </a:xfrm>
          <a:prstGeom prst="rect">
            <a:avLst/>
          </a:prstGeom>
          <a:solidFill>
            <a:srgbClr val="092B4C"/>
          </a:solidFill>
          <a:ln w="9525">
            <a:solidFill>
              <a:srgbClr val="092B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87A9C4-5F0B-4A1C-9C7E-8059A13687DE}"/>
              </a:ext>
            </a:extLst>
          </p:cNvPr>
          <p:cNvSpPr>
            <a:spLocks noGrp="1"/>
          </p:cNvSpPr>
          <p:nvPr/>
        </p:nvSpPr>
        <p:spPr>
          <a:xfrm>
            <a:off x="861620" y="2353450"/>
            <a:ext cx="2171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E4C66D-701F-4C1B-BC0E-B4706756ED5E}"/>
              </a:ext>
            </a:extLst>
          </p:cNvPr>
          <p:cNvSpPr>
            <a:spLocks noGrp="1"/>
          </p:cNvSpPr>
          <p:nvPr/>
        </p:nvSpPr>
        <p:spPr>
          <a:xfrm>
            <a:off x="861620" y="2658250"/>
            <a:ext cx="21717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Queue có số nhỏ hơn được quét trước.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B9CF593-1F6E-4255-A930-9E61817D4EA9}"/>
              </a:ext>
            </a:extLst>
          </p:cNvPr>
          <p:cNvSpPr>
            <a:spLocks noGrp="1"/>
          </p:cNvSpPr>
          <p:nvPr/>
        </p:nvSpPr>
        <p:spPr>
          <a:xfrm>
            <a:off x="3385745" y="2239150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C93137-EFB3-4B11-B1ED-043A396D098E}"/>
              </a:ext>
            </a:extLst>
          </p:cNvPr>
          <p:cNvSpPr>
            <a:spLocks noGrp="1"/>
          </p:cNvSpPr>
          <p:nvPr/>
        </p:nvSpPr>
        <p:spPr>
          <a:xfrm>
            <a:off x="3385745" y="2239150"/>
            <a:ext cx="76200" cy="1143000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58FFA1-CDE4-427B-B964-2415192E4F6B}"/>
              </a:ext>
            </a:extLst>
          </p:cNvPr>
          <p:cNvSpPr>
            <a:spLocks noGrp="1"/>
          </p:cNvSpPr>
          <p:nvPr/>
        </p:nvSpPr>
        <p:spPr>
          <a:xfrm>
            <a:off x="3576245" y="2353450"/>
            <a:ext cx="2362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WEIGHTED SLOT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E3FAE9-EDF5-4786-92A7-BBCF7738A1C2}"/>
              </a:ext>
            </a:extLst>
          </p:cNvPr>
          <p:cNvSpPr>
            <a:spLocks noGrp="1"/>
          </p:cNvSpPr>
          <p:nvPr/>
        </p:nvSpPr>
        <p:spPr>
          <a:xfrm>
            <a:off x="3576245" y="2658250"/>
            <a:ext cx="2362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Số lần một queue được chọn trong một chu kỳ.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D07A38C-FDDC-4F48-A70B-21E5D097F426}"/>
              </a:ext>
            </a:extLst>
          </p:cNvPr>
          <p:cNvSpPr>
            <a:spLocks noGrp="1"/>
          </p:cNvSpPr>
          <p:nvPr/>
        </p:nvSpPr>
        <p:spPr>
          <a:xfrm>
            <a:off x="6290870" y="2239150"/>
            <a:ext cx="2571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3F310B-73B4-428F-B144-92900870A592}"/>
              </a:ext>
            </a:extLst>
          </p:cNvPr>
          <p:cNvSpPr>
            <a:spLocks noGrp="1"/>
          </p:cNvSpPr>
          <p:nvPr/>
        </p:nvSpPr>
        <p:spPr>
          <a:xfrm>
            <a:off x="6290870" y="2239150"/>
            <a:ext cx="76200" cy="114300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CB1825-F4AE-47D3-982D-6E240DF30F07}"/>
              </a:ext>
            </a:extLst>
          </p:cNvPr>
          <p:cNvSpPr>
            <a:spLocks noGrp="1"/>
          </p:cNvSpPr>
          <p:nvPr/>
        </p:nvSpPr>
        <p:spPr>
          <a:xfrm>
            <a:off x="6481370" y="2353450"/>
            <a:ext cx="22669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QUANTUM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1A5F13-D1A2-4257-9EEF-22A8FBD6CEF1}"/>
              </a:ext>
            </a:extLst>
          </p:cNvPr>
          <p:cNvSpPr>
            <a:spLocks noGrp="1"/>
          </p:cNvSpPr>
          <p:nvPr/>
        </p:nvSpPr>
        <p:spPr>
          <a:xfrm>
            <a:off x="6481370" y="2658250"/>
            <a:ext cx="22669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Số instruction tối đa của một lần dispatch.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45C3262-8CE5-4EE1-A741-037BF4DA1543}"/>
              </a:ext>
            </a:extLst>
          </p:cNvPr>
          <p:cNvSpPr>
            <a:spLocks noGrp="1"/>
          </p:cNvSpPr>
          <p:nvPr/>
        </p:nvSpPr>
        <p:spPr>
          <a:xfrm>
            <a:off x="9100745" y="2239150"/>
            <a:ext cx="2809875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A2E22F-AB74-44A6-BD66-2D7FEFEC351A}"/>
              </a:ext>
            </a:extLst>
          </p:cNvPr>
          <p:cNvSpPr>
            <a:spLocks noGrp="1"/>
          </p:cNvSpPr>
          <p:nvPr/>
        </p:nvSpPr>
        <p:spPr>
          <a:xfrm>
            <a:off x="9100745" y="2239150"/>
            <a:ext cx="76200" cy="1143000"/>
          </a:xfrm>
          <a:prstGeom prst="rect">
            <a:avLst/>
          </a:prstGeom>
          <a:solidFill>
            <a:srgbClr val="092B4C"/>
          </a:solidFill>
          <a:ln w="9525">
            <a:solidFill>
              <a:srgbClr val="092B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86CFF7-ABBE-4E6B-AD7F-C3C619DAA9A8}"/>
              </a:ext>
            </a:extLst>
          </p:cNvPr>
          <p:cNvSpPr>
            <a:spLocks noGrp="1"/>
          </p:cNvSpPr>
          <p:nvPr/>
        </p:nvSpPr>
        <p:spPr>
          <a:xfrm>
            <a:off x="9291245" y="2353450"/>
            <a:ext cx="2505075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FIFO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BB88BE-A734-4E87-A493-66EE83399366}"/>
              </a:ext>
            </a:extLst>
          </p:cNvPr>
          <p:cNvSpPr>
            <a:spLocks noGrp="1"/>
          </p:cNvSpPr>
          <p:nvPr/>
        </p:nvSpPr>
        <p:spPr>
          <a:xfrm>
            <a:off x="9291245" y="2658250"/>
            <a:ext cx="2505075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Thứ tự lấy PCB trong cùng một priority queue.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12557A-BF9C-4F36-8CA1-BA8BE47FCF4E}"/>
              </a:ext>
            </a:extLst>
          </p:cNvPr>
          <p:cNvSpPr>
            <a:spLocks noGrp="1"/>
          </p:cNvSpPr>
          <p:nvPr/>
        </p:nvSpPr>
        <p:spPr>
          <a:xfrm>
            <a:off x="3476625" y="3761435"/>
            <a:ext cx="5238750" cy="666750"/>
          </a:xfrm>
          <a:prstGeom prst="rect">
            <a:avLst/>
          </a:prstGeom>
          <a:solidFill>
            <a:srgbClr val="F8E8D8"/>
          </a:solidFill>
          <a:ln w="9525">
            <a:solidFill>
              <a:srgbClr val="F8E8D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270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slot[prio] = 140 − prio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49B51A-1162-4818-A195-945A5C3A2049}"/>
              </a:ext>
            </a:extLst>
          </p:cNvPr>
          <p:cNvSpPr>
            <a:spLocks noGrp="1"/>
          </p:cNvSpPr>
          <p:nvPr/>
        </p:nvSpPr>
        <p:spPr>
          <a:xfrm>
            <a:off x="1809750" y="4761560"/>
            <a:ext cx="8572500" cy="5524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ctr">
              <a:buNone/>
              <a:defRPr sz="172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Một weighted slot ≈ một lần dispatch; mỗi dispatch chạy tối đa một quantum.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C3B2A3-20A1-4E03-A07C-9DEA713D8EC3}"/>
              </a:ext>
            </a:extLst>
          </p:cNvPr>
          <p:cNvSpPr>
            <a:spLocks noGrp="1"/>
          </p:cNvSpPr>
          <p:nvPr/>
        </p:nvSpPr>
        <p:spPr>
          <a:xfrm>
            <a:off x="2053180" y="5152085"/>
            <a:ext cx="7143750" cy="762000"/>
          </a:xfrm>
          <a:prstGeom prst="rect">
            <a:avLst/>
          </a:prstGeom>
          <a:solidFill>
            <a:srgbClr val="F6F3EE"/>
          </a:solidFill>
          <a:ln w="9525">
            <a:solidFill>
              <a:srgbClr val="E5EFF4"/>
            </a:solidFill>
            <a:prstDash val="solid"/>
          </a:ln>
        </p:spPr>
        <p:txBody>
          <a:bodyPr wrap="square" lIns="76200" tIns="76200" rIns="76200" bIns="7620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queue_lock bảo vệ chuyển PCB READY ↔ RUNNING</a:t>
            </a:r>
          </a:p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• running_list là registry của PCB đang chạy</a:t>
            </a:r>
          </a:p>
        </p:txBody>
      </p:sp>
      <p:pic>
        <p:nvPicPr>
          <p:cNvPr id="51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FD697F-FDD9-42EC-B559-9D5DC3AD42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D8CD00-BA4D-46BE-8865-FCCE5B9F1D3F}"/>
              </a:ext>
            </a:extLst>
          </p:cNvPr>
          <p:cNvSpPr>
            <a:spLocks noGrp="1"/>
          </p:cNvSpPr>
          <p:nvPr/>
        </p:nvSpPr>
        <p:spPr>
          <a:xfrm>
            <a:off x="575872" y="1122070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 fontScale="88754" lnSpcReduction="20000"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Priority cao thay đổi lần dispatch kế tiếp — không cướp instruction đang chạy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87ACDF-5503-46CB-A8ED-664C7C6DA9B6}"/>
              </a:ext>
            </a:extLst>
          </p:cNvPr>
          <p:cNvSpPr>
            <a:spLocks noGrp="1"/>
          </p:cNvSpPr>
          <p:nvPr/>
        </p:nvSpPr>
        <p:spPr>
          <a:xfrm>
            <a:off x="594922" y="1826920"/>
            <a:ext cx="990600" cy="3810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3BBFF-EA69-4821-8883-913D31ECC2AA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443628A-057A-4D88-9BAB-24E6192A8FE9}"/>
              </a:ext>
            </a:extLst>
          </p:cNvPr>
          <p:cNvSpPr>
            <a:spLocks noGrp="1"/>
          </p:cNvSpPr>
          <p:nvPr/>
        </p:nvSpPr>
        <p:spPr>
          <a:xfrm>
            <a:off x="623497" y="2236495"/>
            <a:ext cx="2952750" cy="1714500"/>
          </a:xfrm>
          <a:prstGeom prst="roundRect">
            <a:avLst>
              <a:gd name="adj" fmla="val 4444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19E69-CE42-4FE2-8AD9-79E2F0792027}"/>
              </a:ext>
            </a:extLst>
          </p:cNvPr>
          <p:cNvSpPr>
            <a:spLocks noGrp="1"/>
          </p:cNvSpPr>
          <p:nvPr/>
        </p:nvSpPr>
        <p:spPr>
          <a:xfrm>
            <a:off x="623497" y="2236495"/>
            <a:ext cx="2952750" cy="47625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4E1230-52E9-4DC2-A454-4EFDA7A6704C}"/>
              </a:ext>
            </a:extLst>
          </p:cNvPr>
          <p:cNvSpPr>
            <a:spLocks noGrp="1"/>
          </p:cNvSpPr>
          <p:nvPr/>
        </p:nvSpPr>
        <p:spPr>
          <a:xfrm>
            <a:off x="737797" y="2312695"/>
            <a:ext cx="272415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INPUT / sched_prio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6418AF-9863-4DDF-9C66-BE9DCE47C5A7}"/>
              </a:ext>
            </a:extLst>
          </p:cNvPr>
          <p:cNvSpPr>
            <a:spLocks noGrp="1"/>
          </p:cNvSpPr>
          <p:nvPr/>
        </p:nvSpPr>
        <p:spPr>
          <a:xfrm>
            <a:off x="737797" y="2598445"/>
            <a:ext cx="2724150" cy="12573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6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2 1 2</a:t>
            </a:r>
          </a:p>
          <a:p>
            <a:pPr algn="l">
              <a:buNone/>
              <a:defRPr sz="16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0 s1 1</a:t>
            </a:r>
          </a:p>
          <a:p>
            <a:pPr algn="l">
              <a:buNone/>
              <a:defRPr sz="16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1 s0 0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501FEF-18C9-414F-99CA-7A77909DA8ED}"/>
              </a:ext>
            </a:extLst>
          </p:cNvPr>
          <p:cNvSpPr>
            <a:spLocks noGrp="1"/>
          </p:cNvSpPr>
          <p:nvPr/>
        </p:nvSpPr>
        <p:spPr>
          <a:xfrm>
            <a:off x="623497" y="4386645"/>
            <a:ext cx="2952750" cy="1238250"/>
          </a:xfrm>
          <a:prstGeom prst="roundRect">
            <a:avLst>
              <a:gd name="adj" fmla="val 6154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30FF0D-9679-4F5A-AFA6-9825D1737CE8}"/>
              </a:ext>
            </a:extLst>
          </p:cNvPr>
          <p:cNvSpPr>
            <a:spLocks noGrp="1"/>
          </p:cNvSpPr>
          <p:nvPr/>
        </p:nvSpPr>
        <p:spPr>
          <a:xfrm>
            <a:off x="623497" y="4371655"/>
            <a:ext cx="2952750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52784A-91B9-4FD0-956A-7100D15B93DB}"/>
              </a:ext>
            </a:extLst>
          </p:cNvPr>
          <p:cNvSpPr>
            <a:spLocks noGrp="1"/>
          </p:cNvSpPr>
          <p:nvPr/>
        </p:nvSpPr>
        <p:spPr>
          <a:xfrm>
            <a:off x="737797" y="4447855"/>
            <a:ext cx="272415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LỆNH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BBFDEE-368A-4219-8697-4B30C11A324F}"/>
              </a:ext>
            </a:extLst>
          </p:cNvPr>
          <p:cNvSpPr>
            <a:spLocks noGrp="1"/>
          </p:cNvSpPr>
          <p:nvPr/>
        </p:nvSpPr>
        <p:spPr>
          <a:xfrm>
            <a:off x="737797" y="4733605"/>
            <a:ext cx="2724150" cy="78105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./os sched_prio | grep -E</a:t>
            </a:r>
          </a:p>
          <a:p>
            <a:pPr algn="l">
              <a:buNone/>
              <a:def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"Loaded|Dispatched|Put process|finished"</a:t>
            </a:r>
          </a:p>
        </p:txBody>
      </p:sp>
      <p:pic>
        <p:nvPicPr>
          <p:cNvPr id="40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4872" y="2245096"/>
            <a:ext cx="7905750" cy="1129393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7CB14CE-9FA7-471E-895C-4A4F7A4CE0F8}"/>
              </a:ext>
            </a:extLst>
          </p:cNvPr>
          <p:cNvSpPr>
            <a:spLocks noGrp="1"/>
          </p:cNvSpPr>
          <p:nvPr/>
        </p:nvSpPr>
        <p:spPr>
          <a:xfrm>
            <a:off x="4004872" y="3581555"/>
            <a:ext cx="3714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F01E51-B330-4855-9A6A-36C7EECB13E6}"/>
              </a:ext>
            </a:extLst>
          </p:cNvPr>
          <p:cNvSpPr>
            <a:spLocks noGrp="1"/>
          </p:cNvSpPr>
          <p:nvPr/>
        </p:nvSpPr>
        <p:spPr>
          <a:xfrm>
            <a:off x="4004872" y="3581555"/>
            <a:ext cx="76200" cy="1190625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1E14F9-546E-4433-951F-4832D9B4FAF3}"/>
              </a:ext>
            </a:extLst>
          </p:cNvPr>
          <p:cNvSpPr>
            <a:spLocks noGrp="1"/>
          </p:cNvSpPr>
          <p:nvPr/>
        </p:nvSpPr>
        <p:spPr>
          <a:xfrm>
            <a:off x="4195372" y="3695855"/>
            <a:ext cx="34099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INPUT CÔ LẬP PROPERTY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48AB74-E8F8-49FF-B3CC-D76696E41F41}"/>
              </a:ext>
            </a:extLst>
          </p:cNvPr>
          <p:cNvSpPr>
            <a:spLocks noGrp="1"/>
          </p:cNvSpPr>
          <p:nvPr/>
        </p:nvSpPr>
        <p:spPr>
          <a:xfrm>
            <a:off x="4195372" y="4000655"/>
            <a:ext cx="3409950" cy="6762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PID 2 priority 0 đến sau khi PID 1 priority 1 đã bắt đầu.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B424946-2B24-4D06-9343-3B25893B8F84}"/>
              </a:ext>
            </a:extLst>
          </p:cNvPr>
          <p:cNvSpPr>
            <a:spLocks noGrp="1"/>
          </p:cNvSpPr>
          <p:nvPr/>
        </p:nvSpPr>
        <p:spPr>
          <a:xfrm>
            <a:off x="8170262" y="3581555"/>
            <a:ext cx="3714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E47F5B-28B4-4C07-92A6-51CC3AF6EBA6}"/>
              </a:ext>
            </a:extLst>
          </p:cNvPr>
          <p:cNvSpPr>
            <a:spLocks noGrp="1"/>
          </p:cNvSpPr>
          <p:nvPr/>
        </p:nvSpPr>
        <p:spPr>
          <a:xfrm>
            <a:off x="8170262" y="3581555"/>
            <a:ext cx="76200" cy="1190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87829C-993E-4608-85B2-5AC8E22F54AF}"/>
              </a:ext>
            </a:extLst>
          </p:cNvPr>
          <p:cNvSpPr>
            <a:spLocks noGrp="1"/>
          </p:cNvSpPr>
          <p:nvPr/>
        </p:nvSpPr>
        <p:spPr>
          <a:xfrm>
            <a:off x="8360762" y="3695855"/>
            <a:ext cx="34099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OUTPUT CẦN CHỈ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AA14E4-51D5-4E61-8176-102477090CD5}"/>
              </a:ext>
            </a:extLst>
          </p:cNvPr>
          <p:cNvSpPr>
            <a:spLocks noGrp="1"/>
          </p:cNvSpPr>
          <p:nvPr/>
        </p:nvSpPr>
        <p:spPr>
          <a:xfrm>
            <a:off x="8360762" y="4000655"/>
            <a:ext cx="3409950" cy="6762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PID 2 chỉ dispatch sau dòng “Put process 1”.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3E1D82-3AC9-400E-AECE-DC31E21943A7}"/>
              </a:ext>
            </a:extLst>
          </p:cNvPr>
          <p:cNvSpPr>
            <a:spLocks noGrp="1"/>
          </p:cNvSpPr>
          <p:nvPr/>
        </p:nvSpPr>
        <p:spPr>
          <a:xfrm>
            <a:off x="4000500" y="5065895"/>
            <a:ext cx="7334250" cy="590550"/>
          </a:xfrm>
          <a:prstGeom prst="rect">
            <a:avLst/>
          </a:prstGeom>
          <a:solidFill>
            <a:srgbClr val="DFF2F1"/>
          </a:solidFill>
          <a:ln w="9525">
            <a:solidFill>
              <a:srgbClr val="DFF2F1"/>
            </a:solidFill>
            <a:prstDash val="solid"/>
          </a:ln>
        </p:spPr>
        <p:txBody>
          <a:bodyPr wrap="square" lIns="95250" tIns="76200" rIns="95250" bIns="76200" anchor="t">
            <a:normAutofit fontScale="91270"/>
          </a:bodyPr>
          <a:lstStyle/>
          <a:p>
            <a:pPr algn="ctr">
              <a:buNone/>
              <a:defRPr sz="157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Kết luận: preemption tại scheduling boundary, không phải immediate priority preemption.</a:t>
            </a:r>
          </a:p>
        </p:txBody>
      </p:sp>
      <p:pic>
        <p:nvPicPr>
          <p:cNvPr id="50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74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0D7BC8D-39EC-4AFB-A1F1-0DA5725AC4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FCE1D8-BD79-40C6-ADBA-E5A79872D29D}"/>
              </a:ext>
            </a:extLst>
          </p:cNvPr>
          <p:cNvSpPr>
            <a:spLocks noGrp="1"/>
          </p:cNvSpPr>
          <p:nvPr/>
        </p:nvSpPr>
        <p:spPr>
          <a:xfrm>
            <a:off x="575870" y="1286966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 fontScale="87710" lnSpcReduction="20000"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Quota buộc scheduler chuyển queue trước khi process ưu tiên cao hoàn thành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B3768-D5C2-4890-9440-78C145634A26}"/>
              </a:ext>
            </a:extLst>
          </p:cNvPr>
          <p:cNvSpPr>
            <a:spLocks noGrp="1"/>
          </p:cNvSpPr>
          <p:nvPr/>
        </p:nvSpPr>
        <p:spPr>
          <a:xfrm flipV="1">
            <a:off x="594919" y="1946097"/>
            <a:ext cx="10662693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E07E4-6862-4DDC-8DC0-2E432080D70A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BD395FA-EE5E-4C47-8403-15E6FEBAC382}"/>
              </a:ext>
            </a:extLst>
          </p:cNvPr>
          <p:cNvSpPr>
            <a:spLocks noGrp="1"/>
          </p:cNvSpPr>
          <p:nvPr/>
        </p:nvSpPr>
        <p:spPr>
          <a:xfrm>
            <a:off x="623495" y="2306141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AA12FC-8474-44CC-BC4F-3AAE35099C75}"/>
              </a:ext>
            </a:extLst>
          </p:cNvPr>
          <p:cNvSpPr>
            <a:spLocks noGrp="1"/>
          </p:cNvSpPr>
          <p:nvPr/>
        </p:nvSpPr>
        <p:spPr>
          <a:xfrm>
            <a:off x="623495" y="2306141"/>
            <a:ext cx="2857500" cy="47625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76D209-D337-4736-96DA-CBB47E564F41}"/>
              </a:ext>
            </a:extLst>
          </p:cNvPr>
          <p:cNvSpPr>
            <a:spLocks noGrp="1"/>
          </p:cNvSpPr>
          <p:nvPr/>
        </p:nvSpPr>
        <p:spPr>
          <a:xfrm>
            <a:off x="737795" y="2382341"/>
            <a:ext cx="262890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INPUT / sched_out_of_slot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265E00-DD7B-4DEB-8A22-E5C677959AC2}"/>
              </a:ext>
            </a:extLst>
          </p:cNvPr>
          <p:cNvSpPr>
            <a:spLocks noGrp="1"/>
          </p:cNvSpPr>
          <p:nvPr/>
        </p:nvSpPr>
        <p:spPr>
          <a:xfrm>
            <a:off x="737795" y="2668091"/>
            <a:ext cx="2628900" cy="135255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2 1 3</a:t>
            </a:r>
          </a:p>
          <a:p>
            <a:pPr algn="l">
              <a:buNone/>
              <a:def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0 s0 139</a:t>
            </a:r>
          </a:p>
          <a:p>
            <a:pPr algn="l">
              <a:buNone/>
              <a:def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1 s1 138</a:t>
            </a:r>
          </a:p>
          <a:p>
            <a:pPr algn="l">
              <a:buNone/>
              <a:def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2 s2 137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4ADEC4-80C6-411A-9A6C-ABCEE09B530C}"/>
              </a:ext>
            </a:extLst>
          </p:cNvPr>
          <p:cNvSpPr>
            <a:spLocks noGrp="1"/>
          </p:cNvSpPr>
          <p:nvPr/>
        </p:nvSpPr>
        <p:spPr>
          <a:xfrm>
            <a:off x="656130" y="4584176"/>
            <a:ext cx="2762250" cy="1238250"/>
          </a:xfrm>
          <a:prstGeom prst="roundRect">
            <a:avLst>
              <a:gd name="adj" fmla="val 6154"/>
            </a:avLst>
          </a:prstGeom>
          <a:solidFill>
            <a:srgbClr val="F8E8D8"/>
          </a:solidFill>
          <a:ln w="9525">
            <a:solidFill>
              <a:srgbClr val="F8E8D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72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prio 137 → 3 slot</a:t>
            </a:r>
          </a:p>
          <a:p>
            <a:pPr algn="ctr">
              <a:buNone/>
              <a:defRPr sz="172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prio 138 → 2 slot</a:t>
            </a:r>
          </a:p>
          <a:p>
            <a:pPr algn="ctr">
              <a:buNone/>
              <a:defRPr sz="172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prio 139 → 1 slot</a:t>
            </a:r>
          </a:p>
        </p:txBody>
      </p:sp>
      <p:pic>
        <p:nvPicPr>
          <p:cNvPr id="4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4370" y="2339937"/>
            <a:ext cx="8096250" cy="1156607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E234175-AB37-4BA8-9860-A9B761D280D1}"/>
              </a:ext>
            </a:extLst>
          </p:cNvPr>
          <p:cNvSpPr>
            <a:spLocks noGrp="1"/>
          </p:cNvSpPr>
          <p:nvPr/>
        </p:nvSpPr>
        <p:spPr>
          <a:xfrm>
            <a:off x="3839980" y="3701478"/>
            <a:ext cx="2286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E59688-5049-4793-B69F-B4A5C17CF76B}"/>
              </a:ext>
            </a:extLst>
          </p:cNvPr>
          <p:cNvSpPr>
            <a:spLocks noGrp="1"/>
          </p:cNvSpPr>
          <p:nvPr/>
        </p:nvSpPr>
        <p:spPr>
          <a:xfrm>
            <a:off x="3839980" y="3701478"/>
            <a:ext cx="76200" cy="1000125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D75716-51BD-4655-935E-0FE47A95DBF9}"/>
              </a:ext>
            </a:extLst>
          </p:cNvPr>
          <p:cNvSpPr>
            <a:spLocks noGrp="1"/>
          </p:cNvSpPr>
          <p:nvPr/>
        </p:nvSpPr>
        <p:spPr>
          <a:xfrm>
            <a:off x="4030480" y="3815778"/>
            <a:ext cx="1981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3–9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F74ECC-A918-418F-9FD7-F8BF45EE6430}"/>
              </a:ext>
            </a:extLst>
          </p:cNvPr>
          <p:cNvSpPr>
            <a:spLocks noGrp="1"/>
          </p:cNvSpPr>
          <p:nvPr/>
        </p:nvSpPr>
        <p:spPr>
          <a:xfrm>
            <a:off x="4030480" y="4120578"/>
            <a:ext cx="19812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P3 dùng đủ 3 quota của priority 137.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68F2935-E5C0-4BE8-8D3D-6C6ED3B35BDB}"/>
              </a:ext>
            </a:extLst>
          </p:cNvPr>
          <p:cNvSpPr>
            <a:spLocks noGrp="1"/>
          </p:cNvSpPr>
          <p:nvPr/>
        </p:nvSpPr>
        <p:spPr>
          <a:xfrm>
            <a:off x="6543985" y="3701478"/>
            <a:ext cx="2286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1A6194-FFCE-45F8-B40B-2D8437E261CB}"/>
              </a:ext>
            </a:extLst>
          </p:cNvPr>
          <p:cNvSpPr>
            <a:spLocks noGrp="1"/>
          </p:cNvSpPr>
          <p:nvPr/>
        </p:nvSpPr>
        <p:spPr>
          <a:xfrm>
            <a:off x="6543985" y="3701478"/>
            <a:ext cx="76200" cy="10001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75BBEA-2AC5-4C6B-8EA1-06678CABD47F}"/>
              </a:ext>
            </a:extLst>
          </p:cNvPr>
          <p:cNvSpPr>
            <a:spLocks noGrp="1"/>
          </p:cNvSpPr>
          <p:nvPr/>
        </p:nvSpPr>
        <p:spPr>
          <a:xfrm>
            <a:off x="6734485" y="3815778"/>
            <a:ext cx="1981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9–13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4D080B-CA36-4711-85ED-75F035C13827}"/>
              </a:ext>
            </a:extLst>
          </p:cNvPr>
          <p:cNvSpPr>
            <a:spLocks noGrp="1"/>
          </p:cNvSpPr>
          <p:nvPr/>
        </p:nvSpPr>
        <p:spPr>
          <a:xfrm>
            <a:off x="6734485" y="4120578"/>
            <a:ext cx="19812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P2 dùng 2 quota của priority 138.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1EE78C2-212B-4593-984B-3ED5DD74CDF5}"/>
              </a:ext>
            </a:extLst>
          </p:cNvPr>
          <p:cNvSpPr>
            <a:spLocks noGrp="1"/>
          </p:cNvSpPr>
          <p:nvPr/>
        </p:nvSpPr>
        <p:spPr>
          <a:xfrm>
            <a:off x="9233000" y="3701478"/>
            <a:ext cx="2667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CE37FE-1E8A-4E06-BDF8-403D8413767F}"/>
              </a:ext>
            </a:extLst>
          </p:cNvPr>
          <p:cNvSpPr>
            <a:spLocks noGrp="1"/>
          </p:cNvSpPr>
          <p:nvPr/>
        </p:nvSpPr>
        <p:spPr>
          <a:xfrm>
            <a:off x="9233000" y="3701478"/>
            <a:ext cx="76200" cy="1000125"/>
          </a:xfrm>
          <a:prstGeom prst="rect">
            <a:avLst/>
          </a:prstGeom>
          <a:solidFill>
            <a:srgbClr val="C94C4C"/>
          </a:solidFill>
          <a:ln w="9525">
            <a:solidFill>
              <a:srgbClr val="C94C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F738FA-37DD-4041-9A15-822981E3DDF1}"/>
              </a:ext>
            </a:extLst>
          </p:cNvPr>
          <p:cNvSpPr>
            <a:spLocks noGrp="1"/>
          </p:cNvSpPr>
          <p:nvPr/>
        </p:nvSpPr>
        <p:spPr>
          <a:xfrm>
            <a:off x="9423500" y="3815778"/>
            <a:ext cx="2362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TẠI 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84C442-C8C6-46BC-AA4D-47DA717F3DF0}"/>
              </a:ext>
            </a:extLst>
          </p:cNvPr>
          <p:cNvSpPr>
            <a:spLocks noGrp="1"/>
          </p:cNvSpPr>
          <p:nvPr/>
        </p:nvSpPr>
        <p:spPr>
          <a:xfrm>
            <a:off x="9423500" y="4120578"/>
            <a:ext cx="23622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Không queue khả dụng còn quota → reset toàn bộ slot.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6883E13-9F4C-4E35-9EBC-E215269F647C}"/>
              </a:ext>
            </a:extLst>
          </p:cNvPr>
          <p:cNvSpPr>
            <a:spLocks noGrp="1"/>
          </p:cNvSpPr>
          <p:nvPr/>
        </p:nvSpPr>
        <p:spPr>
          <a:xfrm>
            <a:off x="3814370" y="4950346"/>
            <a:ext cx="5048250" cy="857250"/>
          </a:xfrm>
          <a:prstGeom prst="roundRect">
            <a:avLst>
              <a:gd name="adj" fmla="val 8889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FA58CB-085C-4556-9E3A-75F97BC20A88}"/>
              </a:ext>
            </a:extLst>
          </p:cNvPr>
          <p:cNvSpPr>
            <a:spLocks noGrp="1"/>
          </p:cNvSpPr>
          <p:nvPr/>
        </p:nvSpPr>
        <p:spPr>
          <a:xfrm>
            <a:off x="3814370" y="4950346"/>
            <a:ext cx="5048250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443287F-1FA5-4E54-8099-DBE0FDBD0315}"/>
              </a:ext>
            </a:extLst>
          </p:cNvPr>
          <p:cNvSpPr>
            <a:spLocks noGrp="1"/>
          </p:cNvSpPr>
          <p:nvPr/>
        </p:nvSpPr>
        <p:spPr>
          <a:xfrm>
            <a:off x="3928670" y="5026546"/>
            <a:ext cx="481965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LỆNH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39F266-AD11-4E7F-B623-90B178AAD72C}"/>
              </a:ext>
            </a:extLst>
          </p:cNvPr>
          <p:cNvSpPr>
            <a:spLocks noGrp="1"/>
          </p:cNvSpPr>
          <p:nvPr/>
        </p:nvSpPr>
        <p:spPr>
          <a:xfrm>
            <a:off x="3928670" y="5312296"/>
            <a:ext cx="4819650" cy="40005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./</a:t>
            </a:r>
            <a:r>
              <a:rPr sz="1125" b="0" dirty="0" err="1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os</a:t>
            </a:r>
            <a:r>
              <a:rPr sz="1125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25" b="0" dirty="0" err="1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sched_out_of_slot</a:t>
            </a:r>
            <a:r>
              <a:rPr sz="1125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 | grep -E</a:t>
            </a:r>
          </a:p>
          <a:p>
            <a:pPr algn="l">
              <a:buNone/>
              <a:def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"</a:t>
            </a:r>
            <a:r>
              <a:rPr sz="1125" b="0" dirty="0" err="1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Dispatched|Put</a:t>
            </a:r>
            <a:r>
              <a:rPr sz="1125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25" b="0" dirty="0" err="1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process|finished</a:t>
            </a:r>
            <a:r>
              <a:rPr sz="1125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"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B3D3BD-BE9B-4D62-A7D3-9D3AD404E2C4}"/>
              </a:ext>
            </a:extLst>
          </p:cNvPr>
          <p:cNvSpPr>
            <a:spLocks noGrp="1"/>
          </p:cNvSpPr>
          <p:nvPr/>
        </p:nvSpPr>
        <p:spPr>
          <a:xfrm>
            <a:off x="9233000" y="4902721"/>
            <a:ext cx="2667000" cy="952500"/>
          </a:xfrm>
          <a:prstGeom prst="rect">
            <a:avLst/>
          </a:prstGeom>
          <a:solidFill>
            <a:srgbClr val="E5EFF4"/>
          </a:solidFill>
          <a:ln w="9525">
            <a:solidFill>
              <a:srgbClr val="E5EFF4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Process priority thấp không mất; nó tiếp tục khi quota được reset hoặc queue cao hoàn thành.</a:t>
            </a:r>
          </a:p>
        </p:txBody>
      </p:sp>
      <p:pic>
        <p:nvPicPr>
          <p:cNvPr id="60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32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A32451E-87B9-4B39-BD7C-FFAE49BB9A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F31A26-B1B1-400F-BCE7-3C7A3F8992AC}"/>
              </a:ext>
            </a:extLst>
          </p:cNvPr>
          <p:cNvSpPr>
            <a:spLocks noGrp="1"/>
          </p:cNvSpPr>
          <p:nvPr/>
        </p:nvSpPr>
        <p:spPr>
          <a:xfrm>
            <a:off x="590860" y="1167045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Hai CPU chia sẻ scheduler — nhưng ownership PCB là duy nhất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CBA540-3AC3-48EB-9749-DEABEE0F5AA7}"/>
              </a:ext>
            </a:extLst>
          </p:cNvPr>
          <p:cNvSpPr>
            <a:spLocks noGrp="1"/>
          </p:cNvSpPr>
          <p:nvPr/>
        </p:nvSpPr>
        <p:spPr>
          <a:xfrm>
            <a:off x="590860" y="1688579"/>
            <a:ext cx="10546830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7223DC-0D80-43D7-9CE0-7BE63837A565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pic>
        <p:nvPicPr>
          <p:cNvPr id="33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91360" y="2160458"/>
            <a:ext cx="7239000" cy="1034143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606AFCA-2C30-4CFE-AE98-C27C4076FFA6}"/>
              </a:ext>
            </a:extLst>
          </p:cNvPr>
          <p:cNvSpPr>
            <a:spLocks noGrp="1"/>
          </p:cNvSpPr>
          <p:nvPr/>
        </p:nvSpPr>
        <p:spPr>
          <a:xfrm>
            <a:off x="590860" y="2136646"/>
            <a:ext cx="3619500" cy="1143000"/>
          </a:xfrm>
          <a:prstGeom prst="roundRect">
            <a:avLst>
              <a:gd name="adj" fmla="val 6667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CEC000-4CE6-4567-B562-7976D3427987}"/>
              </a:ext>
            </a:extLst>
          </p:cNvPr>
          <p:cNvSpPr>
            <a:spLocks noGrp="1"/>
          </p:cNvSpPr>
          <p:nvPr/>
        </p:nvSpPr>
        <p:spPr>
          <a:xfrm>
            <a:off x="590860" y="2136646"/>
            <a:ext cx="3619500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654B39-7563-4FF4-843E-69D94AC2CB84}"/>
              </a:ext>
            </a:extLst>
          </p:cNvPr>
          <p:cNvSpPr>
            <a:spLocks noGrp="1"/>
          </p:cNvSpPr>
          <p:nvPr/>
        </p:nvSpPr>
        <p:spPr>
          <a:xfrm>
            <a:off x="705160" y="2212846"/>
            <a:ext cx="339090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LỆNH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A2160D-AB3A-4CB4-A924-075D31AEDA3D}"/>
              </a:ext>
            </a:extLst>
          </p:cNvPr>
          <p:cNvSpPr>
            <a:spLocks noGrp="1"/>
          </p:cNvSpPr>
          <p:nvPr/>
        </p:nvSpPr>
        <p:spPr>
          <a:xfrm>
            <a:off x="705160" y="2498596"/>
            <a:ext cx="3390900" cy="6858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./os sched_2_cpu | grep -E</a:t>
            </a:r>
          </a:p>
          <a:p>
            <a:pPr algn="l">
              <a:buNone/>
              <a:def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"CPU [01]: (Dispatched|Put|Processed)"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6AEA865-EBED-49D6-AB94-5D0FDBD156D4}"/>
              </a:ext>
            </a:extLst>
          </p:cNvPr>
          <p:cNvSpPr>
            <a:spLocks noGrp="1"/>
          </p:cNvSpPr>
          <p:nvPr/>
        </p:nvSpPr>
        <p:spPr>
          <a:xfrm>
            <a:off x="609595" y="4205062"/>
            <a:ext cx="1809750" cy="742950"/>
          </a:xfrm>
          <a:prstGeom prst="roundRect">
            <a:avLst>
              <a:gd name="adj" fmla="val 10256"/>
            </a:avLst>
          </a:prstGeom>
          <a:solidFill>
            <a:srgbClr val="F8E8D8"/>
          </a:solidFill>
          <a:ln w="9525">
            <a:solidFill>
              <a:srgbClr val="E7772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MLQ READY</a:t>
            </a:r>
          </a:p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QUEUES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97A8CEB-0005-44FC-A979-3F373A39A4D5}"/>
              </a:ext>
            </a:extLst>
          </p:cNvPr>
          <p:cNvSpPr>
            <a:spLocks noGrp="1"/>
          </p:cNvSpPr>
          <p:nvPr/>
        </p:nvSpPr>
        <p:spPr>
          <a:xfrm>
            <a:off x="4229095" y="3824062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CPU 0</a:t>
            </a:r>
          </a:p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PID 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0A43A53-D054-423F-AF8B-430416245E91}"/>
              </a:ext>
            </a:extLst>
          </p:cNvPr>
          <p:cNvSpPr>
            <a:spLocks noGrp="1"/>
          </p:cNvSpPr>
          <p:nvPr/>
        </p:nvSpPr>
        <p:spPr>
          <a:xfrm>
            <a:off x="4229095" y="4871812"/>
            <a:ext cx="1714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CPU 1</a:t>
            </a:r>
          </a:p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PID B</a:t>
            </a:r>
          </a:p>
        </p:txBody>
      </p:sp>
      <p:cxnSp>
        <p:nvCxnSpPr>
          <p:cNvPr id="41" name="Elbow Connector 14"/>
          <p:cNvCxnSpPr>
            <a:stCxn id="12" idx="3"/>
            <a:endCxn id="13" idx="1"/>
          </p:cNvCxnSpPr>
          <p:nvPr/>
        </p:nvCxnSpPr>
        <p:spPr>
          <a:xfrm flipV="1">
            <a:off x="2419345" y="4157437"/>
            <a:ext cx="1809750" cy="419100"/>
          </a:xfrm>
          <a:prstGeom prst="bentConnector3">
            <a:avLst>
              <a:gd name="adj1" fmla="val 50000"/>
            </a:avLst>
          </a:prstGeom>
          <a:ln w="19050">
            <a:solidFill>
              <a:srgbClr val="E77728"/>
            </a:solidFill>
            <a:prstDash val="solid"/>
          </a:ln>
        </p:spPr>
      </p:cxnSp>
      <p:cxnSp>
        <p:nvCxnSpPr>
          <p:cNvPr id="42" name="Elbow Connector 15"/>
          <p:cNvCxnSpPr>
            <a:stCxn id="12" idx="3"/>
            <a:endCxn id="14" idx="1"/>
          </p:cNvCxnSpPr>
          <p:nvPr/>
        </p:nvCxnSpPr>
        <p:spPr>
          <a:xfrm>
            <a:off x="2419345" y="4576537"/>
            <a:ext cx="1809750" cy="628650"/>
          </a:xfrm>
          <a:prstGeom prst="bentConnector3">
            <a:avLst>
              <a:gd name="adj1" fmla="val 50000"/>
            </a:avLst>
          </a:prstGeom>
          <a:ln w="19050">
            <a:solidFill>
              <a:srgbClr val="E77728"/>
            </a:solidFill>
            <a:prstDash val="solid"/>
          </a:ln>
        </p:spPr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BECD27-E376-4144-88F9-994AC114BBEB}"/>
              </a:ext>
            </a:extLst>
          </p:cNvPr>
          <p:cNvSpPr>
            <a:spLocks noGrp="1"/>
          </p:cNvSpPr>
          <p:nvPr/>
        </p:nvSpPr>
        <p:spPr>
          <a:xfrm>
            <a:off x="6457940" y="3824062"/>
            <a:ext cx="2095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F26B1D-F440-43AA-90E2-BCCA93BA6EEE}"/>
              </a:ext>
            </a:extLst>
          </p:cNvPr>
          <p:cNvSpPr>
            <a:spLocks noGrp="1"/>
          </p:cNvSpPr>
          <p:nvPr/>
        </p:nvSpPr>
        <p:spPr>
          <a:xfrm>
            <a:off x="6457940" y="3824062"/>
            <a:ext cx="76200" cy="85725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B759CF-E22F-40AC-8965-D3CB69F8C599}"/>
              </a:ext>
            </a:extLst>
          </p:cNvPr>
          <p:cNvSpPr>
            <a:spLocks noGrp="1"/>
          </p:cNvSpPr>
          <p:nvPr/>
        </p:nvSpPr>
        <p:spPr>
          <a:xfrm>
            <a:off x="6648440" y="3938362"/>
            <a:ext cx="1790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INVARIANT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AF2688-39D9-4B9C-8E98-736EC904BF6E}"/>
              </a:ext>
            </a:extLst>
          </p:cNvPr>
          <p:cNvSpPr>
            <a:spLocks noGrp="1"/>
          </p:cNvSpPr>
          <p:nvPr/>
        </p:nvSpPr>
        <p:spPr>
          <a:xfrm>
            <a:off x="6648440" y="4243162"/>
            <a:ext cx="17907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 fontScale="85992"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≠ B tại cùng thời điểm.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3FC30A4-93A7-4109-AE06-2C554D2A8D64}"/>
              </a:ext>
            </a:extLst>
          </p:cNvPr>
          <p:cNvSpPr>
            <a:spLocks noGrp="1"/>
          </p:cNvSpPr>
          <p:nvPr/>
        </p:nvSpPr>
        <p:spPr>
          <a:xfrm>
            <a:off x="8743939" y="3824063"/>
            <a:ext cx="2876545" cy="866776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6323E2-8BF1-44E6-8708-C336AF5A201A}"/>
              </a:ext>
            </a:extLst>
          </p:cNvPr>
          <p:cNvSpPr>
            <a:spLocks noGrp="1"/>
          </p:cNvSpPr>
          <p:nvPr/>
        </p:nvSpPr>
        <p:spPr>
          <a:xfrm>
            <a:off x="8743940" y="3824063"/>
            <a:ext cx="45719" cy="857250"/>
          </a:xfrm>
          <a:prstGeom prst="rect">
            <a:avLst/>
          </a:prstGeom>
          <a:solidFill>
            <a:srgbClr val="092B4C"/>
          </a:solidFill>
          <a:ln w="9525">
            <a:solidFill>
              <a:srgbClr val="092B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E3DD42-FAB8-46E9-B700-60999C6BC935}"/>
              </a:ext>
            </a:extLst>
          </p:cNvPr>
          <p:cNvSpPr>
            <a:spLocks noGrp="1"/>
          </p:cNvSpPr>
          <p:nvPr/>
        </p:nvSpPr>
        <p:spPr>
          <a:xfrm>
            <a:off x="8934440" y="3938362"/>
            <a:ext cx="1790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913181-B7FF-4497-B1EF-1ABDD0AD47CE}"/>
              </a:ext>
            </a:extLst>
          </p:cNvPr>
          <p:cNvSpPr>
            <a:spLocks noGrp="1"/>
          </p:cNvSpPr>
          <p:nvPr/>
        </p:nvSpPr>
        <p:spPr>
          <a:xfrm>
            <a:off x="8934439" y="4243162"/>
            <a:ext cx="2647965" cy="44767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 lnSpcReduction="10000"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dequeue + enqueue running_list nằm trong cùng queue_lock.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25181A-A6D9-45B4-AEC9-8246C9CFBC31}"/>
              </a:ext>
            </a:extLst>
          </p:cNvPr>
          <p:cNvSpPr>
            <a:spLocks noGrp="1"/>
          </p:cNvSpPr>
          <p:nvPr/>
        </p:nvSpPr>
        <p:spPr>
          <a:xfrm>
            <a:off x="6408408" y="5164817"/>
            <a:ext cx="5173995" cy="373745"/>
          </a:xfrm>
          <a:prstGeom prst="rect">
            <a:avLst/>
          </a:prstGeom>
          <a:solidFill>
            <a:srgbClr val="F5E4E4"/>
          </a:solidFill>
          <a:ln w="9525">
            <a:solidFill>
              <a:srgbClr val="F5E4E4"/>
            </a:solidFill>
            <a:prstDash val="solid"/>
          </a:ln>
        </p:spPr>
        <p:txBody>
          <a:bodyPr wrap="square" lIns="95250" tIns="76200" rIns="95250" bIns="76200" anchor="t">
            <a:normAutofit fontScale="92464"/>
          </a:bodyPr>
          <a:lstStyle/>
          <a:p>
            <a:pPr algn="ctr">
              <a:buNone/>
              <a:defRPr sz="13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Thứ tự CPU nào lấy PID nào có thể đổi; invariant không được đổi.</a:t>
            </a:r>
          </a:p>
        </p:txBody>
      </p:sp>
      <p:pic>
        <p:nvPicPr>
          <p:cNvPr id="52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37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23224EB-5680-45CA-9D2D-C8A46D2BF7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A07728-0995-45A3-BFD2-9C7C67892A3C}"/>
              </a:ext>
            </a:extLst>
          </p:cNvPr>
          <p:cNvSpPr>
            <a:spLocks noGrp="1"/>
          </p:cNvSpPr>
          <p:nvPr/>
        </p:nvSpPr>
        <p:spPr>
          <a:xfrm>
            <a:off x="654489" y="1267403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 fontScale="91343" lnSpcReduction="20000"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Kiến thức nền: địa chỉ ảo tách cách process nhìn bộ nhớ khỏi vị trí byte thật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8EB104-2FFD-43DC-A43A-A06FE3B379BA}"/>
              </a:ext>
            </a:extLst>
          </p:cNvPr>
          <p:cNvSpPr>
            <a:spLocks noGrp="1"/>
          </p:cNvSpPr>
          <p:nvPr/>
        </p:nvSpPr>
        <p:spPr>
          <a:xfrm flipV="1">
            <a:off x="673539" y="1926534"/>
            <a:ext cx="10796352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70D52-DBC1-4BD6-9D85-D6AC1196B670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979E57-4657-4FBA-B98F-8608E8463B0C}"/>
              </a:ext>
            </a:extLst>
          </p:cNvPr>
          <p:cNvSpPr>
            <a:spLocks noGrp="1"/>
          </p:cNvSpPr>
          <p:nvPr/>
        </p:nvSpPr>
        <p:spPr>
          <a:xfrm>
            <a:off x="619822" y="2284672"/>
            <a:ext cx="2476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VIRTUAL ADDRESS</a:t>
            </a:r>
          </a:p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region + offset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1076F8-8CAD-43F1-9649-384C460FAB97}"/>
              </a:ext>
            </a:extLst>
          </p:cNvPr>
          <p:cNvSpPr>
            <a:spLocks noGrp="1"/>
          </p:cNvSpPr>
          <p:nvPr/>
        </p:nvSpPr>
        <p:spPr>
          <a:xfrm>
            <a:off x="4858447" y="2284672"/>
            <a:ext cx="2476500" cy="857250"/>
          </a:xfrm>
          <a:prstGeom prst="roundRect">
            <a:avLst>
              <a:gd name="adj" fmla="val 8889"/>
            </a:avLst>
          </a:prstGeom>
          <a:solidFill>
            <a:srgbClr val="DFF2F1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PAGE TABLE</a:t>
            </a:r>
          </a:p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VPN → frame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27CCA4C-848A-4A40-8012-2ECD15A2E9C4}"/>
              </a:ext>
            </a:extLst>
          </p:cNvPr>
          <p:cNvSpPr>
            <a:spLocks noGrp="1"/>
          </p:cNvSpPr>
          <p:nvPr/>
        </p:nvSpPr>
        <p:spPr>
          <a:xfrm>
            <a:off x="9097072" y="2284672"/>
            <a:ext cx="2476500" cy="857250"/>
          </a:xfrm>
          <a:prstGeom prst="roundRect">
            <a:avLst>
              <a:gd name="adj" fmla="val 8889"/>
            </a:avLst>
          </a:prstGeom>
          <a:solidFill>
            <a:srgbClr val="F8E8D8"/>
          </a:solidFill>
          <a:ln w="9525">
            <a:solidFill>
              <a:srgbClr val="E7772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PHYSICAL ADDRESS</a:t>
            </a:r>
          </a:p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frame + offset</a:t>
            </a:r>
          </a:p>
        </p:txBody>
      </p:sp>
      <p:cxnSp>
        <p:nvCxnSpPr>
          <p:cNvPr id="34" name="Straight Arrow Connector 9"/>
          <p:cNvCxnSpPr>
            <a:stCxn id="7" idx="3"/>
            <a:endCxn id="8" idx="1"/>
          </p:cNvCxnSpPr>
          <p:nvPr/>
        </p:nvCxnSpPr>
        <p:spPr>
          <a:xfrm>
            <a:off x="3096322" y="2713297"/>
            <a:ext cx="1762125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</a:ln>
        </p:spPr>
      </p:cxnSp>
      <p:cxnSp>
        <p:nvCxnSpPr>
          <p:cNvPr id="35" name="Straight Arrow Connector 10"/>
          <p:cNvCxnSpPr>
            <a:stCxn id="8" idx="3"/>
            <a:endCxn id="9" idx="1"/>
          </p:cNvCxnSpPr>
          <p:nvPr/>
        </p:nvCxnSpPr>
        <p:spPr>
          <a:xfrm>
            <a:off x="7334947" y="2713297"/>
            <a:ext cx="1762125" cy="0"/>
          </a:xfrm>
          <a:prstGeom prst="straightConnector1">
            <a:avLst/>
          </a:prstGeom>
          <a:ln w="19050">
            <a:solidFill>
              <a:srgbClr val="E77728"/>
            </a:solidFill>
            <a:prstDash val="solid"/>
          </a:ln>
        </p:spPr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148B64-61DF-4959-804E-24759E77F857}"/>
              </a:ext>
            </a:extLst>
          </p:cNvPr>
          <p:cNvSpPr>
            <a:spLocks noGrp="1"/>
          </p:cNvSpPr>
          <p:nvPr/>
        </p:nvSpPr>
        <p:spPr>
          <a:xfrm>
            <a:off x="619822" y="3492441"/>
            <a:ext cx="333375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EB5708-D76E-457A-AD62-5F9689851F90}"/>
              </a:ext>
            </a:extLst>
          </p:cNvPr>
          <p:cNvSpPr>
            <a:spLocks noGrp="1"/>
          </p:cNvSpPr>
          <p:nvPr/>
        </p:nvSpPr>
        <p:spPr>
          <a:xfrm>
            <a:off x="619822" y="3492441"/>
            <a:ext cx="76200" cy="1381125"/>
          </a:xfrm>
          <a:prstGeom prst="rect">
            <a:avLst/>
          </a:prstGeom>
          <a:solidFill>
            <a:srgbClr val="092B4C"/>
          </a:solidFill>
          <a:ln w="9525">
            <a:solidFill>
              <a:srgbClr val="092B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5A25C5-73FC-45C6-B9E9-17E5CCCCE469}"/>
              </a:ext>
            </a:extLst>
          </p:cNvPr>
          <p:cNvSpPr>
            <a:spLocks noGrp="1"/>
          </p:cNvSpPr>
          <p:nvPr/>
        </p:nvSpPr>
        <p:spPr>
          <a:xfrm>
            <a:off x="810322" y="3606741"/>
            <a:ext cx="30289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REGION [</a:t>
            </a:r>
            <a:r>
              <a:rPr sz="105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start,end</a:t>
            </a:r>
            <a:r>
              <a:rPr sz="105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FCA463-6CBC-4EDB-9D93-A244492EC20E}"/>
              </a:ext>
            </a:extLst>
          </p:cNvPr>
          <p:cNvSpPr>
            <a:spLocks noGrp="1"/>
          </p:cNvSpPr>
          <p:nvPr/>
        </p:nvSpPr>
        <p:spPr>
          <a:xfrm>
            <a:off x="810322" y="3911541"/>
            <a:ext cx="302895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ALLOC/FREE quản lý miền logic. Offset hợp lệ khi 0 ≤ offset &lt; end − start.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AC1DAC0-BC4E-488F-A7A4-297ABEBBF392}"/>
              </a:ext>
            </a:extLst>
          </p:cNvPr>
          <p:cNvSpPr>
            <a:spLocks noGrp="1"/>
          </p:cNvSpPr>
          <p:nvPr/>
        </p:nvSpPr>
        <p:spPr>
          <a:xfrm>
            <a:off x="4429822" y="3492441"/>
            <a:ext cx="333375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A7A741-A8A2-4409-8E52-9EEA133B1BB6}"/>
              </a:ext>
            </a:extLst>
          </p:cNvPr>
          <p:cNvSpPr>
            <a:spLocks noGrp="1"/>
          </p:cNvSpPr>
          <p:nvPr/>
        </p:nvSpPr>
        <p:spPr>
          <a:xfrm>
            <a:off x="4429822" y="3492441"/>
            <a:ext cx="76200" cy="13811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E49A34-336B-4C2D-A1DC-AD359BDB9FB7}"/>
              </a:ext>
            </a:extLst>
          </p:cNvPr>
          <p:cNvSpPr>
            <a:spLocks noGrp="1"/>
          </p:cNvSpPr>
          <p:nvPr/>
        </p:nvSpPr>
        <p:spPr>
          <a:xfrm>
            <a:off x="4620322" y="3606741"/>
            <a:ext cx="30289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PAGE + FRAME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D7CB18-E68E-4375-A8DE-DD191D106D5C}"/>
              </a:ext>
            </a:extLst>
          </p:cNvPr>
          <p:cNvSpPr>
            <a:spLocks noGrp="1"/>
          </p:cNvSpPr>
          <p:nvPr/>
        </p:nvSpPr>
        <p:spPr>
          <a:xfrm>
            <a:off x="4620322" y="3911541"/>
            <a:ext cx="302895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Page table quản lý mapping theo page; frame chứa byte thực trong RAM hoặc SWAP.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D850028-FCF7-4C61-8775-A7A4ED4F21F0}"/>
              </a:ext>
            </a:extLst>
          </p:cNvPr>
          <p:cNvSpPr>
            <a:spLocks noGrp="1"/>
          </p:cNvSpPr>
          <p:nvPr/>
        </p:nvSpPr>
        <p:spPr>
          <a:xfrm>
            <a:off x="8239822" y="3492441"/>
            <a:ext cx="333375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AE414F-72F3-43FF-A7B5-8F714C3A156C}"/>
              </a:ext>
            </a:extLst>
          </p:cNvPr>
          <p:cNvSpPr>
            <a:spLocks noGrp="1"/>
          </p:cNvSpPr>
          <p:nvPr/>
        </p:nvSpPr>
        <p:spPr>
          <a:xfrm>
            <a:off x="8239822" y="3492441"/>
            <a:ext cx="76200" cy="1381125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2640C7-714E-4A95-A7BA-13F2B949CCF2}"/>
              </a:ext>
            </a:extLst>
          </p:cNvPr>
          <p:cNvSpPr>
            <a:spLocks noGrp="1"/>
          </p:cNvSpPr>
          <p:nvPr/>
        </p:nvSpPr>
        <p:spPr>
          <a:xfrm>
            <a:off x="8430322" y="3606741"/>
            <a:ext cx="30289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COPY SEMANTICS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ED7728-C941-4696-9E5C-0FAE300FC629}"/>
              </a:ext>
            </a:extLst>
          </p:cNvPr>
          <p:cNvSpPr>
            <a:spLocks noGrp="1"/>
          </p:cNvSpPr>
          <p:nvPr/>
        </p:nvSpPr>
        <p:spPr>
          <a:xfrm>
            <a:off x="8430322" y="3911541"/>
            <a:ext cx="302895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copy_from_user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/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copy_to_user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phải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bảo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toàn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dữ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liệu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và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đi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qua kernel boundary.</a:t>
            </a:r>
          </a:p>
        </p:txBody>
      </p:sp>
      <p:pic>
        <p:nvPicPr>
          <p:cNvPr id="4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0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8C9F6B6-C5CE-4416-B36B-A7D6BF05E5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78BD60-E3B9-46D2-9B0B-A3F34C6B9609}"/>
              </a:ext>
            </a:extLst>
          </p:cNvPr>
          <p:cNvSpPr>
            <a:spLocks noGrp="1"/>
          </p:cNvSpPr>
          <p:nvPr/>
        </p:nvSpPr>
        <p:spPr>
          <a:xfrm>
            <a:off x="619822" y="1112238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Region, page và frame trả lời ba câu hỏi khác nhau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1D208D-CEBA-416C-9C53-C4973C83F0D6}"/>
              </a:ext>
            </a:extLst>
          </p:cNvPr>
          <p:cNvSpPr>
            <a:spLocks noGrp="1"/>
          </p:cNvSpPr>
          <p:nvPr/>
        </p:nvSpPr>
        <p:spPr>
          <a:xfrm>
            <a:off x="638871" y="1607537"/>
            <a:ext cx="8264265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3114AF-7789-47BC-B70E-E402CD43518B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EBA2C98-1EE1-4736-BC73-210A536A14A4}"/>
              </a:ext>
            </a:extLst>
          </p:cNvPr>
          <p:cNvSpPr>
            <a:spLocks noGrp="1"/>
          </p:cNvSpPr>
          <p:nvPr/>
        </p:nvSpPr>
        <p:spPr>
          <a:xfrm>
            <a:off x="953197" y="2321913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REGION / VMA</a:t>
            </a:r>
          </a:p>
          <a:p>
            <a:pPr algn="ctr"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Process muốn cấp vùng logic nào?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AE66BB2-2AAD-409D-A90B-E4A4352B23F7}"/>
              </a:ext>
            </a:extLst>
          </p:cNvPr>
          <p:cNvSpPr>
            <a:spLocks noGrp="1"/>
          </p:cNvSpPr>
          <p:nvPr/>
        </p:nvSpPr>
        <p:spPr>
          <a:xfrm>
            <a:off x="4620322" y="2893101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DFF2F1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VIRTUAL PAGE</a:t>
            </a:r>
          </a:p>
          <a:p>
            <a:pPr algn="ctr"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Dịch địa chỉ theo đơn vị nào?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B7FDA0C-DBA1-4FA1-AD4E-F3BBA71097F7}"/>
              </a:ext>
            </a:extLst>
          </p:cNvPr>
          <p:cNvSpPr>
            <a:spLocks noGrp="1"/>
          </p:cNvSpPr>
          <p:nvPr/>
        </p:nvSpPr>
        <p:spPr>
          <a:xfrm>
            <a:off x="8430322" y="3607320"/>
            <a:ext cx="3143250" cy="952500"/>
          </a:xfrm>
          <a:prstGeom prst="roundRect">
            <a:avLst>
              <a:gd name="adj" fmla="val 8000"/>
            </a:avLst>
          </a:prstGeom>
          <a:solidFill>
            <a:srgbClr val="F8E8D8"/>
          </a:solidFill>
          <a:ln w="9525">
            <a:solidFill>
              <a:srgbClr val="E7772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PHYSICAL FRAME</a:t>
            </a:r>
          </a:p>
          <a:p>
            <a:pPr algn="ctr">
              <a:buNone/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 </a:t>
            </a:r>
            <a:r>
              <a:rPr sz="165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thực</a:t>
            </a:r>
            <a:r>
              <a:rPr sz="165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nằm</a:t>
            </a:r>
            <a:r>
              <a:rPr sz="165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ở</a:t>
            </a:r>
            <a:r>
              <a:rPr sz="165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đâu</a:t>
            </a:r>
            <a:r>
              <a:rPr sz="165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trong</a:t>
            </a:r>
            <a:r>
              <a:rPr sz="165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RAM/SWAP?</a:t>
            </a:r>
          </a:p>
        </p:txBody>
      </p:sp>
      <p:cxnSp>
        <p:nvCxnSpPr>
          <p:cNvPr id="33" name="Straight Arrow Connector 9"/>
          <p:cNvCxnSpPr>
            <a:stCxn id="7" idx="3"/>
            <a:endCxn id="8" idx="1"/>
          </p:cNvCxnSpPr>
          <p:nvPr/>
        </p:nvCxnSpPr>
        <p:spPr>
          <a:xfrm>
            <a:off x="4096447" y="2798163"/>
            <a:ext cx="523875" cy="571188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</a:ln>
        </p:spPr>
      </p:cxnSp>
      <p:cxnSp>
        <p:nvCxnSpPr>
          <p:cNvPr id="34" name="Straight Arrow Connector 10"/>
          <p:cNvCxnSpPr>
            <a:stCxn id="8" idx="3"/>
            <a:endCxn id="9" idx="1"/>
          </p:cNvCxnSpPr>
          <p:nvPr/>
        </p:nvCxnSpPr>
        <p:spPr>
          <a:xfrm>
            <a:off x="7763572" y="3369351"/>
            <a:ext cx="666750" cy="714219"/>
          </a:xfrm>
          <a:prstGeom prst="straightConnector1">
            <a:avLst/>
          </a:prstGeom>
          <a:ln w="19050">
            <a:solidFill>
              <a:srgbClr val="E77728"/>
            </a:solidFill>
            <a:prstDash val="solid"/>
          </a:ln>
        </p:spPr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66A6DAF-6405-4BAE-AE74-BFB137728E08}"/>
              </a:ext>
            </a:extLst>
          </p:cNvPr>
          <p:cNvSpPr>
            <a:spLocks noGrp="1"/>
          </p:cNvSpPr>
          <p:nvPr/>
        </p:nvSpPr>
        <p:spPr>
          <a:xfrm>
            <a:off x="953197" y="3683520"/>
            <a:ext cx="31432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A778B9-19B5-4D9E-8D1F-95585FFC4457}"/>
              </a:ext>
            </a:extLst>
          </p:cNvPr>
          <p:cNvSpPr>
            <a:spLocks noGrp="1"/>
          </p:cNvSpPr>
          <p:nvPr/>
        </p:nvSpPr>
        <p:spPr>
          <a:xfrm>
            <a:off x="953196" y="3683520"/>
            <a:ext cx="89807" cy="876300"/>
          </a:xfrm>
          <a:prstGeom prst="rect">
            <a:avLst/>
          </a:prstGeom>
          <a:solidFill>
            <a:srgbClr val="092B4C"/>
          </a:solidFill>
          <a:ln w="9525">
            <a:solidFill>
              <a:srgbClr val="092B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FC6E43-400E-4762-AAAF-69FA71A82DB0}"/>
              </a:ext>
            </a:extLst>
          </p:cNvPr>
          <p:cNvSpPr>
            <a:spLocks noGrp="1"/>
          </p:cNvSpPr>
          <p:nvPr/>
        </p:nvSpPr>
        <p:spPr>
          <a:xfrm>
            <a:off x="1143696" y="3797820"/>
            <a:ext cx="2784021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REGION TABLE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4CE9DA-70D0-4B96-B089-832FFF14A18F}"/>
              </a:ext>
            </a:extLst>
          </p:cNvPr>
          <p:cNvSpPr>
            <a:spLocks noGrp="1"/>
          </p:cNvSpPr>
          <p:nvPr/>
        </p:nvSpPr>
        <p:spPr>
          <a:xfrm>
            <a:off x="1143696" y="4102620"/>
            <a:ext cx="2784021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rgid → [start,end)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160A363-FA03-48DD-BFD2-0B0306B20834}"/>
              </a:ext>
            </a:extLst>
          </p:cNvPr>
          <p:cNvSpPr>
            <a:spLocks noGrp="1"/>
          </p:cNvSpPr>
          <p:nvPr/>
        </p:nvSpPr>
        <p:spPr>
          <a:xfrm>
            <a:off x="4620321" y="4374161"/>
            <a:ext cx="3143249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B71B14-8B50-43BC-82E7-DC39CC4BE310}"/>
              </a:ext>
            </a:extLst>
          </p:cNvPr>
          <p:cNvSpPr>
            <a:spLocks noGrp="1"/>
          </p:cNvSpPr>
          <p:nvPr/>
        </p:nvSpPr>
        <p:spPr>
          <a:xfrm>
            <a:off x="4620322" y="4374161"/>
            <a:ext cx="83820" cy="87630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BB671A-4597-406F-A860-349C8D9EA90E}"/>
              </a:ext>
            </a:extLst>
          </p:cNvPr>
          <p:cNvSpPr>
            <a:spLocks noGrp="1"/>
          </p:cNvSpPr>
          <p:nvPr/>
        </p:nvSpPr>
        <p:spPr>
          <a:xfrm>
            <a:off x="4810821" y="4488461"/>
            <a:ext cx="2807969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C6CFCD-B2A3-49C3-9D0E-6503D1B2FB87}"/>
              </a:ext>
            </a:extLst>
          </p:cNvPr>
          <p:cNvSpPr>
            <a:spLocks noGrp="1"/>
          </p:cNvSpPr>
          <p:nvPr/>
        </p:nvSpPr>
        <p:spPr>
          <a:xfrm>
            <a:off x="4810821" y="4793261"/>
            <a:ext cx="2807969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 fontScale="96025"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virtual page → frame / swapped state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DDAE981-420F-46A4-841E-EFE5550083AB}"/>
              </a:ext>
            </a:extLst>
          </p:cNvPr>
          <p:cNvSpPr>
            <a:spLocks noGrp="1"/>
          </p:cNvSpPr>
          <p:nvPr/>
        </p:nvSpPr>
        <p:spPr>
          <a:xfrm>
            <a:off x="8426511" y="4907561"/>
            <a:ext cx="3143249" cy="8763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BC18DD-5035-446E-BE34-794F12B76B4F}"/>
              </a:ext>
            </a:extLst>
          </p:cNvPr>
          <p:cNvSpPr>
            <a:spLocks noGrp="1"/>
          </p:cNvSpPr>
          <p:nvPr/>
        </p:nvSpPr>
        <p:spPr>
          <a:xfrm>
            <a:off x="8426511" y="4907561"/>
            <a:ext cx="76200" cy="876300"/>
          </a:xfrm>
          <a:prstGeom prst="rect">
            <a:avLst/>
          </a:prstGeom>
          <a:solidFill>
            <a:srgbClr val="C94C4C"/>
          </a:solidFill>
          <a:ln w="9525">
            <a:solidFill>
              <a:srgbClr val="C94C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A94215-62FE-4DB7-8F07-BA70091FE231}"/>
              </a:ext>
            </a:extLst>
          </p:cNvPr>
          <p:cNvSpPr>
            <a:spLocks noGrp="1"/>
          </p:cNvSpPr>
          <p:nvPr/>
        </p:nvSpPr>
        <p:spPr>
          <a:xfrm>
            <a:off x="8617011" y="5021861"/>
            <a:ext cx="2838449" cy="35052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PHYSICAL I/O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01C302-FC16-480D-ADC4-DECA4901C742}"/>
              </a:ext>
            </a:extLst>
          </p:cNvPr>
          <p:cNvSpPr>
            <a:spLocks noGrp="1"/>
          </p:cNvSpPr>
          <p:nvPr/>
        </p:nvSpPr>
        <p:spPr>
          <a:xfrm>
            <a:off x="8617011" y="5326660"/>
            <a:ext cx="2838449" cy="20029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 fontScale="85555" lnSpcReduction="20000"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phải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qua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syscall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để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kiểm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tra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ownership</a:t>
            </a:r>
          </a:p>
        </p:txBody>
      </p:sp>
      <p:pic>
        <p:nvPicPr>
          <p:cNvPr id="4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31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941C277-CA61-45B8-AF95-D9180A6EB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50B2BA-7625-4079-A441-C78E884FE431}"/>
              </a:ext>
            </a:extLst>
          </p:cNvPr>
          <p:cNvSpPr>
            <a:spLocks noGrp="1"/>
          </p:cNvSpPr>
          <p:nvPr/>
        </p:nvSpPr>
        <p:spPr>
          <a:xfrm>
            <a:off x="647772" y="1041430"/>
            <a:ext cx="871459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FREE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tái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sử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dụng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logical region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trước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khi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tăng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sbrk</a:t>
            </a:r>
            <a:endParaRPr sz="2700" b="1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BD486-1B73-4963-8087-5F37D4944645}"/>
              </a:ext>
            </a:extLst>
          </p:cNvPr>
          <p:cNvSpPr>
            <a:spLocks noGrp="1"/>
          </p:cNvSpPr>
          <p:nvPr/>
        </p:nvSpPr>
        <p:spPr>
          <a:xfrm>
            <a:off x="658547" y="1568054"/>
            <a:ext cx="8561257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E654AD-D8B0-41C2-BD6D-6E18F4D68E8D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2771CE-77FF-44AD-B8FA-FEDC200CBDB4}"/>
              </a:ext>
            </a:extLst>
          </p:cNvPr>
          <p:cNvSpPr>
            <a:spLocks noGrp="1"/>
          </p:cNvSpPr>
          <p:nvPr/>
        </p:nvSpPr>
        <p:spPr>
          <a:xfrm>
            <a:off x="619822" y="2139920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6E3B25-893F-491D-8722-433E1938BB3C}"/>
              </a:ext>
            </a:extLst>
          </p:cNvPr>
          <p:cNvSpPr>
            <a:spLocks noGrp="1"/>
          </p:cNvSpPr>
          <p:nvPr/>
        </p:nvSpPr>
        <p:spPr>
          <a:xfrm>
            <a:off x="619822" y="2139920"/>
            <a:ext cx="2857500" cy="47625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9464DD-B7E7-4D95-A2E8-6DE821BCBDD0}"/>
              </a:ext>
            </a:extLst>
          </p:cNvPr>
          <p:cNvSpPr>
            <a:spLocks noGrp="1"/>
          </p:cNvSpPr>
          <p:nvPr/>
        </p:nvSpPr>
        <p:spPr>
          <a:xfrm>
            <a:off x="734122" y="2216120"/>
            <a:ext cx="262890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INPUT / proc/memreuse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FB6572-C24A-42C7-98BA-C580A25A6B9F}"/>
              </a:ext>
            </a:extLst>
          </p:cNvPr>
          <p:cNvSpPr>
            <a:spLocks noGrp="1"/>
          </p:cNvSpPr>
          <p:nvPr/>
        </p:nvSpPr>
        <p:spPr>
          <a:xfrm>
            <a:off x="734122" y="2501870"/>
            <a:ext cx="2628900" cy="135255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 err="1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alloc</a:t>
            </a:r>
            <a:r>
              <a:rPr sz="1500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 100 1</a:t>
            </a:r>
          </a:p>
          <a:p>
            <a:pPr algn="l">
              <a:buNone/>
              <a:def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free 1</a:t>
            </a:r>
          </a:p>
          <a:p>
            <a:pPr algn="l">
              <a:buNone/>
              <a:def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 err="1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alloc</a:t>
            </a:r>
            <a:r>
              <a:rPr sz="1500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 50 2</a:t>
            </a:r>
          </a:p>
          <a:p>
            <a:pPr algn="l">
              <a:buNone/>
              <a:defRPr sz="150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 dirty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read 2 49 3</a:t>
            </a:r>
          </a:p>
        </p:txBody>
      </p:sp>
      <p:pic>
        <p:nvPicPr>
          <p:cNvPr id="35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58322" y="2151092"/>
            <a:ext cx="7858125" cy="126353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D5524F6-15E4-4E6D-8881-52359876E0C5}"/>
              </a:ext>
            </a:extLst>
          </p:cNvPr>
          <p:cNvSpPr>
            <a:spLocks noGrp="1"/>
          </p:cNvSpPr>
          <p:nvPr/>
        </p:nvSpPr>
        <p:spPr>
          <a:xfrm>
            <a:off x="3858322" y="3996670"/>
            <a:ext cx="6219825" cy="514350"/>
          </a:xfrm>
          <a:prstGeom prst="rect">
            <a:avLst/>
          </a:prstGeom>
          <a:solidFill>
            <a:srgbClr val="E5EFF4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region 1: [0,100)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36D5BD-EC40-47E1-9205-B8B5DFC11A9F}"/>
              </a:ext>
            </a:extLst>
          </p:cNvPr>
          <p:cNvSpPr>
            <a:spLocks noGrp="1"/>
          </p:cNvSpPr>
          <p:nvPr/>
        </p:nvSpPr>
        <p:spPr>
          <a:xfrm>
            <a:off x="3858322" y="4853920"/>
            <a:ext cx="3302000" cy="514350"/>
          </a:xfrm>
          <a:prstGeom prst="rect">
            <a:avLst/>
          </a:prstGeom>
          <a:solidFill>
            <a:srgbClr val="DFF2F1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383CBD-663F-4C55-9CF7-3547F7AEC438}"/>
              </a:ext>
            </a:extLst>
          </p:cNvPr>
          <p:cNvSpPr>
            <a:spLocks noGrp="1"/>
          </p:cNvSpPr>
          <p:nvPr/>
        </p:nvSpPr>
        <p:spPr>
          <a:xfrm>
            <a:off x="3858322" y="4853920"/>
            <a:ext cx="3302000" cy="514350"/>
          </a:xfrm>
          <a:prstGeom prst="rect">
            <a:avLst/>
          </a:prstGeom>
          <a:solidFill>
            <a:srgbClr val="DFF2F1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region 2: [0,50)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70ABC5-AE49-4D21-94F2-07D5F424DED2}"/>
              </a:ext>
            </a:extLst>
          </p:cNvPr>
          <p:cNvSpPr>
            <a:spLocks noGrp="1"/>
          </p:cNvSpPr>
          <p:nvPr/>
        </p:nvSpPr>
        <p:spPr>
          <a:xfrm>
            <a:off x="6953947" y="4853920"/>
            <a:ext cx="31242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free còn lại: [50,100)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07BA506-CBB8-4F0F-8351-D1B5C1D9706C}"/>
              </a:ext>
            </a:extLst>
          </p:cNvPr>
          <p:cNvSpPr>
            <a:spLocks noGrp="1"/>
          </p:cNvSpPr>
          <p:nvPr/>
        </p:nvSpPr>
        <p:spPr>
          <a:xfrm>
            <a:off x="619822" y="4289821"/>
            <a:ext cx="2857500" cy="1000125"/>
          </a:xfrm>
          <a:prstGeom prst="roundRect">
            <a:avLst>
              <a:gd name="adj" fmla="val 7619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64087D-67A6-422A-B462-D2A1D5A98FD7}"/>
              </a:ext>
            </a:extLst>
          </p:cNvPr>
          <p:cNvSpPr>
            <a:spLocks noGrp="1"/>
          </p:cNvSpPr>
          <p:nvPr/>
        </p:nvSpPr>
        <p:spPr>
          <a:xfrm>
            <a:off x="619822" y="4289821"/>
            <a:ext cx="2857500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8C2433-4DD8-4FE8-BA22-A9399AE49BB2}"/>
              </a:ext>
            </a:extLst>
          </p:cNvPr>
          <p:cNvSpPr>
            <a:spLocks noGrp="1"/>
          </p:cNvSpPr>
          <p:nvPr/>
        </p:nvSpPr>
        <p:spPr>
          <a:xfrm>
            <a:off x="734122" y="4366021"/>
            <a:ext cx="262890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LỆNH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12C177-F219-4CB2-B93B-4BC07EF2D854}"/>
              </a:ext>
            </a:extLst>
          </p:cNvPr>
          <p:cNvSpPr>
            <a:spLocks noGrp="1"/>
          </p:cNvSpPr>
          <p:nvPr/>
        </p:nvSpPr>
        <p:spPr>
          <a:xfrm>
            <a:off x="734122" y="4651771"/>
            <a:ext cx="2628900" cy="542925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./os os_mem_reuse | grep -E</a:t>
            </a:r>
          </a:p>
          <a:p>
            <a:pPr algn="l">
              <a:buNone/>
              <a:def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"MEM alloc|MEM free|MEM read"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1A125DB-CE1C-426A-8409-EE6595FFDD6B}"/>
              </a:ext>
            </a:extLst>
          </p:cNvPr>
          <p:cNvSpPr>
            <a:spLocks noGrp="1"/>
          </p:cNvSpPr>
          <p:nvPr/>
        </p:nvSpPr>
        <p:spPr>
          <a:xfrm>
            <a:off x="10192447" y="3996670"/>
            <a:ext cx="1524000" cy="1381125"/>
          </a:xfrm>
          <a:prstGeom prst="rect">
            <a:avLst/>
          </a:prstGeom>
          <a:solidFill>
            <a:srgbClr val="F5E4E4"/>
          </a:solidFill>
          <a:ln w="9525">
            <a:solidFill>
              <a:srgbClr val="F5E4E4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27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C94C4C"/>
                </a:solidFill>
                <a:latin typeface="Arial"/>
                <a:ea typeface="Arial"/>
                <a:cs typeface="Arial"/>
              </a:rPr>
              <a:t>Không</a:t>
            </a:r>
            <a:r>
              <a:rPr sz="150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C94C4C"/>
                </a:solidFill>
                <a:latin typeface="Arial"/>
                <a:ea typeface="Arial"/>
                <a:cs typeface="Arial"/>
              </a:rPr>
              <a:t>kết</a:t>
            </a:r>
            <a:r>
              <a:rPr sz="150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C94C4C"/>
                </a:solidFill>
                <a:latin typeface="Arial"/>
                <a:ea typeface="Arial"/>
                <a:cs typeface="Arial"/>
              </a:rPr>
              <a:t>luận</a:t>
            </a:r>
            <a:r>
              <a:rPr sz="150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 frame </a:t>
            </a:r>
            <a:r>
              <a:rPr sz="1500" b="1" dirty="0" err="1">
                <a:solidFill>
                  <a:srgbClr val="C94C4C"/>
                </a:solidFill>
                <a:latin typeface="Arial"/>
                <a:ea typeface="Arial"/>
                <a:cs typeface="Arial"/>
              </a:rPr>
              <a:t>vật</a:t>
            </a:r>
            <a:r>
              <a:rPr sz="150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C94C4C"/>
                </a:solidFill>
                <a:latin typeface="Arial"/>
                <a:ea typeface="Arial"/>
                <a:cs typeface="Arial"/>
              </a:rPr>
              <a:t>lý</a:t>
            </a:r>
            <a:r>
              <a:rPr sz="150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C94C4C"/>
                </a:solidFill>
                <a:latin typeface="Arial"/>
                <a:ea typeface="Arial"/>
                <a:cs typeface="Arial"/>
              </a:rPr>
              <a:t>đã</a:t>
            </a:r>
            <a:r>
              <a:rPr sz="150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C94C4C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50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C94C4C"/>
                </a:solidFill>
                <a:latin typeface="Arial"/>
                <a:ea typeface="Arial"/>
                <a:cs typeface="Arial"/>
              </a:rPr>
              <a:t>trả</a:t>
            </a:r>
            <a:r>
              <a:rPr sz="150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C94C4C"/>
                </a:solidFill>
                <a:latin typeface="Arial"/>
                <a:ea typeface="Arial"/>
                <a:cs typeface="Arial"/>
              </a:rPr>
              <a:t>ngay</a:t>
            </a:r>
            <a:r>
              <a:rPr sz="150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4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824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00FB2AB-E289-4A1A-A74E-442C5A3F86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2D1AAC-29BC-4816-BC3A-4BB85C3B0AF7}"/>
              </a:ext>
            </a:extLst>
          </p:cNvPr>
          <p:cNvSpPr>
            <a:spLocks noGrp="1"/>
          </p:cNvSpPr>
          <p:nvPr/>
        </p:nvSpPr>
        <p:spPr>
          <a:xfrm>
            <a:off x="619822" y="914401"/>
            <a:ext cx="96297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Cú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pháp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đặc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tả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bảo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toàn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byte 65 qua user → kernel → user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A1E01A-9E9B-4AF4-A33E-8701A2167EFD}"/>
              </a:ext>
            </a:extLst>
          </p:cNvPr>
          <p:cNvSpPr>
            <a:spLocks noGrp="1"/>
          </p:cNvSpPr>
          <p:nvPr/>
        </p:nvSpPr>
        <p:spPr>
          <a:xfrm>
            <a:off x="638871" y="1504950"/>
            <a:ext cx="9549359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9A300B-8788-4DA3-AD74-F88F56669C88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EC2911E-51D6-427F-888D-5ED22ED6981A}"/>
              </a:ext>
            </a:extLst>
          </p:cNvPr>
          <p:cNvSpPr>
            <a:spLocks noGrp="1"/>
          </p:cNvSpPr>
          <p:nvPr/>
        </p:nvSpPr>
        <p:spPr>
          <a:xfrm>
            <a:off x="619822" y="2162175"/>
            <a:ext cx="3333750" cy="2428875"/>
          </a:xfrm>
          <a:prstGeom prst="roundRect">
            <a:avLst>
              <a:gd name="adj" fmla="val 3137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6611D8-05D0-4094-8615-6AE1510B288F}"/>
              </a:ext>
            </a:extLst>
          </p:cNvPr>
          <p:cNvSpPr>
            <a:spLocks noGrp="1"/>
          </p:cNvSpPr>
          <p:nvPr/>
        </p:nvSpPr>
        <p:spPr>
          <a:xfrm>
            <a:off x="619822" y="2162175"/>
            <a:ext cx="3333750" cy="47625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E2C580-0F24-485E-805E-0A31158D522B}"/>
              </a:ext>
            </a:extLst>
          </p:cNvPr>
          <p:cNvSpPr>
            <a:spLocks noGrp="1"/>
          </p:cNvSpPr>
          <p:nvPr/>
        </p:nvSpPr>
        <p:spPr>
          <a:xfrm>
            <a:off x="734122" y="2238375"/>
            <a:ext cx="310515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INPUT / proc/memroundtrip_spec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5261C9-2A54-4E1A-BB36-10ABF3B6E7AB}"/>
              </a:ext>
            </a:extLst>
          </p:cNvPr>
          <p:cNvSpPr>
            <a:spLocks noGrp="1"/>
          </p:cNvSpPr>
          <p:nvPr/>
        </p:nvSpPr>
        <p:spPr>
          <a:xfrm>
            <a:off x="734122" y="2524125"/>
            <a:ext cx="3105150" cy="1971675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alloc 16 1</a:t>
            </a:r>
          </a:p>
          <a:p>
            <a:pPr algn="l">
              <a:buNone/>
              <a:def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write 65 1 0</a:t>
            </a:r>
          </a:p>
          <a:p>
            <a:pPr algn="l">
              <a:buNone/>
              <a:def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copy_from_user 1 2</a:t>
            </a:r>
          </a:p>
          <a:p>
            <a:pPr algn="l">
              <a:buNone/>
              <a:def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alloc 16 3</a:t>
            </a:r>
          </a:p>
          <a:p>
            <a:pPr algn="l">
              <a:buNone/>
              <a:def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copy_to_user 2 3 0</a:t>
            </a:r>
          </a:p>
          <a:p>
            <a:pPr algn="l">
              <a:buNone/>
              <a:def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read 3 0 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DC7E94-213C-418F-8B29-C8BB9917E273}"/>
              </a:ext>
            </a:extLst>
          </p:cNvPr>
          <p:cNvSpPr>
            <a:spLocks noGrp="1"/>
          </p:cNvSpPr>
          <p:nvPr/>
        </p:nvSpPr>
        <p:spPr>
          <a:xfrm>
            <a:off x="4573394" y="2250555"/>
            <a:ext cx="1430043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 fontScale="92500" lnSpcReduction="10000"/>
          </a:bodyPr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USER REGION 1</a:t>
            </a:r>
          </a:p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 65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10D783-71A5-491B-A0CF-2C4841343B80}"/>
              </a:ext>
            </a:extLst>
          </p:cNvPr>
          <p:cNvSpPr>
            <a:spLocks noGrp="1"/>
          </p:cNvSpPr>
          <p:nvPr/>
        </p:nvSpPr>
        <p:spPr>
          <a:xfrm>
            <a:off x="7372034" y="2250555"/>
            <a:ext cx="1401503" cy="762000"/>
          </a:xfrm>
          <a:prstGeom prst="roundRect">
            <a:avLst>
              <a:gd name="adj" fmla="val 10000"/>
            </a:avLst>
          </a:prstGeom>
          <a:solidFill>
            <a:srgbClr val="F8E8D8"/>
          </a:solidFill>
          <a:ln w="9525">
            <a:solidFill>
              <a:srgbClr val="E77728"/>
            </a:solidFill>
            <a:prstDash val="solid"/>
          </a:ln>
        </p:spPr>
        <p:txBody>
          <a:bodyPr wrap="square" lIns="95250" tIns="76200" rIns="95250" bIns="76200" anchor="ctr">
            <a:normAutofit fontScale="92500" lnSpcReduction="10000"/>
          </a:bodyPr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KERNEL REGION 2</a:t>
            </a:r>
          </a:p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 65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A9B5F6E-8C2B-4158-9809-8AF92E6DEBFE}"/>
              </a:ext>
            </a:extLst>
          </p:cNvPr>
          <p:cNvSpPr>
            <a:spLocks noGrp="1"/>
          </p:cNvSpPr>
          <p:nvPr/>
        </p:nvSpPr>
        <p:spPr>
          <a:xfrm>
            <a:off x="10188230" y="2250555"/>
            <a:ext cx="1383948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 fontScale="92500" lnSpcReduction="10000"/>
          </a:bodyPr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USER REGION 3</a:t>
            </a:r>
          </a:p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read = 65</a:t>
            </a:r>
          </a:p>
        </p:txBody>
      </p:sp>
      <p:cxnSp>
        <p:nvCxnSpPr>
          <p:cNvPr id="41" name="Straight Arrow Connector 13"/>
          <p:cNvCxnSpPr>
            <a:stCxn id="11" idx="3"/>
            <a:endCxn id="12" idx="1"/>
          </p:cNvCxnSpPr>
          <p:nvPr/>
        </p:nvCxnSpPr>
        <p:spPr>
          <a:xfrm>
            <a:off x="6003437" y="2631555"/>
            <a:ext cx="1368597" cy="0"/>
          </a:xfrm>
          <a:prstGeom prst="straightConnector1">
            <a:avLst/>
          </a:prstGeom>
          <a:ln w="19050">
            <a:solidFill>
              <a:srgbClr val="E77728"/>
            </a:solidFill>
            <a:prstDash val="solid"/>
          </a:ln>
        </p:spPr>
      </p:cxnSp>
      <p:cxnSp>
        <p:nvCxnSpPr>
          <p:cNvPr id="42" name="Straight Arrow Connector 14"/>
          <p:cNvCxnSpPr>
            <a:stCxn id="12" idx="3"/>
            <a:endCxn id="13" idx="1"/>
          </p:cNvCxnSpPr>
          <p:nvPr/>
        </p:nvCxnSpPr>
        <p:spPr>
          <a:xfrm>
            <a:off x="8773537" y="2631555"/>
            <a:ext cx="1414693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ECB0FD4-F599-412A-9CAD-1977D421237C}"/>
              </a:ext>
            </a:extLst>
          </p:cNvPr>
          <p:cNvSpPr>
            <a:spLocks noGrp="1"/>
          </p:cNvSpPr>
          <p:nvPr/>
        </p:nvSpPr>
        <p:spPr>
          <a:xfrm>
            <a:off x="5707667" y="2288655"/>
            <a:ext cx="2151054" cy="285750"/>
          </a:xfrm>
          <a:prstGeom prst="rect">
            <a:avLst/>
          </a:prstGeom>
          <a:noFill/>
          <a:ln w="9525">
            <a:solidFill>
              <a:srgbClr val="F5F3EE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buNone/>
              <a:defRPr sz="105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copy_from_user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4BF34D-C99F-49CA-978A-629297445F67}"/>
              </a:ext>
            </a:extLst>
          </p:cNvPr>
          <p:cNvSpPr>
            <a:spLocks noGrp="1"/>
          </p:cNvSpPr>
          <p:nvPr/>
        </p:nvSpPr>
        <p:spPr>
          <a:xfrm>
            <a:off x="8337693" y="2307705"/>
            <a:ext cx="2016613" cy="285750"/>
          </a:xfrm>
          <a:prstGeom prst="rect">
            <a:avLst/>
          </a:prstGeom>
          <a:noFill/>
          <a:ln w="9525">
            <a:solidFill>
              <a:srgbClr val="F5F3EE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copy_to_user</a:t>
            </a:r>
          </a:p>
        </p:txBody>
      </p:sp>
      <p:pic>
        <p:nvPicPr>
          <p:cNvPr id="45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25072" y="3543300"/>
            <a:ext cx="7143750" cy="9525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3B5727E-1B51-4033-89BD-C25774189B3D}"/>
              </a:ext>
            </a:extLst>
          </p:cNvPr>
          <p:cNvSpPr>
            <a:spLocks noGrp="1"/>
          </p:cNvSpPr>
          <p:nvPr/>
        </p:nvSpPr>
        <p:spPr>
          <a:xfrm>
            <a:off x="619822" y="5019675"/>
            <a:ext cx="3333750" cy="952500"/>
          </a:xfrm>
          <a:prstGeom prst="roundRect">
            <a:avLst>
              <a:gd name="adj" fmla="val 8000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7BC8CB-2459-48AC-945F-65F9414B337E}"/>
              </a:ext>
            </a:extLst>
          </p:cNvPr>
          <p:cNvSpPr>
            <a:spLocks noGrp="1"/>
          </p:cNvSpPr>
          <p:nvPr/>
        </p:nvSpPr>
        <p:spPr>
          <a:xfrm>
            <a:off x="619822" y="5019675"/>
            <a:ext cx="3333750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747E97-C632-4542-B374-422C5237B492}"/>
              </a:ext>
            </a:extLst>
          </p:cNvPr>
          <p:cNvSpPr>
            <a:spLocks noGrp="1"/>
          </p:cNvSpPr>
          <p:nvPr/>
        </p:nvSpPr>
        <p:spPr>
          <a:xfrm>
            <a:off x="734122" y="5095875"/>
            <a:ext cx="310515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LỆNH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D41D82-E54B-4E62-8A42-7CBAC9009E9C}"/>
              </a:ext>
            </a:extLst>
          </p:cNvPr>
          <p:cNvSpPr>
            <a:spLocks noGrp="1"/>
          </p:cNvSpPr>
          <p:nvPr/>
        </p:nvSpPr>
        <p:spPr>
          <a:xfrm>
            <a:off x="734122" y="5381625"/>
            <a:ext cx="3105150" cy="4953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./os os_mem_roundtrip_spec | grep -E "MEM alloc|MEM read"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56E6F08-C446-4C1B-BD24-61CD1ADDA7C6}"/>
              </a:ext>
            </a:extLst>
          </p:cNvPr>
          <p:cNvSpPr>
            <a:spLocks noGrp="1"/>
          </p:cNvSpPr>
          <p:nvPr/>
        </p:nvSpPr>
        <p:spPr>
          <a:xfrm>
            <a:off x="4525297" y="4988444"/>
            <a:ext cx="714375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0303B-F3DE-43EE-B064-E8C86836DAFA}"/>
              </a:ext>
            </a:extLst>
          </p:cNvPr>
          <p:cNvSpPr>
            <a:spLocks noGrp="1"/>
          </p:cNvSpPr>
          <p:nvPr/>
        </p:nvSpPr>
        <p:spPr>
          <a:xfrm>
            <a:off x="4525297" y="4988444"/>
            <a:ext cx="76200" cy="95250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D52087-D3B9-483A-B6C7-3265F43CE2C8}"/>
              </a:ext>
            </a:extLst>
          </p:cNvPr>
          <p:cNvSpPr>
            <a:spLocks noGrp="1"/>
          </p:cNvSpPr>
          <p:nvPr/>
        </p:nvSpPr>
        <p:spPr>
          <a:xfrm>
            <a:off x="4715797" y="5102744"/>
            <a:ext cx="68389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PROOF CHAIN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DCB5B4-1800-41CE-A898-5AF46E2B055B}"/>
              </a:ext>
            </a:extLst>
          </p:cNvPr>
          <p:cNvSpPr>
            <a:spLocks noGrp="1"/>
          </p:cNvSpPr>
          <p:nvPr/>
        </p:nvSpPr>
        <p:spPr>
          <a:xfrm>
            <a:off x="4715797" y="5407544"/>
            <a:ext cx="68389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 fontScale="97425"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Parser mặc định size = 1 → syscall 17 → copy helpers → address translation → read lại 65.</a:t>
            </a:r>
          </a:p>
        </p:txBody>
      </p:sp>
      <p:pic>
        <p:nvPicPr>
          <p:cNvPr id="54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75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941C277-CA61-45B8-AF95-D9180A6EB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50B2BA-7625-4079-A441-C78E884FE431}"/>
              </a:ext>
            </a:extLst>
          </p:cNvPr>
          <p:cNvSpPr>
            <a:spLocks noGrp="1"/>
          </p:cNvSpPr>
          <p:nvPr/>
        </p:nvSpPr>
        <p:spPr>
          <a:xfrm>
            <a:off x="647700" y="1038225"/>
            <a:ext cx="10668000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Paging data-path: cùng VA vẫn có dữ liệu riêng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BD486-1B73-4963-8087-5F37D4944645}"/>
              </a:ext>
            </a:extLst>
          </p:cNvPr>
          <p:cNvSpPr>
            <a:spLocks noGrp="1"/>
          </p:cNvSpPr>
          <p:nvPr/>
        </p:nvSpPr>
        <p:spPr>
          <a:xfrm>
            <a:off x="658547" y="1568054"/>
            <a:ext cx="8561257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E654AD-D8B0-41C2-BD6D-6E18F4D68E8D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pic>
        <p:nvPicPr>
          <p:cNvPr id="5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05AD14F-DDE9-445B-9915-76BC62811831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E5F0F7"/>
          </a:solidFill>
          <a:ln w="9525">
            <a:solidFill>
              <a:srgbClr val="0E345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650" b="1">
                <a:solidFill>
                  <a:srgbClr val="0E34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3458"/>
                </a:solidFill>
                <a:latin typeface="Arial"/>
                <a:ea typeface="Arial"/>
                <a:cs typeface="Arial"/>
              </a:rPr>
              <a:t>PID 1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2A05570-471E-43E5-80B0-757894B9397E}"/>
              </a:ext>
            </a:extLst>
          </p:cNvPr>
          <p:cNvSpPr>
            <a:spLocks noGrp="1"/>
          </p:cNvSpPr>
          <p:nvPr/>
        </p:nvSpPr>
        <p:spPr>
          <a:xfrm>
            <a:off x="2762250" y="2238375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E345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VA 0x0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380A309-42D7-49FF-AC98-7A7079CA20C3}"/>
              </a:ext>
            </a:extLst>
          </p:cNvPr>
          <p:cNvSpPr>
            <a:spLocks noGrp="1"/>
          </p:cNvSpPr>
          <p:nvPr/>
        </p:nvSpPr>
        <p:spPr>
          <a:xfrm>
            <a:off x="4857750" y="2047875"/>
            <a:ext cx="2095500" cy="933450"/>
          </a:xfrm>
          <a:prstGeom prst="roundRect">
            <a:avLst>
              <a:gd name="adj" fmla="val 8163"/>
            </a:avLst>
          </a:prstGeom>
          <a:solidFill>
            <a:srgbClr val="DDF2F2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page table PID 1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91D543A-D4AE-40C4-87D1-7133CEF44760}"/>
              </a:ext>
            </a:extLst>
          </p:cNvPr>
          <p:cNvSpPr>
            <a:spLocks noGrp="1"/>
          </p:cNvSpPr>
          <p:nvPr/>
        </p:nvSpPr>
        <p:spPr>
          <a:xfrm>
            <a:off x="7477125" y="2047875"/>
            <a:ext cx="2000250" cy="933450"/>
          </a:xfrm>
          <a:prstGeom prst="roundRect">
            <a:avLst>
              <a:gd name="adj" fmla="val 8163"/>
            </a:avLst>
          </a:prstGeom>
          <a:solidFill>
            <a:srgbClr val="FBE9D8"/>
          </a:solidFill>
          <a:ln w="9525">
            <a:solidFill>
              <a:srgbClr val="F47721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F477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7721"/>
                </a:solidFill>
                <a:latin typeface="Arial"/>
                <a:ea typeface="Arial"/>
                <a:cs typeface="Arial"/>
              </a:rPr>
              <a:t>frame A</a:t>
            </a:r>
          </a:p>
          <a:p>
            <a:pPr algn="ctr">
              <a:defRPr sz="1500" b="1">
                <a:solidFill>
                  <a:srgbClr val="F477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7721"/>
                </a:solidFill>
                <a:latin typeface="Arial"/>
                <a:ea typeface="Arial"/>
                <a:cs typeface="Arial"/>
              </a:rPr>
              <a:t>byte 65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4080A4-031B-45E2-B8E9-AC35422C4A85}"/>
              </a:ext>
            </a:extLst>
          </p:cNvPr>
          <p:cNvSpPr>
            <a:spLocks noGrp="1"/>
          </p:cNvSpPr>
          <p:nvPr/>
        </p:nvSpPr>
        <p:spPr>
          <a:xfrm>
            <a:off x="2286000" y="2495550"/>
            <a:ext cx="476250" cy="2857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8DDDF3-8B09-4C54-A07C-270D89931EB8}"/>
              </a:ext>
            </a:extLst>
          </p:cNvPr>
          <p:cNvSpPr>
            <a:spLocks noGrp="1"/>
          </p:cNvSpPr>
          <p:nvPr/>
        </p:nvSpPr>
        <p:spPr>
          <a:xfrm>
            <a:off x="4381500" y="2495550"/>
            <a:ext cx="476250" cy="2857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E90E48-12E0-4882-8CAA-E37DFD08FE35}"/>
              </a:ext>
            </a:extLst>
          </p:cNvPr>
          <p:cNvSpPr>
            <a:spLocks noGrp="1"/>
          </p:cNvSpPr>
          <p:nvPr/>
        </p:nvSpPr>
        <p:spPr>
          <a:xfrm>
            <a:off x="6953250" y="2495550"/>
            <a:ext cx="523875" cy="28575"/>
          </a:xfrm>
          <a:prstGeom prst="rect">
            <a:avLst/>
          </a:prstGeom>
          <a:solidFill>
            <a:srgbClr val="F47721"/>
          </a:solidFill>
          <a:ln w="9525">
            <a:solidFill>
              <a:srgbClr val="F47721"/>
            </a:solidFill>
            <a:prstDash val="solid"/>
          </a:ln>
        </p:spPr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15EB521-F4A2-40CB-BDD6-15956DE0E47E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E5F0F7"/>
          </a:solidFill>
          <a:ln w="9525">
            <a:solidFill>
              <a:srgbClr val="0E345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650" b="1">
                <a:solidFill>
                  <a:srgbClr val="0E345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3458"/>
                </a:solidFill>
                <a:latin typeface="Arial"/>
                <a:ea typeface="Arial"/>
                <a:cs typeface="Arial"/>
              </a:rPr>
              <a:t>PID 2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D0007EC-2F8A-445B-B0A4-CA50CC054D5E}"/>
              </a:ext>
            </a:extLst>
          </p:cNvPr>
          <p:cNvSpPr>
            <a:spLocks noGrp="1"/>
          </p:cNvSpPr>
          <p:nvPr/>
        </p:nvSpPr>
        <p:spPr>
          <a:xfrm>
            <a:off x="2762250" y="3476625"/>
            <a:ext cx="1619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E3458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6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VA 0x0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1DD0E24-0F78-4A46-84E4-4923C9A042C9}"/>
              </a:ext>
            </a:extLst>
          </p:cNvPr>
          <p:cNvSpPr>
            <a:spLocks noGrp="1"/>
          </p:cNvSpPr>
          <p:nvPr/>
        </p:nvSpPr>
        <p:spPr>
          <a:xfrm>
            <a:off x="4857750" y="3286125"/>
            <a:ext cx="2095500" cy="933450"/>
          </a:xfrm>
          <a:prstGeom prst="roundRect">
            <a:avLst>
              <a:gd name="adj" fmla="val 8163"/>
            </a:avLst>
          </a:prstGeom>
          <a:solidFill>
            <a:srgbClr val="DDF2F2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page table PID 2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6A9009B-4E9F-4C0E-82CB-A973344592E9}"/>
              </a:ext>
            </a:extLst>
          </p:cNvPr>
          <p:cNvSpPr>
            <a:spLocks noGrp="1"/>
          </p:cNvSpPr>
          <p:nvPr/>
        </p:nvSpPr>
        <p:spPr>
          <a:xfrm>
            <a:off x="7477125" y="3286125"/>
            <a:ext cx="2000250" cy="933450"/>
          </a:xfrm>
          <a:prstGeom prst="roundRect">
            <a:avLst>
              <a:gd name="adj" fmla="val 8163"/>
            </a:avLst>
          </a:prstGeom>
          <a:solidFill>
            <a:srgbClr val="FBE9D8"/>
          </a:solidFill>
          <a:ln w="9525">
            <a:solidFill>
              <a:srgbClr val="F47721"/>
            </a:solidFill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F477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7721"/>
                </a:solidFill>
                <a:latin typeface="Arial"/>
                <a:ea typeface="Arial"/>
                <a:cs typeface="Arial"/>
              </a:rPr>
              <a:t>frame B</a:t>
            </a:r>
          </a:p>
          <a:p>
            <a:pPr algn="ctr">
              <a:defRPr sz="1500" b="1">
                <a:solidFill>
                  <a:srgbClr val="F4772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7721"/>
                </a:solidFill>
                <a:latin typeface="Arial"/>
                <a:ea typeface="Arial"/>
                <a:cs typeface="Arial"/>
              </a:rPr>
              <a:t>byte 66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90173D2-ECF6-41D8-ADB3-E669753EC451}"/>
              </a:ext>
            </a:extLst>
          </p:cNvPr>
          <p:cNvSpPr>
            <a:spLocks noGrp="1"/>
          </p:cNvSpPr>
          <p:nvPr/>
        </p:nvSpPr>
        <p:spPr>
          <a:xfrm>
            <a:off x="2286000" y="3733800"/>
            <a:ext cx="476250" cy="2857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9DDD0E-651B-4206-B1A0-44311BEF3301}"/>
              </a:ext>
            </a:extLst>
          </p:cNvPr>
          <p:cNvSpPr>
            <a:spLocks noGrp="1"/>
          </p:cNvSpPr>
          <p:nvPr/>
        </p:nvSpPr>
        <p:spPr>
          <a:xfrm>
            <a:off x="4381500" y="3733800"/>
            <a:ext cx="476250" cy="2857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2E4728-DF57-4167-A223-4AC4A8096426}"/>
              </a:ext>
            </a:extLst>
          </p:cNvPr>
          <p:cNvSpPr>
            <a:spLocks noGrp="1"/>
          </p:cNvSpPr>
          <p:nvPr/>
        </p:nvSpPr>
        <p:spPr>
          <a:xfrm>
            <a:off x="6953250" y="3733800"/>
            <a:ext cx="523875" cy="28575"/>
          </a:xfrm>
          <a:prstGeom prst="rect">
            <a:avLst/>
          </a:prstGeom>
          <a:solidFill>
            <a:srgbClr val="F47721"/>
          </a:solidFill>
          <a:ln w="9525">
            <a:solidFill>
              <a:srgbClr val="F47721"/>
            </a:solidFill>
            <a:prstDash val="solid"/>
          </a:ln>
        </p:spPr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60693FC-E1CC-4FB8-9AA2-E7C9580DF8E2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4572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3EEDAD-834E-4622-B7E9-10FEB3F754DE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6200" cy="10001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F0DE0-9F9B-487C-AFA8-C01F0312F970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PROPERTY 1 · ADDRESS-SPACE ISOLATION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0E07D31-F5FE-4759-9162-069F2687CE7E}"/>
              </a:ext>
            </a:extLst>
          </p:cNvPr>
          <p:cNvSpPr>
            <a:spLocks noGrp="1"/>
          </p:cNvSpPr>
          <p:nvPr/>
        </p:nvSpPr>
        <p:spPr>
          <a:xfrm>
            <a:off x="838200" y="5105400"/>
            <a:ext cx="42862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Hai process có thể cùng dùng VA 0x0 nhưng page table riêng ánh xạ tới frame khác nhau.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DD5B8CD-3357-44A8-9264-C0CB611656D5}"/>
              </a:ext>
            </a:extLst>
          </p:cNvPr>
          <p:cNvSpPr>
            <a:spLocks noGrp="1"/>
          </p:cNvSpPr>
          <p:nvPr/>
        </p:nvSpPr>
        <p:spPr>
          <a:xfrm>
            <a:off x="5572125" y="4762500"/>
            <a:ext cx="45720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9B75931-9FB2-49A7-A481-1AF2012D573E}"/>
              </a:ext>
            </a:extLst>
          </p:cNvPr>
          <p:cNvSpPr>
            <a:spLocks noGrp="1"/>
          </p:cNvSpPr>
          <p:nvPr/>
        </p:nvSpPr>
        <p:spPr>
          <a:xfrm>
            <a:off x="5572125" y="4762500"/>
            <a:ext cx="76200" cy="1000125"/>
          </a:xfrm>
          <a:prstGeom prst="rect">
            <a:avLst/>
          </a:prstGeom>
          <a:solidFill>
            <a:srgbClr val="F47721"/>
          </a:solidFill>
          <a:ln w="9525">
            <a:solidFill>
              <a:srgbClr val="F47721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9A2338B-2622-4ABF-8CCF-4B960920F0DC}"/>
              </a:ext>
            </a:extLst>
          </p:cNvPr>
          <p:cNvSpPr>
            <a:spLocks noGrp="1"/>
          </p:cNvSpPr>
          <p:nvPr/>
        </p:nvSpPr>
        <p:spPr>
          <a:xfrm>
            <a:off x="5743575" y="4857750"/>
            <a:ext cx="428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F47721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F47721"/>
                </a:solidFill>
                <a:latin typeface="Arial"/>
                <a:ea typeface="Arial"/>
                <a:cs typeface="Arial"/>
              </a:rPr>
              <a:t>PROPERTY 2 · PAGE BOUNDARY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0C50D5A-4D0C-41AD-A6E9-5EB4367EB6C2}"/>
              </a:ext>
            </a:extLst>
          </p:cNvPr>
          <p:cNvSpPr>
            <a:spLocks noGrp="1"/>
          </p:cNvSpPr>
          <p:nvPr/>
        </p:nvSpPr>
        <p:spPr>
          <a:xfrm>
            <a:off x="5743575" y="5105400"/>
            <a:ext cx="42862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Byte cuối page và byte đầu page kế tiếp phải được dịch và đọc lại đúng.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BF44337-D0B7-4470-AAE6-6379283C9523}"/>
              </a:ext>
            </a:extLst>
          </p:cNvPr>
          <p:cNvSpPr>
            <a:spLocks noGrp="1"/>
          </p:cNvSpPr>
          <p:nvPr/>
        </p:nvSpPr>
        <p:spPr>
          <a:xfrm>
            <a:off x="1952625" y="5953125"/>
            <a:ext cx="8286750" cy="419100"/>
          </a:xfrm>
          <a:prstGeom prst="rect">
            <a:avLst/>
          </a:prstGeom>
          <a:solidFill>
            <a:srgbClr val="E5F0F7"/>
          </a:solidFill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275" b="1">
                <a:solidFill>
                  <a:srgbClr val="0E345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3458"/>
                </a:solidFill>
                <a:latin typeface="Arial"/>
                <a:ea typeface="Arial"/>
                <a:cs typeface="Arial"/>
              </a:rPr>
              <a:t>Data path hiện dùng page 256 B; cây MM64 dùng bảng 4 KiB — cần phân biệt hai granularity.</a:t>
            </a:r>
          </a:p>
        </p:txBody>
      </p:sp>
    </p:spTree>
    <p:extLst>
      <p:ext uri="{BB962C8B-B14F-4D97-AF65-F5344CB8AC3E}">
        <p14:creationId xmlns:p14="http://schemas.microsoft.com/office/powerpoint/2010/main" val="1564824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941C277-CA61-45B8-AF95-D9180A6EB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50B2BA-7625-4079-A441-C78E884FE431}"/>
              </a:ext>
            </a:extLst>
          </p:cNvPr>
          <p:cNvSpPr>
            <a:spLocks noGrp="1"/>
          </p:cNvSpPr>
          <p:nvPr/>
        </p:nvSpPr>
        <p:spPr>
          <a:xfrm>
            <a:off x="647700" y="1038225"/>
            <a:ext cx="10668000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Cùng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virtual address,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hai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process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vẫn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tách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dữ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liệu</a:t>
            </a:r>
            <a:endParaRPr sz="2700" b="1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1BD486-1B73-4963-8087-5F37D4944645}"/>
              </a:ext>
            </a:extLst>
          </p:cNvPr>
          <p:cNvSpPr>
            <a:spLocks noGrp="1"/>
          </p:cNvSpPr>
          <p:nvPr/>
        </p:nvSpPr>
        <p:spPr>
          <a:xfrm>
            <a:off x="658547" y="1568054"/>
            <a:ext cx="8561257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E654AD-D8B0-41C2-BD6D-6E18F4D68E8D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pic>
        <p:nvPicPr>
          <p:cNvPr id="48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F6516F7-43B0-404A-B4A9-25EC93F870CD}"/>
              </a:ext>
            </a:extLst>
          </p:cNvPr>
          <p:cNvSpPr>
            <a:spLocks noGrp="1"/>
          </p:cNvSpPr>
          <p:nvPr/>
        </p:nvSpPr>
        <p:spPr>
          <a:xfrm>
            <a:off x="523875" y="2000250"/>
            <a:ext cx="4238625" cy="2714625"/>
          </a:xfrm>
          <a:prstGeom prst="roundRect">
            <a:avLst>
              <a:gd name="adj" fmla="val 2807"/>
            </a:avLst>
          </a:prstGeom>
          <a:solidFill>
            <a:srgbClr val="121A21"/>
          </a:solidFill>
          <a:ln w="9525">
            <a:solidFill>
              <a:srgbClr val="121A21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F7A3AD-0FA9-43F3-AFB0-38363FF8EAE0}"/>
              </a:ext>
            </a:extLst>
          </p:cNvPr>
          <p:cNvSpPr>
            <a:spLocks noGrp="1"/>
          </p:cNvSpPr>
          <p:nvPr/>
        </p:nvSpPr>
        <p:spPr>
          <a:xfrm>
            <a:off x="523875" y="2000250"/>
            <a:ext cx="4238625" cy="57150"/>
          </a:xfrm>
          <a:prstGeom prst="rect">
            <a:avLst/>
          </a:prstGeom>
          <a:solidFill>
            <a:srgbClr val="F47721"/>
          </a:solidFill>
          <a:ln w="9525">
            <a:solidFill>
              <a:srgbClr val="F47721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3FB50-352A-4C00-8E3D-0336D9CEA318}"/>
              </a:ext>
            </a:extLst>
          </p:cNvPr>
          <p:cNvSpPr>
            <a:spLocks noGrp="1"/>
          </p:cNvSpPr>
          <p:nvPr/>
        </p:nvSpPr>
        <p:spPr>
          <a:xfrm>
            <a:off x="657225" y="2114550"/>
            <a:ext cx="3971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F47721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F47721"/>
                </a:solidFill>
                <a:latin typeface="Arial"/>
                <a:ea typeface="Arial"/>
                <a:cs typeface="Arial"/>
              </a:rPr>
              <a:t>INPUT · </a:t>
            </a:r>
            <a:r>
              <a:rPr sz="1050" b="1" dirty="0" err="1">
                <a:solidFill>
                  <a:srgbClr val="F47721"/>
                </a:solidFill>
                <a:latin typeface="Arial"/>
                <a:ea typeface="Arial"/>
                <a:cs typeface="Arial"/>
              </a:rPr>
              <a:t>os_paging_same_va</a:t>
            </a:r>
            <a:endParaRPr sz="1050" b="1" dirty="0">
              <a:solidFill>
                <a:srgbClr val="F477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F94802-0F76-4AF1-9D00-76AB0D38B2C3}"/>
              </a:ext>
            </a:extLst>
          </p:cNvPr>
          <p:cNvSpPr>
            <a:spLocks noGrp="1"/>
          </p:cNvSpPr>
          <p:nvPr/>
        </p:nvSpPr>
        <p:spPr>
          <a:xfrm>
            <a:off x="657225" y="2400300"/>
            <a:ext cx="3971925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CONFIG: 1 CPU · 2 processes</a:t>
            </a:r>
          </a:p>
          <a:p>
            <a:endParaRPr sz="1125" b="0">
              <a:solidFill>
                <a:srgbClr val="E6E6E6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PID 1: alloc 16 1</a:t>
            </a:r>
          </a:p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   write 65 1 0</a:t>
            </a:r>
          </a:p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   read 1 0 2</a:t>
            </a:r>
          </a:p>
          <a:p>
            <a:endParaRPr sz="1125" b="0">
              <a:solidFill>
                <a:srgbClr val="E6E6E6"/>
              </a:solidFill>
              <a:latin typeface="Courier New"/>
              <a:ea typeface="Courier New"/>
              <a:cs typeface="Courier New"/>
            </a:endParaRPr>
          </a:p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PID 2: alloc 16 1</a:t>
            </a:r>
          </a:p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   write 66 1 0</a:t>
            </a:r>
          </a:p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       read 1 0 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82DB7FD-AE14-4CA5-8922-4845ED1E4980}"/>
              </a:ext>
            </a:extLst>
          </p:cNvPr>
          <p:cNvSpPr>
            <a:spLocks noGrp="1"/>
          </p:cNvSpPr>
          <p:nvPr/>
        </p:nvSpPr>
        <p:spPr>
          <a:xfrm>
            <a:off x="5191125" y="2000250"/>
            <a:ext cx="6191250" cy="1952625"/>
          </a:xfrm>
          <a:prstGeom prst="roundRect">
            <a:avLst>
              <a:gd name="adj" fmla="val 3902"/>
            </a:avLst>
          </a:prstGeom>
          <a:solidFill>
            <a:srgbClr val="121A21"/>
          </a:solidFill>
          <a:ln w="9525">
            <a:solidFill>
              <a:srgbClr val="121A21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F2AFAD-8420-4637-B911-365283308775}"/>
              </a:ext>
            </a:extLst>
          </p:cNvPr>
          <p:cNvSpPr>
            <a:spLocks noGrp="1"/>
          </p:cNvSpPr>
          <p:nvPr/>
        </p:nvSpPr>
        <p:spPr>
          <a:xfrm>
            <a:off x="5191125" y="2000250"/>
            <a:ext cx="6191250" cy="5715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4A1A71-EEE4-46E2-B7B9-B3C1F23F656B}"/>
              </a:ext>
            </a:extLst>
          </p:cNvPr>
          <p:cNvSpPr>
            <a:spLocks noGrp="1"/>
          </p:cNvSpPr>
          <p:nvPr/>
        </p:nvSpPr>
        <p:spPr>
          <a:xfrm>
            <a:off x="5324475" y="2114550"/>
            <a:ext cx="5924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D1FF9D5-5599-4EFE-BB93-531E8AE582F6}"/>
              </a:ext>
            </a:extLst>
          </p:cNvPr>
          <p:cNvSpPr>
            <a:spLocks noGrp="1"/>
          </p:cNvSpPr>
          <p:nvPr/>
        </p:nvSpPr>
        <p:spPr>
          <a:xfrm>
            <a:off x="5324475" y="2400300"/>
            <a:ext cx="5924550" cy="1457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MEM alloc PID 1 region 1 [0,16) size 16</a:t>
            </a:r>
          </a:p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MEM alloc PID 2 region 1 [0,16) size 16</a:t>
            </a:r>
          </a:p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MEM read PID 1 region 1 offset 0 value 65</a:t>
            </a:r>
          </a:p>
          <a:p>
            <a:pPr algn="l">
              <a:def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E6E6E6"/>
                </a:solidFill>
                <a:latin typeface="Courier New"/>
                <a:ea typeface="Courier New"/>
                <a:cs typeface="Courier New"/>
              </a:rPr>
              <a:t>MEM read PID 2 region 1 offset 0 value 66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4645DC9-5E6B-4990-875E-BB90E8297380}"/>
              </a:ext>
            </a:extLst>
          </p:cNvPr>
          <p:cNvSpPr>
            <a:spLocks noGrp="1"/>
          </p:cNvSpPr>
          <p:nvPr/>
        </p:nvSpPr>
        <p:spPr>
          <a:xfrm>
            <a:off x="5191125" y="4238625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07D4D9-C8FC-47B1-A02C-D9273794BD14}"/>
              </a:ext>
            </a:extLst>
          </p:cNvPr>
          <p:cNvSpPr>
            <a:spLocks noGrp="1"/>
          </p:cNvSpPr>
          <p:nvPr/>
        </p:nvSpPr>
        <p:spPr>
          <a:xfrm>
            <a:off x="5191125" y="4238625"/>
            <a:ext cx="76200" cy="1143000"/>
          </a:xfrm>
          <a:prstGeom prst="rect">
            <a:avLst/>
          </a:prstGeom>
          <a:solidFill>
            <a:srgbClr val="F47721"/>
          </a:solidFill>
          <a:ln w="9525">
            <a:solidFill>
              <a:srgbClr val="F47721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5BCE10-AEE9-4FCE-89BC-0BD31C3FC693}"/>
              </a:ext>
            </a:extLst>
          </p:cNvPr>
          <p:cNvSpPr>
            <a:spLocks noGrp="1"/>
          </p:cNvSpPr>
          <p:nvPr/>
        </p:nvSpPr>
        <p:spPr>
          <a:xfrm>
            <a:off x="5362575" y="43338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F4772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7721"/>
                </a:solidFill>
                <a:latin typeface="Arial"/>
                <a:ea typeface="Arial"/>
                <a:cs typeface="Arial"/>
              </a:rPr>
              <a:t>DỰ ĐOÁN TRƯỚC KHI CHẠY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D1C211-4D4B-4C30-9AA7-B64191ACF2EE}"/>
              </a:ext>
            </a:extLst>
          </p:cNvPr>
          <p:cNvSpPr>
            <a:spLocks noGrp="1"/>
          </p:cNvSpPr>
          <p:nvPr/>
        </p:nvSpPr>
        <p:spPr>
          <a:xfrm>
            <a:off x="5362575" y="4581525"/>
            <a:ext cx="266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Cùng region [0,16), cùng offset 0; mỗi PID vẫn phải đọc giá trị mình đã ghi.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01680DB-A21E-476F-A790-33902171A0B1}"/>
              </a:ext>
            </a:extLst>
          </p:cNvPr>
          <p:cNvSpPr>
            <a:spLocks noGrp="1"/>
          </p:cNvSpPr>
          <p:nvPr/>
        </p:nvSpPr>
        <p:spPr>
          <a:xfrm>
            <a:off x="8429625" y="4238625"/>
            <a:ext cx="2952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F7CB7C-92F8-45CB-972F-54F00722C70A}"/>
              </a:ext>
            </a:extLst>
          </p:cNvPr>
          <p:cNvSpPr>
            <a:spLocks noGrp="1"/>
          </p:cNvSpPr>
          <p:nvPr/>
        </p:nvSpPr>
        <p:spPr>
          <a:xfrm>
            <a:off x="8429625" y="4238625"/>
            <a:ext cx="76200" cy="114300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540559-5730-419A-AE98-6F3A930C0768}"/>
              </a:ext>
            </a:extLst>
          </p:cNvPr>
          <p:cNvSpPr>
            <a:spLocks noGrp="1"/>
          </p:cNvSpPr>
          <p:nvPr/>
        </p:nvSpPr>
        <p:spPr>
          <a:xfrm>
            <a:off x="8601075" y="433387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BẰNG CHỨNG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28EC84-798E-4598-BDF0-1E6B23CA1A84}"/>
              </a:ext>
            </a:extLst>
          </p:cNvPr>
          <p:cNvSpPr>
            <a:spLocks noGrp="1"/>
          </p:cNvSpPr>
          <p:nvPr/>
        </p:nvSpPr>
        <p:spPr>
          <a:xfrm>
            <a:off x="8601075" y="4581525"/>
            <a:ext cx="2667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65 và 66 </a:t>
            </a:r>
            <a:r>
              <a:rPr sz="1275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không</a:t>
            </a:r>
            <a:r>
              <a:rPr sz="1275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ghi</a:t>
            </a:r>
            <a:r>
              <a:rPr sz="1275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đè</a:t>
            </a:r>
            <a:r>
              <a:rPr sz="1275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nhau</a:t>
            </a:r>
            <a:r>
              <a:rPr sz="1275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: address space và page-table mapping </a:t>
            </a:r>
            <a:r>
              <a:rPr sz="1275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275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tách</a:t>
            </a:r>
            <a:r>
              <a:rPr sz="1275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theo</a:t>
            </a:r>
            <a:r>
              <a:rPr sz="1275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process.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7C7AD8-F05C-4E34-BECA-454D7411771F}"/>
              </a:ext>
            </a:extLst>
          </p:cNvPr>
          <p:cNvSpPr>
            <a:spLocks noGrp="1"/>
          </p:cNvSpPr>
          <p:nvPr/>
        </p:nvSpPr>
        <p:spPr>
          <a:xfrm>
            <a:off x="3810000" y="5762625"/>
            <a:ext cx="6953250" cy="438150"/>
          </a:xfrm>
          <a:prstGeom prst="rect">
            <a:avLst/>
          </a:prstGeom>
          <a:solidFill>
            <a:srgbClr val="E5F0F7"/>
          </a:solidFill>
          <a:ln w="0">
            <a:noFill/>
            <a:prstDash val="solid"/>
          </a:ln>
        </p:spPr>
        <p:txBody>
          <a:bodyPr wrap="square" lIns="76200" tIns="57150" rIns="76200" bIns="57150" anchor="ctr">
            <a:normAutofit/>
          </a:bodyPr>
          <a:lstStyle/>
          <a:p>
            <a:pPr algn="ctr">
              <a:defRPr sz="1500" b="1">
                <a:solidFill>
                  <a:srgbClr val="0E3458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E3458"/>
                </a:solidFill>
                <a:latin typeface="Arial"/>
                <a:ea typeface="Arial"/>
                <a:cs typeface="Arial"/>
              </a:rPr>
              <a:t>Invariant: </a:t>
            </a:r>
            <a:r>
              <a:rPr sz="1500" b="1" dirty="0" err="1">
                <a:solidFill>
                  <a:srgbClr val="0E3458"/>
                </a:solidFill>
                <a:latin typeface="Arial"/>
                <a:ea typeface="Arial"/>
                <a:cs typeface="Arial"/>
              </a:rPr>
              <a:t>cùng</a:t>
            </a:r>
            <a:r>
              <a:rPr sz="1500" b="1" dirty="0">
                <a:solidFill>
                  <a:srgbClr val="0E3458"/>
                </a:solidFill>
                <a:latin typeface="Arial"/>
                <a:ea typeface="Arial"/>
                <a:cs typeface="Arial"/>
              </a:rPr>
              <a:t> virtual address ≠ </a:t>
            </a:r>
            <a:r>
              <a:rPr sz="1500" b="1" dirty="0" err="1">
                <a:solidFill>
                  <a:srgbClr val="0E3458"/>
                </a:solidFill>
                <a:latin typeface="Arial"/>
                <a:ea typeface="Arial"/>
                <a:cs typeface="Arial"/>
              </a:rPr>
              <a:t>cùng</a:t>
            </a:r>
            <a:r>
              <a:rPr sz="1500" b="1" dirty="0">
                <a:solidFill>
                  <a:srgbClr val="0E3458"/>
                </a:solidFill>
                <a:latin typeface="Arial"/>
                <a:ea typeface="Arial"/>
                <a:cs typeface="Arial"/>
              </a:rPr>
              <a:t> physical frame.</a:t>
            </a:r>
          </a:p>
        </p:txBody>
      </p:sp>
    </p:spTree>
    <p:extLst>
      <p:ext uri="{BB962C8B-B14F-4D97-AF65-F5344CB8AC3E}">
        <p14:creationId xmlns:p14="http://schemas.microsoft.com/office/powerpoint/2010/main" val="1564824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B98757B-8DAF-4045-83F3-A801BF393605}"/>
              </a:ext>
            </a:extLst>
          </p:cNvPr>
          <p:cNvSpPr>
            <a:spLocks noGrp="1"/>
          </p:cNvSpPr>
          <p:nvPr/>
        </p:nvSpPr>
        <p:spPr>
          <a:xfrm>
            <a:off x="0" y="13335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DA7DA-BA23-4BF1-8038-FFC80871EF45}"/>
              </a:ext>
            </a:extLst>
          </p:cNvPr>
          <p:cNvSpPr>
            <a:spLocks noGrp="1"/>
          </p:cNvSpPr>
          <p:nvPr/>
        </p:nvSpPr>
        <p:spPr>
          <a:xfrm>
            <a:off x="619823" y="1057275"/>
            <a:ext cx="10782300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Kiến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thức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nền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: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syscall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là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điểm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chuyển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từ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yêu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cầu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không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tin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cậy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sang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thao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tác</a:t>
            </a:r>
            <a:r>
              <a:rPr sz="24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kernel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5DE591-005E-4065-9112-F6EEFE891416}"/>
              </a:ext>
            </a:extLst>
          </p:cNvPr>
          <p:cNvSpPr>
            <a:spLocks noGrp="1"/>
          </p:cNvSpPr>
          <p:nvPr/>
        </p:nvSpPr>
        <p:spPr>
          <a:xfrm flipV="1">
            <a:off x="638871" y="1837889"/>
            <a:ext cx="1429771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293CF7-818F-4EF1-AD74-6FDBE95EB8D8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C0DE36-EA46-460D-9FF8-6113BC713F0A}"/>
              </a:ext>
            </a:extLst>
          </p:cNvPr>
          <p:cNvSpPr>
            <a:spLocks noGrp="1"/>
          </p:cNvSpPr>
          <p:nvPr/>
        </p:nvSpPr>
        <p:spPr>
          <a:xfrm>
            <a:off x="638872" y="2216983"/>
            <a:ext cx="24765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USER REQUEST</a:t>
            </a:r>
          </a:p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number + scalar args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B1557A-8DD4-4AFC-A8BF-41D6EFC09A65}"/>
              </a:ext>
            </a:extLst>
          </p:cNvPr>
          <p:cNvSpPr>
            <a:spLocks noGrp="1"/>
          </p:cNvSpPr>
          <p:nvPr/>
        </p:nvSpPr>
        <p:spPr>
          <a:xfrm>
            <a:off x="4782247" y="2216983"/>
            <a:ext cx="2571750" cy="857250"/>
          </a:xfrm>
          <a:prstGeom prst="roundRect">
            <a:avLst>
              <a:gd name="adj" fmla="val 8889"/>
            </a:avLst>
          </a:prstGeom>
          <a:solidFill>
            <a:srgbClr val="DFF2F1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KERNEL VALIDATE</a:t>
            </a:r>
          </a:p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caller · range · ownership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0AC75F0-8040-42B5-ACCF-E50BEDC4C7AF}"/>
              </a:ext>
            </a:extLst>
          </p:cNvPr>
          <p:cNvSpPr>
            <a:spLocks noGrp="1"/>
          </p:cNvSpPr>
          <p:nvPr/>
        </p:nvSpPr>
        <p:spPr>
          <a:xfrm>
            <a:off x="9020872" y="2216983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F8E8D8"/>
          </a:solidFill>
          <a:ln w="9525">
            <a:solidFill>
              <a:srgbClr val="E7772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PRIVILEGED OP</a:t>
            </a:r>
          </a:p>
          <a:p>
            <a:pPr algn="ctr">
              <a:buNone/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read / write / map</a:t>
            </a:r>
          </a:p>
        </p:txBody>
      </p:sp>
      <p:cxnSp>
        <p:nvCxnSpPr>
          <p:cNvPr id="34" name="Straight Arrow Connector 9"/>
          <p:cNvCxnSpPr>
            <a:stCxn id="7" idx="3"/>
            <a:endCxn id="8" idx="1"/>
          </p:cNvCxnSpPr>
          <p:nvPr/>
        </p:nvCxnSpPr>
        <p:spPr>
          <a:xfrm>
            <a:off x="3115372" y="2645608"/>
            <a:ext cx="1666875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</a:ln>
        </p:spPr>
      </p:cxnSp>
      <p:cxnSp>
        <p:nvCxnSpPr>
          <p:cNvPr id="35" name="Straight Arrow Connector 10"/>
          <p:cNvCxnSpPr>
            <a:stCxn id="8" idx="3"/>
            <a:endCxn id="9" idx="1"/>
          </p:cNvCxnSpPr>
          <p:nvPr/>
        </p:nvCxnSpPr>
        <p:spPr>
          <a:xfrm>
            <a:off x="7353997" y="2645608"/>
            <a:ext cx="1666875" cy="0"/>
          </a:xfrm>
          <a:prstGeom prst="straightConnector1">
            <a:avLst/>
          </a:prstGeom>
          <a:ln w="19050">
            <a:solidFill>
              <a:srgbClr val="E77728"/>
            </a:solidFill>
            <a:prstDash val="solid"/>
          </a:ln>
        </p:spPr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F7C70FB-63F4-4C39-A533-FF745CF96773}"/>
              </a:ext>
            </a:extLst>
          </p:cNvPr>
          <p:cNvSpPr>
            <a:spLocks noGrp="1"/>
          </p:cNvSpPr>
          <p:nvPr/>
        </p:nvSpPr>
        <p:spPr>
          <a:xfrm>
            <a:off x="638871" y="381000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B0BE0C-818E-4C08-B736-4C7BB8151A72}"/>
              </a:ext>
            </a:extLst>
          </p:cNvPr>
          <p:cNvSpPr>
            <a:spLocks noGrp="1"/>
          </p:cNvSpPr>
          <p:nvPr/>
        </p:nvSpPr>
        <p:spPr>
          <a:xfrm>
            <a:off x="638871" y="3810000"/>
            <a:ext cx="76200" cy="1143000"/>
          </a:xfrm>
          <a:prstGeom prst="rect">
            <a:avLst/>
          </a:prstGeom>
          <a:solidFill>
            <a:srgbClr val="092B4C"/>
          </a:solidFill>
          <a:ln w="9525">
            <a:solidFill>
              <a:srgbClr val="092B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AEED8D-32BA-4AA9-A60E-1A9C323BFF70}"/>
              </a:ext>
            </a:extLst>
          </p:cNvPr>
          <p:cNvSpPr>
            <a:spLocks noGrp="1"/>
          </p:cNvSpPr>
          <p:nvPr/>
        </p:nvSpPr>
        <p:spPr>
          <a:xfrm>
            <a:off x="829371" y="3924300"/>
            <a:ext cx="28384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TRANSLATION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A48C5B-0306-43DB-ACCC-FFD2F64D9F5A}"/>
              </a:ext>
            </a:extLst>
          </p:cNvPr>
          <p:cNvSpPr>
            <a:spLocks noGrp="1"/>
          </p:cNvSpPr>
          <p:nvPr/>
        </p:nvSpPr>
        <p:spPr>
          <a:xfrm>
            <a:off x="829371" y="4229100"/>
            <a:ext cx="28384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Địa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chỉ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này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ánh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xạ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tới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frame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nào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F975FBD-8F1C-4F12-8BF0-A62EC831D377}"/>
              </a:ext>
            </a:extLst>
          </p:cNvPr>
          <p:cNvSpPr>
            <a:spLocks noGrp="1"/>
          </p:cNvSpPr>
          <p:nvPr/>
        </p:nvSpPr>
        <p:spPr>
          <a:xfrm>
            <a:off x="4524375" y="381000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B70F62-E0EE-4B43-ADF5-9928646D3586}"/>
              </a:ext>
            </a:extLst>
          </p:cNvPr>
          <p:cNvSpPr>
            <a:spLocks noGrp="1"/>
          </p:cNvSpPr>
          <p:nvPr/>
        </p:nvSpPr>
        <p:spPr>
          <a:xfrm>
            <a:off x="4524375" y="3810000"/>
            <a:ext cx="76200" cy="1143000"/>
          </a:xfrm>
          <a:prstGeom prst="rect">
            <a:avLst/>
          </a:prstGeom>
          <a:solidFill>
            <a:srgbClr val="C94C4C"/>
          </a:solidFill>
          <a:ln w="9525">
            <a:solidFill>
              <a:srgbClr val="C94C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8D7DBA-16CF-4314-AE04-8CDB941D0B4F}"/>
              </a:ext>
            </a:extLst>
          </p:cNvPr>
          <p:cNvSpPr>
            <a:spLocks noGrp="1"/>
          </p:cNvSpPr>
          <p:nvPr/>
        </p:nvSpPr>
        <p:spPr>
          <a:xfrm>
            <a:off x="4714875" y="3924300"/>
            <a:ext cx="28384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34FFBC-E511-4977-B507-29FCD94D7C5E}"/>
              </a:ext>
            </a:extLst>
          </p:cNvPr>
          <p:cNvSpPr>
            <a:spLocks noGrp="1"/>
          </p:cNvSpPr>
          <p:nvPr/>
        </p:nvSpPr>
        <p:spPr>
          <a:xfrm>
            <a:off x="4714875" y="4229100"/>
            <a:ext cx="28384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Caller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hiện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tại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có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sở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hữu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frame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đó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không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FCC1986-918A-4273-8AAF-84753A8F1702}"/>
              </a:ext>
            </a:extLst>
          </p:cNvPr>
          <p:cNvSpPr>
            <a:spLocks noGrp="1"/>
          </p:cNvSpPr>
          <p:nvPr/>
        </p:nvSpPr>
        <p:spPr>
          <a:xfrm>
            <a:off x="8258872" y="381000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975E85-FD2C-4662-86F2-B074D646E6F8}"/>
              </a:ext>
            </a:extLst>
          </p:cNvPr>
          <p:cNvSpPr>
            <a:spLocks noGrp="1"/>
          </p:cNvSpPr>
          <p:nvPr/>
        </p:nvSpPr>
        <p:spPr>
          <a:xfrm>
            <a:off x="8258872" y="3810000"/>
            <a:ext cx="76200" cy="114300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C307B8-5D9D-4F19-AC63-32751386F687}"/>
              </a:ext>
            </a:extLst>
          </p:cNvPr>
          <p:cNvSpPr>
            <a:spLocks noGrp="1"/>
          </p:cNvSpPr>
          <p:nvPr/>
        </p:nvSpPr>
        <p:spPr>
          <a:xfrm>
            <a:off x="8449372" y="3924300"/>
            <a:ext cx="28384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INVARIANT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9DC389-6BB5-4039-9871-524DEB00B121}"/>
              </a:ext>
            </a:extLst>
          </p:cNvPr>
          <p:cNvSpPr>
            <a:spLocks noGrp="1"/>
          </p:cNvSpPr>
          <p:nvPr/>
        </p:nvSpPr>
        <p:spPr>
          <a:xfrm>
            <a:off x="8449372" y="4229100"/>
            <a:ext cx="28384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Biết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địa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chỉ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vật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lý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đồng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nghĩa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có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quyền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truy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cập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.</a:t>
            </a:r>
            <a:r>
              <a:rPr lang="en-US" sz="135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35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không</a:t>
            </a:r>
            <a:endParaRPr sz="1350" b="0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25884D-22F7-49AF-A8E8-F43EC03A4CFC}"/>
              </a:ext>
            </a:extLst>
          </p:cNvPr>
          <p:cNvSpPr>
            <a:spLocks noGrp="1"/>
          </p:cNvSpPr>
          <p:nvPr/>
        </p:nvSpPr>
        <p:spPr>
          <a:xfrm>
            <a:off x="1714500" y="5534025"/>
            <a:ext cx="8763000" cy="438150"/>
          </a:xfrm>
          <a:prstGeom prst="rect">
            <a:avLst/>
          </a:prstGeom>
          <a:solidFill>
            <a:srgbClr val="E5EFF4"/>
          </a:solidFill>
          <a:ln w="9525">
            <a:solidFill>
              <a:srgbClr val="E5EFF4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ctr">
              <a:buNone/>
              <a:defRPr sz="150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Demo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sắp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tới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cố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tình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cho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PID 2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biết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địa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chỉ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frame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của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PID 1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rồi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yêu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cầu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kernel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từ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chối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49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200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247F7A5-E42E-4AD4-855D-0A2C4BF133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A5C869-9B16-4EAF-B564-734D143F622D}"/>
              </a:ext>
            </a:extLst>
          </p:cNvPr>
          <p:cNvSpPr>
            <a:spLocks noGrp="1"/>
          </p:cNvSpPr>
          <p:nvPr/>
        </p:nvSpPr>
        <p:spPr>
          <a:xfrm>
            <a:off x="619822" y="1038226"/>
            <a:ext cx="9332626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Syscall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17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là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trust boundary —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không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chỉ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là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dispatcher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19303D-D4D2-4AFA-B6A7-FE7F91727B3D}"/>
              </a:ext>
            </a:extLst>
          </p:cNvPr>
          <p:cNvSpPr>
            <a:spLocks noGrp="1"/>
          </p:cNvSpPr>
          <p:nvPr/>
        </p:nvSpPr>
        <p:spPr>
          <a:xfrm>
            <a:off x="619822" y="1608476"/>
            <a:ext cx="8896350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2F8CF4-6E59-45C7-B0A1-27438012E32E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4C2C2F-37D2-4E83-8F3E-E35814DC03BA}"/>
              </a:ext>
            </a:extLst>
          </p:cNvPr>
          <p:cNvSpPr>
            <a:spLocks noGrp="1"/>
          </p:cNvSpPr>
          <p:nvPr/>
        </p:nvSpPr>
        <p:spPr>
          <a:xfrm>
            <a:off x="619822" y="2066925"/>
            <a:ext cx="219075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USER WRAPPER</a:t>
            </a:r>
          </a:p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PID + scalar registers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345490-1E2B-4AD1-82E1-DB360F8B013D}"/>
              </a:ext>
            </a:extLst>
          </p:cNvPr>
          <p:cNvSpPr>
            <a:spLocks noGrp="1"/>
          </p:cNvSpPr>
          <p:nvPr/>
        </p:nvSpPr>
        <p:spPr>
          <a:xfrm>
            <a:off x="3524947" y="2066925"/>
            <a:ext cx="2190750" cy="857250"/>
          </a:xfrm>
          <a:prstGeom prst="roundRect">
            <a:avLst>
              <a:gd name="adj" fmla="val 8889"/>
            </a:avLst>
          </a:prstGeom>
          <a:solidFill>
            <a:srgbClr val="E5EFF4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_</a:t>
            </a:r>
            <a:r>
              <a:rPr sz="1425" b="1" dirty="0" err="1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syscall</a:t>
            </a:r>
            <a:r>
              <a:rPr sz="1425" b="1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()</a:t>
            </a:r>
          </a:p>
          <a:p>
            <a:pPr algn="ctr">
              <a:buNone/>
              <a:defRPr sz="1425" b="1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dispatch </a:t>
            </a:r>
            <a:r>
              <a:rPr sz="1425" b="1" dirty="0" err="1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theo</a:t>
            </a:r>
            <a:r>
              <a:rPr sz="1425" b="1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 number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EE507C-CB53-41F6-B534-F870A103A8A1}"/>
              </a:ext>
            </a:extLst>
          </p:cNvPr>
          <p:cNvSpPr>
            <a:spLocks noGrp="1"/>
          </p:cNvSpPr>
          <p:nvPr/>
        </p:nvSpPr>
        <p:spPr>
          <a:xfrm>
            <a:off x="6430072" y="2066925"/>
            <a:ext cx="2190750" cy="857250"/>
          </a:xfrm>
          <a:prstGeom prst="roundRect">
            <a:avLst>
              <a:gd name="adj" fmla="val 8889"/>
            </a:avLst>
          </a:prstGeom>
          <a:solidFill>
            <a:srgbClr val="DFF2F1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dirty="0" err="1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find_proc_by_pid</a:t>
            </a:r>
            <a:r>
              <a:rPr sz="1425" b="1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()</a:t>
            </a:r>
          </a:p>
          <a:p>
            <a:pPr algn="ctr">
              <a:buNone/>
              <a:defRPr sz="1425" b="1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425" b="1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kernel registry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CEE3B2A-43FE-4B7D-84E2-7437C307C614}"/>
              </a:ext>
            </a:extLst>
          </p:cNvPr>
          <p:cNvSpPr>
            <a:spLocks noGrp="1"/>
          </p:cNvSpPr>
          <p:nvPr/>
        </p:nvSpPr>
        <p:spPr>
          <a:xfrm>
            <a:off x="9335197" y="2066925"/>
            <a:ext cx="2190750" cy="857250"/>
          </a:xfrm>
          <a:prstGeom prst="roundRect">
            <a:avLst>
              <a:gd name="adj" fmla="val 8889"/>
            </a:avLst>
          </a:prstGeom>
          <a:solidFill>
            <a:srgbClr val="F8E8D8"/>
          </a:solidFill>
          <a:ln w="9525">
            <a:solidFill>
              <a:srgbClr val="E7772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HANDLER</a:t>
            </a:r>
          </a:p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validate + operation</a:t>
            </a:r>
          </a:p>
        </p:txBody>
      </p:sp>
      <p:cxnSp>
        <p:nvCxnSpPr>
          <p:cNvPr id="33" name="Straight Arrow Connector 10"/>
          <p:cNvCxnSpPr>
            <a:stCxn id="7" idx="3"/>
            <a:endCxn id="8" idx="1"/>
          </p:cNvCxnSpPr>
          <p:nvPr/>
        </p:nvCxnSpPr>
        <p:spPr>
          <a:xfrm>
            <a:off x="2810572" y="2495550"/>
            <a:ext cx="714375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</a:ln>
        </p:spPr>
      </p:cxnSp>
      <p:cxnSp>
        <p:nvCxnSpPr>
          <p:cNvPr id="34" name="Straight Arrow Connector 11"/>
          <p:cNvCxnSpPr>
            <a:stCxn id="8" idx="3"/>
            <a:endCxn id="9" idx="1"/>
          </p:cNvCxnSpPr>
          <p:nvPr/>
        </p:nvCxnSpPr>
        <p:spPr>
          <a:xfrm>
            <a:off x="5715697" y="2495550"/>
            <a:ext cx="714375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</a:ln>
        </p:spPr>
      </p:cxnSp>
      <p:cxnSp>
        <p:nvCxnSpPr>
          <p:cNvPr id="35" name="Straight Arrow Connector 12"/>
          <p:cNvCxnSpPr>
            <a:stCxn id="9" idx="3"/>
            <a:endCxn id="10" idx="1"/>
          </p:cNvCxnSpPr>
          <p:nvPr/>
        </p:nvCxnSpPr>
        <p:spPr>
          <a:xfrm>
            <a:off x="8620822" y="2495550"/>
            <a:ext cx="714375" cy="0"/>
          </a:xfrm>
          <a:prstGeom prst="straightConnector1">
            <a:avLst/>
          </a:prstGeom>
          <a:ln w="19050">
            <a:solidFill>
              <a:srgbClr val="E77728"/>
            </a:solidFill>
            <a:prstDash val="solid"/>
          </a:ln>
        </p:spPr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8E1C3C-215E-4A16-AC2B-9052CEEE47A4}"/>
              </a:ext>
            </a:extLst>
          </p:cNvPr>
          <p:cNvSpPr>
            <a:spLocks noGrp="1"/>
          </p:cNvSpPr>
          <p:nvPr/>
        </p:nvSpPr>
        <p:spPr>
          <a:xfrm>
            <a:off x="667447" y="3362324"/>
            <a:ext cx="4762500" cy="1381125"/>
          </a:xfrm>
          <a:prstGeom prst="roundRect">
            <a:avLst>
              <a:gd name="adj" fmla="val 5517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99B884-7177-403D-A453-C3C5FD2BF77B}"/>
              </a:ext>
            </a:extLst>
          </p:cNvPr>
          <p:cNvSpPr>
            <a:spLocks noGrp="1"/>
          </p:cNvSpPr>
          <p:nvPr/>
        </p:nvSpPr>
        <p:spPr>
          <a:xfrm>
            <a:off x="667447" y="3362324"/>
            <a:ext cx="4762500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749135-2917-40EC-9C57-E7A59745320F}"/>
              </a:ext>
            </a:extLst>
          </p:cNvPr>
          <p:cNvSpPr>
            <a:spLocks noGrp="1"/>
          </p:cNvSpPr>
          <p:nvPr/>
        </p:nvSpPr>
        <p:spPr>
          <a:xfrm>
            <a:off x="781747" y="3438524"/>
            <a:ext cx="453390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SYSCALL TABLE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7C8D9-5EEE-4055-B972-A49A162C3C39}"/>
              </a:ext>
            </a:extLst>
          </p:cNvPr>
          <p:cNvSpPr>
            <a:spLocks noGrp="1"/>
          </p:cNvSpPr>
          <p:nvPr/>
        </p:nvSpPr>
        <p:spPr>
          <a:xfrm>
            <a:off x="781747" y="3724274"/>
            <a:ext cx="4533900" cy="923925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0   listsyscall   sys_listsyscall</a:t>
            </a:r>
          </a:p>
          <a:p>
            <a:pPr algn="l">
              <a:buNone/>
              <a:def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17  memmap       sys_memmap</a:t>
            </a:r>
          </a:p>
          <a:p>
            <a:pPr algn="l">
              <a:buNone/>
              <a:def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440 xxx          sys_xxxhandler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A4D7EF-BE47-4374-BF0A-92494CFE344C}"/>
              </a:ext>
            </a:extLst>
          </p:cNvPr>
          <p:cNvSpPr>
            <a:spLocks noGrp="1"/>
          </p:cNvSpPr>
          <p:nvPr/>
        </p:nvSpPr>
        <p:spPr>
          <a:xfrm>
            <a:off x="6001447" y="3362324"/>
            <a:ext cx="5524500" cy="1381125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1670EF-65EA-44CC-A3AC-B600DCF95CCF}"/>
              </a:ext>
            </a:extLst>
          </p:cNvPr>
          <p:cNvSpPr>
            <a:spLocks noGrp="1"/>
          </p:cNvSpPr>
          <p:nvPr/>
        </p:nvSpPr>
        <p:spPr>
          <a:xfrm>
            <a:off x="6001447" y="3362324"/>
            <a:ext cx="76200" cy="1381125"/>
          </a:xfrm>
          <a:prstGeom prst="rect">
            <a:avLst/>
          </a:prstGeom>
          <a:solidFill>
            <a:srgbClr val="C94C4C"/>
          </a:solidFill>
          <a:ln w="9525">
            <a:solidFill>
              <a:srgbClr val="C94C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1BDB04-366D-4966-ADD5-0A7327FA4AD3}"/>
              </a:ext>
            </a:extLst>
          </p:cNvPr>
          <p:cNvSpPr>
            <a:spLocks noGrp="1"/>
          </p:cNvSpPr>
          <p:nvPr/>
        </p:nvSpPr>
        <p:spPr>
          <a:xfrm>
            <a:off x="6191947" y="3476624"/>
            <a:ext cx="52197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WHY PID LOOKUP?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B3E466-AC6F-4168-9503-9ACE9B378C16}"/>
              </a:ext>
            </a:extLst>
          </p:cNvPr>
          <p:cNvSpPr>
            <a:spLocks noGrp="1"/>
          </p:cNvSpPr>
          <p:nvPr/>
        </p:nvSpPr>
        <p:spPr>
          <a:xfrm>
            <a:off x="6191947" y="3781424"/>
            <a:ext cx="52197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Kernel không nhận pcb_t* tùy ý từ user; handler lấy PCB thật từ registry.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DA80F4-2CDE-4376-B9BE-4421BBF919E3}"/>
              </a:ext>
            </a:extLst>
          </p:cNvPr>
          <p:cNvSpPr>
            <a:spLocks noGrp="1"/>
          </p:cNvSpPr>
          <p:nvPr/>
        </p:nvSpPr>
        <p:spPr>
          <a:xfrm>
            <a:off x="2427698" y="5029199"/>
            <a:ext cx="7524750" cy="400050"/>
          </a:xfrm>
          <a:prstGeom prst="rect">
            <a:avLst/>
          </a:prstGeom>
          <a:solidFill>
            <a:srgbClr val="E5EFF4"/>
          </a:solidFill>
          <a:ln w="9525">
            <a:solidFill>
              <a:srgbClr val="E5EFF4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ctr">
              <a:buNone/>
              <a:defRPr sz="13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Trade-off: unified </a:t>
            </a:r>
            <a:r>
              <a:rPr sz="135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syscall</a:t>
            </a:r>
            <a:r>
              <a:rPr sz="135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tập</a:t>
            </a:r>
            <a:r>
              <a:rPr sz="135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trung</a:t>
            </a:r>
            <a:r>
              <a:rPr sz="135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policy </a:t>
            </a:r>
            <a:r>
              <a:rPr sz="135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nhưng</a:t>
            </a:r>
            <a:r>
              <a:rPr sz="135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switch và argument convention </a:t>
            </a:r>
            <a:r>
              <a:rPr sz="135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lớn</a:t>
            </a:r>
            <a:r>
              <a:rPr sz="135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45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28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62F6EBD-E703-4BDB-A1DE-4B38EA37C1BB}"/>
              </a:ext>
            </a:extLst>
          </p:cNvPr>
          <p:cNvSpPr>
            <a:spLocks noGrp="1"/>
          </p:cNvSpPr>
          <p:nvPr/>
        </p:nvSpPr>
        <p:spPr>
          <a:xfrm>
            <a:off x="0" y="13335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9B92A9-8D92-4C42-94F2-78E45A506687}"/>
              </a:ext>
            </a:extLst>
          </p:cNvPr>
          <p:cNvSpPr>
            <a:spLocks noGrp="1"/>
          </p:cNvSpPr>
          <p:nvPr/>
        </p:nvSpPr>
        <p:spPr>
          <a:xfrm>
            <a:off x="605852" y="1000125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Biết physical address không tạo ra quyền truy cập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3A9F33-4D20-4499-B987-CA18ECA0D9AE}"/>
              </a:ext>
            </a:extLst>
          </p:cNvPr>
          <p:cNvSpPr>
            <a:spLocks noGrp="1"/>
          </p:cNvSpPr>
          <p:nvPr/>
        </p:nvSpPr>
        <p:spPr>
          <a:xfrm flipV="1">
            <a:off x="605852" y="1481872"/>
            <a:ext cx="8253334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21669C-C19E-489E-AA70-07EE5BF19596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F9D9E7-C83C-4364-8867-F03211C0087B}"/>
              </a:ext>
            </a:extLst>
          </p:cNvPr>
          <p:cNvSpPr>
            <a:spLocks noGrp="1"/>
          </p:cNvSpPr>
          <p:nvPr/>
        </p:nvSpPr>
        <p:spPr>
          <a:xfrm>
            <a:off x="653477" y="2066925"/>
            <a:ext cx="3143250" cy="2047875"/>
          </a:xfrm>
          <a:prstGeom prst="roundRect">
            <a:avLst>
              <a:gd name="adj" fmla="val 3721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9DAEED-51D4-4B45-9564-C6A7E271F74F}"/>
              </a:ext>
            </a:extLst>
          </p:cNvPr>
          <p:cNvSpPr>
            <a:spLocks noGrp="1"/>
          </p:cNvSpPr>
          <p:nvPr/>
        </p:nvSpPr>
        <p:spPr>
          <a:xfrm>
            <a:off x="653477" y="2066925"/>
            <a:ext cx="3143250" cy="47625"/>
          </a:xfrm>
          <a:prstGeom prst="rect">
            <a:avLst/>
          </a:prstGeom>
          <a:solidFill>
            <a:srgbClr val="C94C4C"/>
          </a:solidFill>
          <a:ln w="9525">
            <a:solidFill>
              <a:srgbClr val="C94C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D06EA6-B40A-466F-AAD6-08EB33D0A0C1}"/>
              </a:ext>
            </a:extLst>
          </p:cNvPr>
          <p:cNvSpPr>
            <a:spLocks noGrp="1"/>
          </p:cNvSpPr>
          <p:nvPr/>
        </p:nvSpPr>
        <p:spPr>
          <a:xfrm>
            <a:off x="767777" y="2143125"/>
            <a:ext cx="291465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INPUT TẤN CÔNG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80186-1B93-4AA6-9D72-1713F2F4B6D2}"/>
              </a:ext>
            </a:extLst>
          </p:cNvPr>
          <p:cNvSpPr>
            <a:spLocks noGrp="1"/>
          </p:cNvSpPr>
          <p:nvPr/>
        </p:nvSpPr>
        <p:spPr>
          <a:xfrm>
            <a:off x="767777" y="2428875"/>
            <a:ext cx="2914650" cy="1590675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PID 1: alloc 100 1</a:t>
            </a:r>
          </a:p>
          <a:p>
            <a:endParaRPr sz="1350" b="0">
              <a:solidFill>
                <a:srgbClr val="E8F0F3"/>
              </a:solidFill>
              <a:latin typeface="Courier New"/>
              <a:ea typeface="Courier New"/>
              <a:cs typeface="Courier New"/>
            </a:endParaRPr>
          </a:p>
          <a:p>
            <a:pPr algn="l">
              <a:buNone/>
              <a:defRPr sz="13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PID 2:</a:t>
            </a:r>
          </a:p>
          <a:p>
            <a:pPr algn="l">
              <a:buNone/>
              <a:defRPr sz="13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syscall 17 4 0 0</a:t>
            </a:r>
          </a:p>
          <a:p>
            <a:pPr algn="l">
              <a:buNone/>
              <a:defRPr sz="13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syscall 17 5 0 65</a:t>
            </a:r>
          </a:p>
        </p:txBody>
      </p:sp>
      <p:pic>
        <p:nvPicPr>
          <p:cNvPr id="35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31988" y="2070308"/>
            <a:ext cx="7524750" cy="815767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B9CA04E-99D8-420A-A9AA-31EFDFA2B248}"/>
              </a:ext>
            </a:extLst>
          </p:cNvPr>
          <p:cNvSpPr>
            <a:spLocks noGrp="1"/>
          </p:cNvSpPr>
          <p:nvPr/>
        </p:nvSpPr>
        <p:spPr>
          <a:xfrm>
            <a:off x="4732519" y="3352800"/>
            <a:ext cx="2095500" cy="819150"/>
          </a:xfrm>
          <a:prstGeom prst="roundRect">
            <a:avLst>
              <a:gd name="adj" fmla="val 9302"/>
            </a:avLst>
          </a:prstGeom>
          <a:solidFill>
            <a:srgbClr val="DFF2F1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PID 1</a:t>
            </a:r>
          </a:p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owns frame 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853366-8FF9-44C4-A320-A334A915D2F5}"/>
              </a:ext>
            </a:extLst>
          </p:cNvPr>
          <p:cNvSpPr>
            <a:spLocks noGrp="1"/>
          </p:cNvSpPr>
          <p:nvPr/>
        </p:nvSpPr>
        <p:spPr>
          <a:xfrm>
            <a:off x="4732519" y="4591050"/>
            <a:ext cx="2095500" cy="819150"/>
          </a:xfrm>
          <a:prstGeom prst="roundRect">
            <a:avLst>
              <a:gd name="adj" fmla="val 9302"/>
            </a:avLst>
          </a:prstGeom>
          <a:solidFill>
            <a:srgbClr val="F8E8D8"/>
          </a:solidFill>
          <a:ln w="9525">
            <a:solidFill>
              <a:srgbClr val="E7772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PID 2</a:t>
            </a:r>
          </a:p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knows address 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156D808-D998-4C73-9208-FDAB7B67AB4C}"/>
              </a:ext>
            </a:extLst>
          </p:cNvPr>
          <p:cNvSpPr>
            <a:spLocks noGrp="1"/>
          </p:cNvSpPr>
          <p:nvPr/>
        </p:nvSpPr>
        <p:spPr>
          <a:xfrm>
            <a:off x="8352019" y="3924300"/>
            <a:ext cx="2857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4C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KERNEL CHECK</a:t>
            </a:r>
          </a:p>
          <a:p>
            <a:pPr algn="ctr">
              <a:buNone/>
              <a:defRPr sz="1500" b="1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 dirty="0" err="1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caller_owns_phyaddr</a:t>
            </a:r>
            <a:r>
              <a:rPr sz="1500" b="1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()</a:t>
            </a:r>
          </a:p>
        </p:txBody>
      </p:sp>
      <p:cxnSp>
        <p:nvCxnSpPr>
          <p:cNvPr id="39" name="Straight Arrow Connector 14"/>
          <p:cNvCxnSpPr>
            <a:stCxn id="12" idx="3"/>
            <a:endCxn id="14" idx="1"/>
          </p:cNvCxnSpPr>
          <p:nvPr/>
        </p:nvCxnSpPr>
        <p:spPr>
          <a:xfrm>
            <a:off x="6828019" y="3762375"/>
            <a:ext cx="1524000" cy="638175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</a:ln>
        </p:spPr>
      </p:cxnSp>
      <p:cxnSp>
        <p:nvCxnSpPr>
          <p:cNvPr id="40" name="Straight Arrow Connector 15"/>
          <p:cNvCxnSpPr>
            <a:stCxn id="13" idx="3"/>
            <a:endCxn id="14" idx="1"/>
          </p:cNvCxnSpPr>
          <p:nvPr/>
        </p:nvCxnSpPr>
        <p:spPr>
          <a:xfrm flipV="1">
            <a:off x="6828019" y="4400550"/>
            <a:ext cx="1524000" cy="600075"/>
          </a:xfrm>
          <a:prstGeom prst="straightConnector1">
            <a:avLst/>
          </a:prstGeom>
          <a:ln w="19050">
            <a:solidFill>
              <a:srgbClr val="C94C4C"/>
            </a:solidFill>
            <a:prstDash val="solid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004D1D5-7283-4F49-A375-FAF793EF8563}"/>
              </a:ext>
            </a:extLst>
          </p:cNvPr>
          <p:cNvSpPr>
            <a:spLocks noGrp="1"/>
          </p:cNvSpPr>
          <p:nvPr/>
        </p:nvSpPr>
        <p:spPr>
          <a:xfrm>
            <a:off x="6923269" y="3371850"/>
            <a:ext cx="1047750" cy="3238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95250" tIns="76200" rIns="95250" bIns="76200" anchor="t">
            <a:normAutofit fontScale="93750"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ALLOW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C5864C-E6AC-4DC1-BC21-694BBA0740C5}"/>
              </a:ext>
            </a:extLst>
          </p:cNvPr>
          <p:cNvSpPr>
            <a:spLocks noGrp="1"/>
          </p:cNvSpPr>
          <p:nvPr/>
        </p:nvSpPr>
        <p:spPr>
          <a:xfrm>
            <a:off x="6923269" y="4924425"/>
            <a:ext cx="1047750" cy="3238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95250" tIns="76200" rIns="95250" bIns="76200" anchor="t">
            <a:normAutofit fontScale="93750"/>
          </a:bodyPr>
          <a:lstStyle/>
          <a:p>
            <a:pPr algn="ctr">
              <a:buNone/>
              <a:defRPr sz="120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DENY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9430F8D-45DD-4BD8-B815-7986E3BD066D}"/>
              </a:ext>
            </a:extLst>
          </p:cNvPr>
          <p:cNvSpPr>
            <a:spLocks noGrp="1"/>
          </p:cNvSpPr>
          <p:nvPr/>
        </p:nvSpPr>
        <p:spPr>
          <a:xfrm>
            <a:off x="653477" y="4591050"/>
            <a:ext cx="3143250" cy="1000125"/>
          </a:xfrm>
          <a:prstGeom prst="roundRect">
            <a:avLst>
              <a:gd name="adj" fmla="val 7619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F82555-22F8-410A-88C0-0C138CF481B7}"/>
              </a:ext>
            </a:extLst>
          </p:cNvPr>
          <p:cNvSpPr>
            <a:spLocks noGrp="1"/>
          </p:cNvSpPr>
          <p:nvPr/>
        </p:nvSpPr>
        <p:spPr>
          <a:xfrm>
            <a:off x="653477" y="4591050"/>
            <a:ext cx="3143250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3F88FD-82C5-44B2-9247-4C504B7F746E}"/>
              </a:ext>
            </a:extLst>
          </p:cNvPr>
          <p:cNvSpPr>
            <a:spLocks noGrp="1"/>
          </p:cNvSpPr>
          <p:nvPr/>
        </p:nvSpPr>
        <p:spPr>
          <a:xfrm>
            <a:off x="767777" y="4667250"/>
            <a:ext cx="291465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LỆNH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42FE64-F7A3-4231-B12F-07F2510C5AC4}"/>
              </a:ext>
            </a:extLst>
          </p:cNvPr>
          <p:cNvSpPr>
            <a:spLocks noGrp="1"/>
          </p:cNvSpPr>
          <p:nvPr/>
        </p:nvSpPr>
        <p:spPr>
          <a:xfrm>
            <a:off x="767777" y="4953000"/>
            <a:ext cx="2914650" cy="542925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./os os_cross_pid_protection | grep -E</a:t>
            </a:r>
          </a:p>
          <a:p>
            <a:pPr algn="l">
              <a:buNone/>
              <a:def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"MEM alloc|Kernel denied"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2C9811-2828-46C2-91DC-B8321DAD3B35}"/>
              </a:ext>
            </a:extLst>
          </p:cNvPr>
          <p:cNvSpPr>
            <a:spLocks noGrp="1"/>
          </p:cNvSpPr>
          <p:nvPr/>
        </p:nvSpPr>
        <p:spPr>
          <a:xfrm>
            <a:off x="8209144" y="4959558"/>
            <a:ext cx="3143250" cy="457200"/>
          </a:xfrm>
          <a:prstGeom prst="rect">
            <a:avLst/>
          </a:prstGeom>
          <a:solidFill>
            <a:srgbClr val="E5EFF4"/>
          </a:solidFill>
          <a:ln w="9525">
            <a:solidFill>
              <a:srgbClr val="E5EFF4"/>
            </a:solidFill>
            <a:prstDash val="solid"/>
          </a:ln>
        </p:spPr>
        <p:txBody>
          <a:bodyPr wrap="square" lIns="95250" tIns="76200" rIns="95250" bIns="76200" anchor="t">
            <a:normAutofit fontScale="85175" lnSpcReduction="20000"/>
          </a:bodyPr>
          <a:lstStyle/>
          <a:p>
            <a:pPr algn="ctr">
              <a:buNone/>
              <a:defRPr sz="142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Translation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trả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lời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“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ở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đâu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”; authorization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trả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lời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“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có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quyền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không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”.</a:t>
            </a:r>
          </a:p>
        </p:txBody>
      </p:sp>
      <p:pic>
        <p:nvPicPr>
          <p:cNvPr id="48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28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07CCAD3-3605-4048-8829-CBA93AA8CC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E85753-2EF4-445D-A93C-031D5B06ED7E}"/>
              </a:ext>
            </a:extLst>
          </p:cNvPr>
          <p:cNvSpPr>
            <a:spLocks noGrp="1"/>
          </p:cNvSpPr>
          <p:nvPr/>
        </p:nvSpPr>
        <p:spPr>
          <a:xfrm>
            <a:off x="619822" y="1065863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 fontScale="96837"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Kiến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thức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nền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: multi-level paging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đổi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bộ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nhớ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page table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lấy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chi </a:t>
            </a:r>
            <a:r>
              <a:rPr sz="2700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phí</a:t>
            </a:r>
            <a:r>
              <a:rPr sz="2700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walk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BDCAA3-3B27-4488-8B19-302BFEDE82A0}"/>
              </a:ext>
            </a:extLst>
          </p:cNvPr>
          <p:cNvSpPr>
            <a:spLocks noGrp="1"/>
          </p:cNvSpPr>
          <p:nvPr/>
        </p:nvSpPr>
        <p:spPr>
          <a:xfrm flipV="1">
            <a:off x="638871" y="1582118"/>
            <a:ext cx="11363325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2964D-94F0-4FA4-9602-0CDB8C965A64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4D9A80E-5763-4CB1-BC8A-A2D03394EE55}"/>
              </a:ext>
            </a:extLst>
          </p:cNvPr>
          <p:cNvSpPr>
            <a:spLocks noGrp="1"/>
          </p:cNvSpPr>
          <p:nvPr/>
        </p:nvSpPr>
        <p:spPr>
          <a:xfrm>
            <a:off x="840531" y="2248868"/>
            <a:ext cx="2857500" cy="876300"/>
          </a:xfrm>
          <a:prstGeom prst="roundRect">
            <a:avLst>
              <a:gd name="adj" fmla="val 8696"/>
            </a:avLst>
          </a:prstGeom>
          <a:solidFill>
            <a:srgbClr val="F5E4E4"/>
          </a:solidFill>
          <a:ln w="9525">
            <a:solidFill>
              <a:srgbClr val="C94C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FLAT PAGE TABLE</a:t>
            </a:r>
          </a:p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một </a:t>
            </a:r>
            <a:r>
              <a:rPr sz="1575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mảng</a:t>
            </a:r>
            <a:r>
              <a:rPr sz="157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PTE </a:t>
            </a:r>
            <a:r>
              <a:rPr sz="1575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rất</a:t>
            </a:r>
            <a:r>
              <a:rPr sz="1575" b="1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lớn</a:t>
            </a:r>
            <a:endParaRPr sz="1575" b="1" dirty="0">
              <a:solidFill>
                <a:srgbClr val="1721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1F27881-03F0-46EE-857A-7F9A52F1C4BA}"/>
              </a:ext>
            </a:extLst>
          </p:cNvPr>
          <p:cNvSpPr>
            <a:spLocks noGrp="1"/>
          </p:cNvSpPr>
          <p:nvPr/>
        </p:nvSpPr>
        <p:spPr>
          <a:xfrm>
            <a:off x="4841031" y="2248868"/>
            <a:ext cx="2857500" cy="876300"/>
          </a:xfrm>
          <a:prstGeom prst="roundRect">
            <a:avLst>
              <a:gd name="adj" fmla="val 8696"/>
            </a:avLst>
          </a:prstGeom>
          <a:solidFill>
            <a:srgbClr val="DFF2F1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SPARSE MULTI-LEVEL</a:t>
            </a:r>
          </a:p>
          <a:p>
            <a:pPr algn="ctr">
              <a:buNone/>
              <a:defRPr sz="15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chỉ cấp nhánh được dùng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9B68E6-3BE9-4285-9D8A-C7BA11F7D269}"/>
              </a:ext>
            </a:extLst>
          </p:cNvPr>
          <p:cNvSpPr>
            <a:spLocks noGrp="1"/>
          </p:cNvSpPr>
          <p:nvPr/>
        </p:nvSpPr>
        <p:spPr>
          <a:xfrm>
            <a:off x="8841531" y="2248868"/>
            <a:ext cx="2857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PAGE-TABLE WALK</a:t>
            </a:r>
          </a:p>
          <a:p>
            <a:pPr algn="ctr">
              <a:buNone/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PGD → P4D → PUD → PMD → PT</a:t>
            </a:r>
          </a:p>
        </p:txBody>
      </p:sp>
      <p:cxnSp>
        <p:nvCxnSpPr>
          <p:cNvPr id="30" name="Straight Arrow Connector 9"/>
          <p:cNvCxnSpPr>
            <a:stCxn id="7" idx="3"/>
            <a:endCxn id="8" idx="1"/>
          </p:cNvCxnSpPr>
          <p:nvPr/>
        </p:nvCxnSpPr>
        <p:spPr>
          <a:xfrm>
            <a:off x="3698031" y="2687018"/>
            <a:ext cx="114300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</a:ln>
        </p:spPr>
      </p:cxnSp>
      <p:cxnSp>
        <p:nvCxnSpPr>
          <p:cNvPr id="31" name="Straight Arrow Connector 10"/>
          <p:cNvCxnSpPr>
            <a:stCxn id="8" idx="3"/>
            <a:endCxn id="9" idx="1"/>
          </p:cNvCxnSpPr>
          <p:nvPr/>
        </p:nvCxnSpPr>
        <p:spPr>
          <a:xfrm>
            <a:off x="7698531" y="2687018"/>
            <a:ext cx="1143000" cy="0"/>
          </a:xfrm>
          <a:prstGeom prst="straightConnector1">
            <a:avLst/>
          </a:prstGeom>
          <a:ln w="19050">
            <a:solidFill>
              <a:srgbClr val="E77728"/>
            </a:solidFill>
            <a:prstDash val="solid"/>
          </a:ln>
        </p:spPr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B5F9F5-A703-4AF2-87C1-0556717DC4AC}"/>
              </a:ext>
            </a:extLst>
          </p:cNvPr>
          <p:cNvSpPr>
            <a:spLocks noGrp="1"/>
          </p:cNvSpPr>
          <p:nvPr/>
        </p:nvSpPr>
        <p:spPr>
          <a:xfrm>
            <a:off x="840531" y="3683397"/>
            <a:ext cx="4953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E48E4C-2C0E-4C26-BA58-47CA702E9447}"/>
              </a:ext>
            </a:extLst>
          </p:cNvPr>
          <p:cNvSpPr>
            <a:spLocks noGrp="1"/>
          </p:cNvSpPr>
          <p:nvPr/>
        </p:nvSpPr>
        <p:spPr>
          <a:xfrm>
            <a:off x="840531" y="3683397"/>
            <a:ext cx="76200" cy="1333500"/>
          </a:xfrm>
          <a:prstGeom prst="rect">
            <a:avLst/>
          </a:prstGeom>
          <a:solidFill>
            <a:srgbClr val="092B4C"/>
          </a:solidFill>
          <a:ln w="9525">
            <a:solidFill>
              <a:srgbClr val="092B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A87137-795E-4B6D-8433-D36E80E2A50D}"/>
              </a:ext>
            </a:extLst>
          </p:cNvPr>
          <p:cNvSpPr>
            <a:spLocks noGrp="1"/>
          </p:cNvSpPr>
          <p:nvPr/>
        </p:nvSpPr>
        <p:spPr>
          <a:xfrm>
            <a:off x="1031031" y="3797697"/>
            <a:ext cx="4648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WHY FIVE LEVELS?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D3BB14-17E4-487D-866C-A7F870C52B21}"/>
              </a:ext>
            </a:extLst>
          </p:cNvPr>
          <p:cNvSpPr>
            <a:spLocks noGrp="1"/>
          </p:cNvSpPr>
          <p:nvPr/>
        </p:nvSpPr>
        <p:spPr>
          <a:xfrm>
            <a:off x="1031031" y="4102497"/>
            <a:ext cx="46482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45 bit page number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chia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thành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năm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index 9 bit;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mỗi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bảng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vừa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một page 4 KiB.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5CFF09-5508-4960-9C22-6423EDE6DE79}"/>
              </a:ext>
            </a:extLst>
          </p:cNvPr>
          <p:cNvSpPr>
            <a:spLocks noGrp="1"/>
          </p:cNvSpPr>
          <p:nvPr/>
        </p:nvSpPr>
        <p:spPr>
          <a:xfrm>
            <a:off x="6365031" y="3683397"/>
            <a:ext cx="5334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B3FF39-A6BA-45E3-9C41-C4BECDD0964C}"/>
              </a:ext>
            </a:extLst>
          </p:cNvPr>
          <p:cNvSpPr>
            <a:spLocks noGrp="1"/>
          </p:cNvSpPr>
          <p:nvPr/>
        </p:nvSpPr>
        <p:spPr>
          <a:xfrm>
            <a:off x="6365031" y="3683397"/>
            <a:ext cx="76200" cy="1333500"/>
          </a:xfrm>
          <a:prstGeom prst="rect">
            <a:avLst/>
          </a:prstGeom>
          <a:solidFill>
            <a:srgbClr val="C94C4C"/>
          </a:solidFill>
          <a:ln w="9525">
            <a:solidFill>
              <a:srgbClr val="C94C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54A2A-9DBC-4161-9EEE-9E294946069E}"/>
              </a:ext>
            </a:extLst>
          </p:cNvPr>
          <p:cNvSpPr>
            <a:spLocks noGrp="1"/>
          </p:cNvSpPr>
          <p:nvPr/>
        </p:nvSpPr>
        <p:spPr>
          <a:xfrm>
            <a:off x="6555531" y="3797697"/>
            <a:ext cx="502920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WHY CANONICAL?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AA4A79-C96B-4701-96EE-710F4D7A2568}"/>
              </a:ext>
            </a:extLst>
          </p:cNvPr>
          <p:cNvSpPr>
            <a:spLocks noGrp="1"/>
          </p:cNvSpPr>
          <p:nvPr/>
        </p:nvSpPr>
        <p:spPr>
          <a:xfrm>
            <a:off x="6555531" y="4102497"/>
            <a:ext cx="50292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Không phải mọi mẫu 64 bit đều hợp lệ; chặn non-canonical trước khi walk hoặc cấp bảng.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F1B89F-825D-4C20-8695-17B66671B222}"/>
              </a:ext>
            </a:extLst>
          </p:cNvPr>
          <p:cNvSpPr>
            <a:spLocks noGrp="1"/>
          </p:cNvSpPr>
          <p:nvPr/>
        </p:nvSpPr>
        <p:spPr>
          <a:xfrm>
            <a:off x="1983531" y="5294995"/>
            <a:ext cx="8763000" cy="419100"/>
          </a:xfrm>
          <a:prstGeom prst="rect">
            <a:avLst/>
          </a:prstGeom>
          <a:solidFill>
            <a:srgbClr val="E5EFF4"/>
          </a:solidFill>
          <a:ln w="9525">
            <a:solidFill>
              <a:srgbClr val="E5EFF4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ctr">
              <a:buNone/>
              <a:defRPr sz="150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Demo sắp tới dùng các địa chỉ thuộc nhánh khác nhau để quan sát walks, accesses và bytes.</a:t>
            </a:r>
          </a:p>
        </p:txBody>
      </p:sp>
      <p:pic>
        <p:nvPicPr>
          <p:cNvPr id="4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8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D0E0288-168C-46CA-8383-819D75CB1B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B94213-6627-4CF2-9084-84B96C9E243B}"/>
              </a:ext>
            </a:extLst>
          </p:cNvPr>
          <p:cNvSpPr>
            <a:spLocks noGrp="1"/>
          </p:cNvSpPr>
          <p:nvPr/>
        </p:nvSpPr>
        <p:spPr>
          <a:xfrm>
            <a:off x="600773" y="1047750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MM64 dùng năm index 9-bit để tránh page table phẳng 256 TiB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0E21BB-AA0F-41C3-B955-D2866F4B29EB}"/>
              </a:ext>
            </a:extLst>
          </p:cNvPr>
          <p:cNvSpPr>
            <a:spLocks noGrp="1"/>
          </p:cNvSpPr>
          <p:nvPr/>
        </p:nvSpPr>
        <p:spPr>
          <a:xfrm flipV="1">
            <a:off x="619822" y="1535431"/>
            <a:ext cx="10093065" cy="45719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E2D8AD-F754-49E4-8647-933F33A6FC1F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08F5648-6479-4D18-A210-57825717D6C5}"/>
              </a:ext>
            </a:extLst>
          </p:cNvPr>
          <p:cNvSpPr>
            <a:spLocks noGrp="1"/>
          </p:cNvSpPr>
          <p:nvPr/>
        </p:nvSpPr>
        <p:spPr>
          <a:xfrm>
            <a:off x="619822" y="20383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PGD</a:t>
            </a:r>
          </a:p>
          <a:p>
            <a:pPr algn="ctr">
              <a:buNone/>
              <a:defRPr sz="150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56–48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5778181-0C3A-4549-B536-405A8ED19A57}"/>
              </a:ext>
            </a:extLst>
          </p:cNvPr>
          <p:cNvSpPr>
            <a:spLocks noGrp="1"/>
          </p:cNvSpPr>
          <p:nvPr/>
        </p:nvSpPr>
        <p:spPr>
          <a:xfrm>
            <a:off x="2334322" y="20383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P4D</a:t>
            </a:r>
          </a:p>
          <a:p>
            <a:pPr algn="ctr">
              <a:buNone/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47–39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3430CF4-D20C-4991-8A77-54AFD15EC5FB}"/>
              </a:ext>
            </a:extLst>
          </p:cNvPr>
          <p:cNvSpPr>
            <a:spLocks noGrp="1"/>
          </p:cNvSpPr>
          <p:nvPr/>
        </p:nvSpPr>
        <p:spPr>
          <a:xfrm>
            <a:off x="4048822" y="20383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PUD</a:t>
            </a:r>
          </a:p>
          <a:p>
            <a:pPr algn="ctr">
              <a:buNone/>
              <a:defRPr sz="150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38–30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4D0AA23-CBD3-4F5F-9F0A-D4021E4573EE}"/>
              </a:ext>
            </a:extLst>
          </p:cNvPr>
          <p:cNvSpPr>
            <a:spLocks noGrp="1"/>
          </p:cNvSpPr>
          <p:nvPr/>
        </p:nvSpPr>
        <p:spPr>
          <a:xfrm>
            <a:off x="5763322" y="20383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A6A6"/>
                </a:solidFill>
                <a:latin typeface="Arial"/>
                <a:ea typeface="Arial"/>
                <a:cs typeface="Arial"/>
              </a:rPr>
              <a:t>PMD</a:t>
            </a:r>
          </a:p>
          <a:p>
            <a:pPr algn="ctr">
              <a:buNone/>
              <a:defRPr sz="15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0A6A6"/>
                </a:solidFill>
                <a:latin typeface="Arial"/>
                <a:ea typeface="Arial"/>
                <a:cs typeface="Arial"/>
              </a:rPr>
              <a:t>29–21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AFF4A4-FDB7-4C57-AECB-A9A388C99062}"/>
              </a:ext>
            </a:extLst>
          </p:cNvPr>
          <p:cNvSpPr>
            <a:spLocks noGrp="1"/>
          </p:cNvSpPr>
          <p:nvPr/>
        </p:nvSpPr>
        <p:spPr>
          <a:xfrm>
            <a:off x="7477822" y="2038350"/>
            <a:ext cx="1571625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92B4C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PT</a:t>
            </a:r>
          </a:p>
          <a:p>
            <a:pPr algn="ctr">
              <a:buNone/>
              <a:defRPr sz="150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92B4C"/>
                </a:solidFill>
                <a:latin typeface="Arial"/>
                <a:ea typeface="Arial"/>
                <a:cs typeface="Arial"/>
              </a:rPr>
              <a:t>20–12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61637D7-281C-450F-B144-543926722380}"/>
              </a:ext>
            </a:extLst>
          </p:cNvPr>
          <p:cNvSpPr>
            <a:spLocks noGrp="1"/>
          </p:cNvSpPr>
          <p:nvPr/>
        </p:nvSpPr>
        <p:spPr>
          <a:xfrm>
            <a:off x="9192322" y="2038350"/>
            <a:ext cx="180975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772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OFFSET</a:t>
            </a:r>
          </a:p>
          <a:p>
            <a:pPr algn="ctr">
              <a:buNone/>
              <a:defRPr sz="150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11–0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8F4BEE-4F2C-408F-97F2-090E601E053B}"/>
              </a:ext>
            </a:extLst>
          </p:cNvPr>
          <p:cNvSpPr>
            <a:spLocks noGrp="1"/>
          </p:cNvSpPr>
          <p:nvPr/>
        </p:nvSpPr>
        <p:spPr>
          <a:xfrm>
            <a:off x="902137" y="3090862"/>
            <a:ext cx="4286250" cy="495300"/>
          </a:xfrm>
          <a:prstGeom prst="rect">
            <a:avLst/>
          </a:prstGeom>
          <a:solidFill>
            <a:srgbClr val="E5EFF4"/>
          </a:solidFill>
          <a:ln w="9525">
            <a:solidFill>
              <a:srgbClr val="E5EFF4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ctr">
              <a:buNone/>
              <a:defRPr sz="165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65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Mỗi</a:t>
            </a:r>
            <a:r>
              <a:rPr sz="165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index 9 bit → 512 entry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D3307-7BFB-4917-BE1E-D72ABA41F024}"/>
              </a:ext>
            </a:extLst>
          </p:cNvPr>
          <p:cNvSpPr>
            <a:spLocks noGrp="1"/>
          </p:cNvSpPr>
          <p:nvPr/>
        </p:nvSpPr>
        <p:spPr>
          <a:xfrm>
            <a:off x="6426637" y="3090862"/>
            <a:ext cx="4286250" cy="495300"/>
          </a:xfrm>
          <a:prstGeom prst="rect">
            <a:avLst/>
          </a:prstGeom>
          <a:solidFill>
            <a:srgbClr val="F8E8D8"/>
          </a:solidFill>
          <a:ln w="9525">
            <a:solidFill>
              <a:srgbClr val="F8E8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ctr">
              <a:buNone/>
              <a:defRPr sz="1650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Offset 12 bit → page 4 KiB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56BD60-EC22-4F31-8D6E-A90E569D7569}"/>
              </a:ext>
            </a:extLst>
          </p:cNvPr>
          <p:cNvSpPr>
            <a:spLocks noGrp="1"/>
          </p:cNvSpPr>
          <p:nvPr/>
        </p:nvSpPr>
        <p:spPr>
          <a:xfrm>
            <a:off x="619822" y="4031456"/>
            <a:ext cx="5000625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CEE082-3E2D-4898-8F2E-ABB5F971A880}"/>
              </a:ext>
            </a:extLst>
          </p:cNvPr>
          <p:cNvSpPr>
            <a:spLocks noGrp="1"/>
          </p:cNvSpPr>
          <p:nvPr/>
        </p:nvSpPr>
        <p:spPr>
          <a:xfrm>
            <a:off x="619822" y="4031456"/>
            <a:ext cx="80010" cy="1238250"/>
          </a:xfrm>
          <a:prstGeom prst="rect">
            <a:avLst/>
          </a:prstGeom>
          <a:solidFill>
            <a:srgbClr val="C94C4C"/>
          </a:solidFill>
          <a:ln w="9525">
            <a:solidFill>
              <a:srgbClr val="C94C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579F6-D00B-4273-847D-D9FE7E13BDD3}"/>
              </a:ext>
            </a:extLst>
          </p:cNvPr>
          <p:cNvSpPr>
            <a:spLocks noGrp="1"/>
          </p:cNvSpPr>
          <p:nvPr/>
        </p:nvSpPr>
        <p:spPr>
          <a:xfrm>
            <a:off x="810322" y="4145756"/>
            <a:ext cx="4680585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4C4C"/>
                </a:solidFill>
                <a:latin typeface="Arial"/>
                <a:ea typeface="Arial"/>
                <a:cs typeface="Arial"/>
              </a:rPr>
              <a:t>FLAT TABLE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8A27AE-586B-447F-803E-7A3D40F448B4}"/>
              </a:ext>
            </a:extLst>
          </p:cNvPr>
          <p:cNvSpPr>
            <a:spLocks noGrp="1"/>
          </p:cNvSpPr>
          <p:nvPr/>
        </p:nvSpPr>
        <p:spPr>
          <a:xfrm>
            <a:off x="810322" y="4450556"/>
            <a:ext cx="468058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2^45 PTE × 8 byte = 256 TiB / address space.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DBAFF21-EC38-4B0B-B1EC-1CE4392F94FF}"/>
              </a:ext>
            </a:extLst>
          </p:cNvPr>
          <p:cNvSpPr>
            <a:spLocks noGrp="1"/>
          </p:cNvSpPr>
          <p:nvPr/>
        </p:nvSpPr>
        <p:spPr>
          <a:xfrm>
            <a:off x="5794248" y="4031456"/>
            <a:ext cx="5207823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E3ED04-1704-406A-B4CE-2FB0AFF2E0E1}"/>
              </a:ext>
            </a:extLst>
          </p:cNvPr>
          <p:cNvSpPr>
            <a:spLocks noGrp="1"/>
          </p:cNvSpPr>
          <p:nvPr/>
        </p:nvSpPr>
        <p:spPr>
          <a:xfrm>
            <a:off x="5794248" y="4031456"/>
            <a:ext cx="74397" cy="1238250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77C61D-0828-428F-8779-C90BC6DAF6E1}"/>
              </a:ext>
            </a:extLst>
          </p:cNvPr>
          <p:cNvSpPr>
            <a:spLocks noGrp="1"/>
          </p:cNvSpPr>
          <p:nvPr/>
        </p:nvSpPr>
        <p:spPr>
          <a:xfrm>
            <a:off x="5984748" y="4060171"/>
            <a:ext cx="4910233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00A6A6"/>
                </a:solidFill>
                <a:latin typeface="Arial"/>
                <a:ea typeface="Arial"/>
                <a:cs typeface="Arial"/>
              </a:rPr>
              <a:t>SPARSE TREE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074AAF-2823-4102-B04E-8D23101E7FBC}"/>
              </a:ext>
            </a:extLst>
          </p:cNvPr>
          <p:cNvSpPr>
            <a:spLocks noGrp="1"/>
          </p:cNvSpPr>
          <p:nvPr/>
        </p:nvSpPr>
        <p:spPr>
          <a:xfrm>
            <a:off x="5984748" y="4450556"/>
            <a:ext cx="4910233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3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Chỉ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cấp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bảng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cho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branch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chạm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;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đổi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lại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TLB miss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có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thể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cần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walk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năm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cấp</a:t>
            </a:r>
            <a:r>
              <a:rPr sz="1350" b="0" dirty="0">
                <a:solidFill>
                  <a:srgbClr val="17212B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8BA94C-215E-4D28-A24D-106F7F554900}"/>
              </a:ext>
            </a:extLst>
          </p:cNvPr>
          <p:cNvSpPr>
            <a:spLocks noGrp="1"/>
          </p:cNvSpPr>
          <p:nvPr/>
        </p:nvSpPr>
        <p:spPr>
          <a:xfrm>
            <a:off x="2191447" y="5429250"/>
            <a:ext cx="6477000" cy="4000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ctr">
              <a:buNone/>
              <a:defRPr sz="1500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Canonical: bit 63–57 </a:t>
            </a:r>
            <a:r>
              <a:rPr sz="1500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phải</a:t>
            </a:r>
            <a:r>
              <a:rPr sz="1500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sign-extend bit 56.</a:t>
            </a:r>
          </a:p>
        </p:txBody>
      </p:sp>
      <p:pic>
        <p:nvPicPr>
          <p:cNvPr id="47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98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A424605-2ADB-4030-B4CE-7C391A98E4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ED7BC-516C-4150-9590-46BFECEE08C9}"/>
              </a:ext>
            </a:extLst>
          </p:cNvPr>
          <p:cNvSpPr>
            <a:spLocks noGrp="1"/>
          </p:cNvSpPr>
          <p:nvPr/>
        </p:nvSpPr>
        <p:spPr>
          <a:xfrm>
            <a:off x="619822" y="925727"/>
            <a:ext cx="11382375" cy="6667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38100" rIns="19050" bIns="19050" anchor="t">
            <a:normAutofit/>
          </a:bodyPr>
          <a:lstStyle/>
          <a:p>
            <a:pPr algn="l">
              <a:buNone/>
              <a:defRPr sz="27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Ba địa chỉ phơi bày sparse allocation; địa chỉ sai bị chặn trước walk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1ACB18-31DE-4DC4-8DAB-58F0D289B16F}"/>
              </a:ext>
            </a:extLst>
          </p:cNvPr>
          <p:cNvSpPr>
            <a:spLocks noGrp="1"/>
          </p:cNvSpPr>
          <p:nvPr/>
        </p:nvSpPr>
        <p:spPr>
          <a:xfrm flipV="1">
            <a:off x="638872" y="1441014"/>
            <a:ext cx="11007825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DF7B8D-1980-43BB-8498-A60995D29ED5}"/>
              </a:ext>
            </a:extLst>
          </p:cNvPr>
          <p:cNvSpPr>
            <a:spLocks noGrp="1"/>
          </p:cNvSpPr>
          <p:nvPr/>
        </p:nvSpPr>
        <p:spPr>
          <a:xfrm>
            <a:off x="342900" y="6515100"/>
            <a:ext cx="2476500" cy="209550"/>
          </a:xfrm>
          <a:prstGeom prst="rect">
            <a:avLst/>
          </a:prstGeom>
          <a:solidFill>
            <a:srgbClr val="F5F3EE"/>
          </a:solidFill>
          <a:ln w="9525">
            <a:solidFill>
              <a:srgbClr val="F5F3EE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825" b="1">
                <a:solidFill>
                  <a:srgbClr val="6671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17C"/>
                </a:solidFill>
                <a:latin typeface="Arial"/>
                <a:ea typeface="Arial"/>
                <a:cs typeface="Arial"/>
              </a:rPr>
              <a:t>CO2018 · K24 WARRIORS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8DB549-D075-4CB1-8082-4362C585757B}"/>
              </a:ext>
            </a:extLst>
          </p:cNvPr>
          <p:cNvSpPr>
            <a:spLocks noGrp="1"/>
          </p:cNvSpPr>
          <p:nvPr/>
        </p:nvSpPr>
        <p:spPr>
          <a:xfrm>
            <a:off x="619822" y="1992527"/>
            <a:ext cx="3238500" cy="1809750"/>
          </a:xfrm>
          <a:prstGeom prst="roundRect">
            <a:avLst>
              <a:gd name="adj" fmla="val 4211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B99D67-BE5B-4756-AAA0-7F8AD3949F04}"/>
              </a:ext>
            </a:extLst>
          </p:cNvPr>
          <p:cNvSpPr>
            <a:spLocks noGrp="1"/>
          </p:cNvSpPr>
          <p:nvPr/>
        </p:nvSpPr>
        <p:spPr>
          <a:xfrm>
            <a:off x="619822" y="1992527"/>
            <a:ext cx="3238500" cy="47625"/>
          </a:xfrm>
          <a:prstGeom prst="rect">
            <a:avLst/>
          </a:prstGeom>
          <a:solidFill>
            <a:srgbClr val="E77728"/>
          </a:solidFill>
          <a:ln w="9525">
            <a:solidFill>
              <a:srgbClr val="E777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216927-5306-408D-8EB6-E64894D271F9}"/>
              </a:ext>
            </a:extLst>
          </p:cNvPr>
          <p:cNvSpPr>
            <a:spLocks noGrp="1"/>
          </p:cNvSpPr>
          <p:nvPr/>
        </p:nvSpPr>
        <p:spPr>
          <a:xfrm>
            <a:off x="734122" y="2068727"/>
            <a:ext cx="300990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77728"/>
                </a:solidFill>
                <a:latin typeface="Arial"/>
                <a:ea typeface="Arial"/>
                <a:cs typeface="Arial"/>
              </a:rPr>
              <a:t>INPUT / proc/mm64c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13F7DF-4729-4775-BB44-8346C12A4933}"/>
              </a:ext>
            </a:extLst>
          </p:cNvPr>
          <p:cNvSpPr>
            <a:spLocks noGrp="1"/>
          </p:cNvSpPr>
          <p:nvPr/>
        </p:nvSpPr>
        <p:spPr>
          <a:xfrm>
            <a:off x="734122" y="2354477"/>
            <a:ext cx="3009900" cy="135255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syscall 17 1 0 1</a:t>
            </a:r>
          </a:p>
          <a:p>
            <a:pPr algn="l">
              <a:buNone/>
              <a:def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syscall 17 1 2097152 1</a:t>
            </a:r>
          </a:p>
          <a:p>
            <a:pPr algn="l">
              <a:buNone/>
              <a:def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syscall 17 1 18374686479671623680 1</a:t>
            </a:r>
          </a:p>
          <a:p>
            <a:pPr algn="l">
              <a:buNone/>
              <a:def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syscall 17 1 72057594037927936 1</a:t>
            </a:r>
          </a:p>
        </p:txBody>
      </p:sp>
      <p:pic>
        <p:nvPicPr>
          <p:cNvPr id="44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356697" y="1944902"/>
            <a:ext cx="7290000" cy="14287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939016E-DA27-489F-8DAB-52610CC5D65A}"/>
              </a:ext>
            </a:extLst>
          </p:cNvPr>
          <p:cNvSpPr>
            <a:spLocks noGrp="1"/>
          </p:cNvSpPr>
          <p:nvPr/>
        </p:nvSpPr>
        <p:spPr>
          <a:xfrm>
            <a:off x="4239322" y="3754652"/>
            <a:ext cx="1809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1">
                <a:solidFill>
                  <a:srgbClr val="092B4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dirty="0">
                <a:solidFill>
                  <a:srgbClr val="092B4C"/>
                </a:solidFill>
                <a:latin typeface="Courier New"/>
                <a:ea typeface="Courier New"/>
                <a:cs typeface="Courier New"/>
              </a:rPr>
              <a:t>0x0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3168-EA74-4AC7-9C99-27B20A53A81A}"/>
              </a:ext>
            </a:extLst>
          </p:cNvPr>
          <p:cNvSpPr>
            <a:spLocks noGrp="1"/>
          </p:cNvSpPr>
          <p:nvPr/>
        </p:nvSpPr>
        <p:spPr>
          <a:xfrm>
            <a:off x="6049072" y="3754652"/>
            <a:ext cx="2190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00" b="0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[0,0,0,0,0]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F8FD7B-7B37-4726-AFC4-CE7AF1E4F0B9}"/>
              </a:ext>
            </a:extLst>
          </p:cNvPr>
          <p:cNvSpPr>
            <a:spLocks noGrp="1"/>
          </p:cNvSpPr>
          <p:nvPr/>
        </p:nvSpPr>
        <p:spPr>
          <a:xfrm>
            <a:off x="8239822" y="3754652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20,480 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B88222-D852-4EF2-A289-DDDA1514CD75}"/>
              </a:ext>
            </a:extLst>
          </p:cNvPr>
          <p:cNvSpPr>
            <a:spLocks noGrp="1"/>
          </p:cNvSpPr>
          <p:nvPr/>
        </p:nvSpPr>
        <p:spPr>
          <a:xfrm>
            <a:off x="9763822" y="3754652"/>
            <a:ext cx="2000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0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nhánh</a:t>
            </a:r>
            <a:r>
              <a:rPr sz="1275" b="0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đầu</a:t>
            </a:r>
            <a:endParaRPr sz="1275" b="0" dirty="0">
              <a:solidFill>
                <a:srgbClr val="092B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7C812-B692-4677-A309-508A608332C5}"/>
              </a:ext>
            </a:extLst>
          </p:cNvPr>
          <p:cNvSpPr>
            <a:spLocks noGrp="1"/>
          </p:cNvSpPr>
          <p:nvPr/>
        </p:nvSpPr>
        <p:spPr>
          <a:xfrm>
            <a:off x="4239322" y="4297577"/>
            <a:ext cx="1809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1">
                <a:solidFill>
                  <a:srgbClr val="E77728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E77728"/>
                </a:solidFill>
                <a:latin typeface="Courier New"/>
                <a:ea typeface="Courier New"/>
                <a:cs typeface="Courier New"/>
              </a:rPr>
              <a:t>0x200000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7DF338-CE8F-40BE-A941-90B6BAA0763F}"/>
              </a:ext>
            </a:extLst>
          </p:cNvPr>
          <p:cNvSpPr>
            <a:spLocks noGrp="1"/>
          </p:cNvSpPr>
          <p:nvPr/>
        </p:nvSpPr>
        <p:spPr>
          <a:xfrm>
            <a:off x="6049072" y="4297577"/>
            <a:ext cx="2190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00" b="0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[0,0,0,1,0]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4434F4-6893-4B2D-8922-61F1ECEA45FD}"/>
              </a:ext>
            </a:extLst>
          </p:cNvPr>
          <p:cNvSpPr>
            <a:spLocks noGrp="1"/>
          </p:cNvSpPr>
          <p:nvPr/>
        </p:nvSpPr>
        <p:spPr>
          <a:xfrm>
            <a:off x="8239822" y="4297577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24,576 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D55C25-6872-4861-B5CA-7E7F427D3CC5}"/>
              </a:ext>
            </a:extLst>
          </p:cNvPr>
          <p:cNvSpPr>
            <a:spLocks noGrp="1"/>
          </p:cNvSpPr>
          <p:nvPr/>
        </p:nvSpPr>
        <p:spPr>
          <a:xfrm>
            <a:off x="9763822" y="4297577"/>
            <a:ext cx="2000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0">
                <a:solidFill>
                  <a:srgbClr val="E77728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E77728"/>
                </a:solidFill>
                <a:latin typeface="Arial"/>
                <a:ea typeface="Arial"/>
                <a:cs typeface="Arial"/>
              </a:rPr>
              <a:t>+ một PT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DDC433-0D38-4121-9213-EF8C8D5AB8DA}"/>
              </a:ext>
            </a:extLst>
          </p:cNvPr>
          <p:cNvSpPr>
            <a:spLocks noGrp="1"/>
          </p:cNvSpPr>
          <p:nvPr/>
        </p:nvSpPr>
        <p:spPr>
          <a:xfrm>
            <a:off x="4239322" y="4840502"/>
            <a:ext cx="1809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1">
                <a:solidFill>
                  <a:srgbClr val="00A6A6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dirty="0">
                <a:solidFill>
                  <a:srgbClr val="00A6A6"/>
                </a:solidFill>
                <a:latin typeface="Courier New"/>
                <a:ea typeface="Courier New"/>
                <a:cs typeface="Courier New"/>
              </a:rPr>
              <a:t>0xff00…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54DF3F-DDC9-4690-B34E-78FFA2B940F7}"/>
              </a:ext>
            </a:extLst>
          </p:cNvPr>
          <p:cNvSpPr>
            <a:spLocks noGrp="1"/>
          </p:cNvSpPr>
          <p:nvPr/>
        </p:nvSpPr>
        <p:spPr>
          <a:xfrm>
            <a:off x="6049072" y="4840502"/>
            <a:ext cx="2190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00" b="0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dirty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[256,0,0,0,0]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B4A1992-05AF-49AA-AED1-48AF0E953728}"/>
              </a:ext>
            </a:extLst>
          </p:cNvPr>
          <p:cNvSpPr>
            <a:spLocks noGrp="1"/>
          </p:cNvSpPr>
          <p:nvPr/>
        </p:nvSpPr>
        <p:spPr>
          <a:xfrm>
            <a:off x="8239822" y="4840502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40,960 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0AF0B5-8443-4A8D-992D-14D471F77BB2}"/>
              </a:ext>
            </a:extLst>
          </p:cNvPr>
          <p:cNvSpPr>
            <a:spLocks noGrp="1"/>
          </p:cNvSpPr>
          <p:nvPr/>
        </p:nvSpPr>
        <p:spPr>
          <a:xfrm>
            <a:off x="9763822" y="4840502"/>
            <a:ext cx="2000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0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0A6A6"/>
                </a:solidFill>
                <a:latin typeface="Arial"/>
                <a:ea typeface="Arial"/>
                <a:cs typeface="Arial"/>
              </a:rPr>
              <a:t>high canonical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C58894-A24C-4EB3-A037-539D61316539}"/>
              </a:ext>
            </a:extLst>
          </p:cNvPr>
          <p:cNvSpPr>
            <a:spLocks noGrp="1"/>
          </p:cNvSpPr>
          <p:nvPr/>
        </p:nvSpPr>
        <p:spPr>
          <a:xfrm>
            <a:off x="4239322" y="5383427"/>
            <a:ext cx="1809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1">
                <a:solidFill>
                  <a:srgbClr val="C94C4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dirty="0">
                <a:solidFill>
                  <a:srgbClr val="C94C4C"/>
                </a:solidFill>
                <a:latin typeface="Courier New"/>
                <a:ea typeface="Courier New"/>
                <a:cs typeface="Courier New"/>
              </a:rPr>
              <a:t>0x100…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D1A933-57DF-4609-AF3B-FB6EF53B6E0C}"/>
              </a:ext>
            </a:extLst>
          </p:cNvPr>
          <p:cNvSpPr>
            <a:spLocks noGrp="1"/>
          </p:cNvSpPr>
          <p:nvPr/>
        </p:nvSpPr>
        <p:spPr>
          <a:xfrm>
            <a:off x="6049072" y="5383427"/>
            <a:ext cx="21907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00" b="0">
                <a:solidFill>
                  <a:srgbClr val="17212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7212B"/>
                </a:solidFill>
                <a:latin typeface="Courier New"/>
                <a:ea typeface="Courier New"/>
                <a:cs typeface="Courier New"/>
              </a:rPr>
              <a:t>—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971F3E-041F-4E26-BF18-A194E5769767}"/>
              </a:ext>
            </a:extLst>
          </p:cNvPr>
          <p:cNvSpPr>
            <a:spLocks noGrp="1"/>
          </p:cNvSpPr>
          <p:nvPr/>
        </p:nvSpPr>
        <p:spPr>
          <a:xfrm>
            <a:off x="8239822" y="5383427"/>
            <a:ext cx="152400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27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không</a:t>
            </a:r>
            <a:r>
              <a:rPr sz="127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tăng</a:t>
            </a:r>
            <a:endParaRPr sz="1275" b="1" dirty="0">
              <a:solidFill>
                <a:srgbClr val="092B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451F1E-71D3-412F-8C8A-DB8193A8E28E}"/>
              </a:ext>
            </a:extLst>
          </p:cNvPr>
          <p:cNvSpPr>
            <a:spLocks noGrp="1"/>
          </p:cNvSpPr>
          <p:nvPr/>
        </p:nvSpPr>
        <p:spPr>
          <a:xfrm>
            <a:off x="9763822" y="5383427"/>
            <a:ext cx="2000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2D8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l">
              <a:buNone/>
              <a:defRPr sz="1275" b="0">
                <a:solidFill>
                  <a:srgbClr val="C94C4C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C94C4C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6E35DC9-DA40-4DDC-A511-9668E8C73D43}"/>
              </a:ext>
            </a:extLst>
          </p:cNvPr>
          <p:cNvSpPr>
            <a:spLocks noGrp="1"/>
          </p:cNvSpPr>
          <p:nvPr/>
        </p:nvSpPr>
        <p:spPr>
          <a:xfrm>
            <a:off x="619822" y="4278527"/>
            <a:ext cx="3238500" cy="1047750"/>
          </a:xfrm>
          <a:prstGeom prst="roundRect">
            <a:avLst>
              <a:gd name="adj" fmla="val 7273"/>
            </a:avLst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0DDC3A4-766A-424F-992D-5A06CAA7A006}"/>
              </a:ext>
            </a:extLst>
          </p:cNvPr>
          <p:cNvSpPr>
            <a:spLocks noGrp="1"/>
          </p:cNvSpPr>
          <p:nvPr/>
        </p:nvSpPr>
        <p:spPr>
          <a:xfrm>
            <a:off x="619822" y="4278527"/>
            <a:ext cx="3238500" cy="47625"/>
          </a:xfrm>
          <a:prstGeom prst="rect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4F13395-8DC8-484E-99F4-F420231B871D}"/>
              </a:ext>
            </a:extLst>
          </p:cNvPr>
          <p:cNvSpPr>
            <a:spLocks noGrp="1"/>
          </p:cNvSpPr>
          <p:nvPr/>
        </p:nvSpPr>
        <p:spPr>
          <a:xfrm>
            <a:off x="734122" y="4354727"/>
            <a:ext cx="3009900" cy="26670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LỆNH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76A1C6-003C-4E7F-966E-9CED357D1913}"/>
              </a:ext>
            </a:extLst>
          </p:cNvPr>
          <p:cNvSpPr>
            <a:spLocks noGrp="1"/>
          </p:cNvSpPr>
          <p:nvPr/>
        </p:nvSpPr>
        <p:spPr>
          <a:xfrm>
            <a:off x="734122" y="4640477"/>
            <a:ext cx="3009900" cy="590550"/>
          </a:xfrm>
          <a:prstGeom prst="rect">
            <a:avLst/>
          </a:prstGeom>
          <a:solidFill>
            <a:srgbClr val="12181D"/>
          </a:solidFill>
          <a:ln w="9525">
            <a:solidFill>
              <a:srgbClr val="12181D"/>
            </a:solidFill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buNone/>
              <a:def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./os os_mm64_canonical | grep -E</a:t>
            </a:r>
          </a:p>
          <a:p>
            <a:pPr algn="l">
              <a:buNone/>
              <a:def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>
                <a:solidFill>
                  <a:srgbClr val="E8F0F3"/>
                </a:solidFill>
                <a:latin typeface="Courier New"/>
                <a:ea typeface="Courier New"/>
                <a:cs typeface="Courier New"/>
              </a:rPr>
              <a:t>"MM64 mapped|MM64 pid|MM64 rejected"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900DEE-2252-499D-A980-581550A852A1}"/>
              </a:ext>
            </a:extLst>
          </p:cNvPr>
          <p:cNvSpPr>
            <a:spLocks noGrp="1"/>
          </p:cNvSpPr>
          <p:nvPr/>
        </p:nvSpPr>
        <p:spPr>
          <a:xfrm>
            <a:off x="4239322" y="6115050"/>
            <a:ext cx="7524750" cy="400050"/>
          </a:xfrm>
          <a:prstGeom prst="rect">
            <a:avLst/>
          </a:prstGeom>
          <a:solidFill>
            <a:srgbClr val="DFF2F1"/>
          </a:solidFill>
          <a:ln w="9525">
            <a:solidFill>
              <a:srgbClr val="DFF2F1"/>
            </a:solidFill>
            <a:prstDash val="solid"/>
          </a:ln>
        </p:spPr>
        <p:txBody>
          <a:bodyPr wrap="square" lIns="95250" tIns="76200" rIns="95250" bIns="76200" anchor="t">
            <a:normAutofit/>
          </a:bodyPr>
          <a:lstStyle/>
          <a:p>
            <a:pPr algn="ctr">
              <a:buNone/>
              <a:defRPr sz="1425" b="1">
                <a:solidFill>
                  <a:srgbClr val="092B4C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walks × 5 = accesses; bytes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chỉ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tăng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khi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một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bảng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sparse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mới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được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092B4C"/>
                </a:solidFill>
                <a:latin typeface="Arial"/>
                <a:ea typeface="Arial"/>
                <a:cs typeface="Arial"/>
              </a:rPr>
              <a:t>cấp</a:t>
            </a:r>
            <a:r>
              <a:rPr sz="1425" b="1" dirty="0">
                <a:solidFill>
                  <a:srgbClr val="092B4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66" name="Picture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22" y="220877"/>
            <a:ext cx="3357566" cy="48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388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2533</Words>
  <Application>Microsoft Macintosh PowerPoint</Application>
  <DocSecurity>0</DocSecurity>
  <PresentationFormat>Widescreen</PresentationFormat>
  <Paragraphs>323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2</cp:revision>
  <dcterms:created xsi:type="dcterms:W3CDTF">2026-06-15T10:03:42Z</dcterms:created>
  <dcterms:modified xsi:type="dcterms:W3CDTF">2026-06-15T13:04:49Z</dcterms:modified>
</cp:coreProperties>
</file>